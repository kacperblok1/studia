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  <p:sldMasterId id="2147484052" r:id="rId2"/>
    <p:sldMasterId id="2147484088" r:id="rId3"/>
  </p:sldMasterIdLst>
  <p:notesMasterIdLst>
    <p:notesMasterId r:id="rId20"/>
  </p:notesMasterIdLst>
  <p:sldIdLst>
    <p:sldId id="513" r:id="rId4"/>
    <p:sldId id="889" r:id="rId5"/>
    <p:sldId id="892" r:id="rId6"/>
    <p:sldId id="890" r:id="rId7"/>
    <p:sldId id="899" r:id="rId8"/>
    <p:sldId id="900" r:id="rId9"/>
    <p:sldId id="898" r:id="rId10"/>
    <p:sldId id="901" r:id="rId11"/>
    <p:sldId id="902" r:id="rId12"/>
    <p:sldId id="893" r:id="rId13"/>
    <p:sldId id="903" r:id="rId14"/>
    <p:sldId id="904" r:id="rId15"/>
    <p:sldId id="905" r:id="rId16"/>
    <p:sldId id="906" r:id="rId17"/>
    <p:sldId id="891" r:id="rId18"/>
    <p:sldId id="908" r:id="rId19"/>
  </p:sldIdLst>
  <p:sldSz cx="9144000" cy="5143500" type="screen16x9"/>
  <p:notesSz cx="6858000" cy="9144000"/>
  <p:custDataLst>
    <p:tags r:id="rId21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>
      <p:ext uri="{19B8F6BF-5375-455C-9EA6-DF929625EA0E}">
        <p15:presenceInfo xmlns:p15="http://schemas.microsoft.com/office/powerpoint/2012/main" userId="S-1-5-21-1708537768-1303643608-725345543-200204" providerId="AD"/>
      </p:ext>
    </p:extLst>
  </p:cmAuthor>
  <p:cmAuthor id="2" name="Bob Vachon" initials="BV" lastIdx="24" clrIdx="2">
    <p:extLst>
      <p:ext uri="{19B8F6BF-5375-455C-9EA6-DF929625EA0E}">
        <p15:presenceInfo xmlns:p15="http://schemas.microsoft.com/office/powerpoint/2012/main" userId="c7abe87968a0b633" providerId="Windows Live"/>
      </p:ext>
    </p:extLst>
  </p:cmAuthor>
  <p:cmAuthor id="3" name="Sue Livingston -X (suliving - UNICON INC at Cisco)" initials="SL-(-UIaC" lastIdx="29" clrIdx="3">
    <p:extLst>
      <p:ext uri="{19B8F6BF-5375-455C-9EA6-DF929625EA0E}">
        <p15:presenceInfo xmlns:p15="http://schemas.microsoft.com/office/powerpoint/2012/main" userId="S::suliving@cisco.com::dc701d48-dd51-411a-9041-b7f1328f1486" providerId="AD"/>
      </p:ext>
    </p:extLst>
  </p:cmAuthor>
  <p:cmAuthor id="4" name="jagibbon" initials="jmg" lastIdx="8" clrIdx="4">
    <p:extLst>
      <p:ext uri="{19B8F6BF-5375-455C-9EA6-DF929625EA0E}">
        <p15:presenceInfo xmlns:p15="http://schemas.microsoft.com/office/powerpoint/2012/main" userId="jagibb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7E9EB"/>
    <a:srgbClr val="592A8A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38" autoAdjust="0"/>
    <p:restoredTop sz="84371" autoAdjust="0"/>
  </p:normalViewPr>
  <p:slideViewPr>
    <p:cSldViewPr snapToGrid="0" showGuides="1">
      <p:cViewPr varScale="1">
        <p:scale>
          <a:sx n="76" d="100"/>
          <a:sy n="76" d="100"/>
        </p:scale>
        <p:origin x="114" y="696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tags" Target="tags/tag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5542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2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2294113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3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770029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4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30318138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5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34196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6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27815663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7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3889873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8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8021931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9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1362176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10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1148328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11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2202407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12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23261908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13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18589116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14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20443235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15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16150642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rtl="0"/>
            <a:fld id="{ACE20BE7-F2F3-4E26-9454-50B18F790A4E}" type="slidenum">
              <a:rPr sz="800" b="0">
                <a:ea typeface="ＭＳ Ｐゴシック" pitchFamily="34" charset="-128"/>
              </a:rPr>
              <a:pPr algn="r" rtl="0"/>
              <a:t>16</a:t>
            </a:fld>
            <a:endParaRPr sz="800" b="0">
              <a:ea typeface="ＭＳ Ｐゴシック" pitchFamily="34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l-PL" dirty="0"/>
              <a:t>Podstawy IPV6</a:t>
            </a:r>
          </a:p>
          <a:p>
            <a:pPr rtl="0"/>
            <a:r>
              <a:rPr lang="pl-PL" dirty="0"/>
              <a:t>Materiały dla nauczyciela</a:t>
            </a:r>
          </a:p>
        </p:txBody>
      </p:sp>
    </p:spTree>
    <p:extLst>
      <p:ext uri="{BB962C8B-B14F-4D97-AF65-F5344CB8AC3E}">
        <p14:creationId xmlns:p14="http://schemas.microsoft.com/office/powerpoint/2010/main" val="2081303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-animate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 dirty="0"/>
              <a:t>Materiały pomocnicze dla nauczyciela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pl-PL" dirty="0"/>
              <a:t>Materiały </a:t>
            </a:r>
            <a:r>
              <a:rPr lang="pl-PL" dirty="0" err="1"/>
              <a:t>pomo</a:t>
            </a:r>
            <a:endParaRPr lang="en-US" dirty="0"/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tx1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" name="Obraz 3" descr="Obraz zawierający tekst, clipart&#10;&#10;Opis wygenerowany automatycznie">
            <a:extLst>
              <a:ext uri="{FF2B5EF4-FFF2-40B4-BE49-F238E27FC236}">
                <a16:creationId xmlns:a16="http://schemas.microsoft.com/office/drawing/2014/main" id="{C0372AD6-69D1-423C-9C52-069BAA95B6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501" y="214186"/>
            <a:ext cx="2285271" cy="50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725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-animate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-animate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Obraz 3" descr="Obraz zawierający tekst, clipart&#10;&#10;Opis wygenerowany automatycznie">
            <a:extLst>
              <a:ext uri="{FF2B5EF4-FFF2-40B4-BE49-F238E27FC236}">
                <a16:creationId xmlns:a16="http://schemas.microsoft.com/office/drawing/2014/main" id="{3263D56B-0888-430C-B990-3146506F0C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1" y="75185"/>
            <a:ext cx="1444499" cy="31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6866311" y="4770153"/>
            <a:ext cx="16365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2022 Wydawnictwo informatyczne ITSTART</a:t>
            </a:r>
          </a:p>
        </p:txBody>
      </p:sp>
      <p:pic>
        <p:nvPicPr>
          <p:cNvPr id="3" name="Obraz 2" descr="Obraz zawierający tekst, clipart&#10;&#10;Opis wygenerowany automatycznie">
            <a:extLst>
              <a:ext uri="{FF2B5EF4-FFF2-40B4-BE49-F238E27FC236}">
                <a16:creationId xmlns:a16="http://schemas.microsoft.com/office/drawing/2014/main" id="{15C82B64-3913-47C0-8D1B-D06D2F2DDC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6963" y="4752678"/>
            <a:ext cx="691897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c15="http://schemas.microsoft.com/office/drawing/2012/chart" xmlns:c="http://schemas.openxmlformats.org/drawingml/2006/chart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pl-PL" dirty="0">
                <a:sym typeface="Arial" pitchFamily="34" charset="0"/>
              </a:rPr>
              <a:t>Tytuł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l-PL" dirty="0"/>
              <a:t>Wydawnictwo informatyczne ITSTART. Piekary Śląskie.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3207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5563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545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015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268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6529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3729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0860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3910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7668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514134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9436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 cyta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72861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wda lub fał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0732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7287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9958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-animated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Obraz 3" descr="Obraz zawierający tekst, clipart&#10;&#10;Opis wygenerowany automatycznie">
            <a:extLst>
              <a:ext uri="{FF2B5EF4-FFF2-40B4-BE49-F238E27FC236}">
                <a16:creationId xmlns:a16="http://schemas.microsoft.com/office/drawing/2014/main" id="{3263D56B-0888-430C-B990-3146506F0C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151" y="75185"/>
            <a:ext cx="1444499" cy="31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37017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>
          <p15:clr>
            <a:srgbClr val="FBAE40"/>
          </p15:clr>
        </p15:guide>
        <p15:guide id="2" pos="360">
          <p15:clr>
            <a:srgbClr val="FBAE40"/>
          </p15:clr>
        </p15:guide>
        <p15:guide id="3" orient="horz" pos="518">
          <p15:clr>
            <a:srgbClr val="FBAE40"/>
          </p15:clr>
        </p15:guide>
        <p15:guide id="4" pos="812">
          <p15:clr>
            <a:srgbClr val="FBAE40"/>
          </p15:clr>
        </p15:guide>
        <p15:guide id="5" pos="31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pl-PL" dirty="0">
                <a:sym typeface="Arial" pitchFamily="34" charset="0"/>
              </a:rPr>
              <a:t>Tytuł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072825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4977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2919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876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8842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6390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5662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05795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52470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03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14538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188386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6288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 cyta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324452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wda lub fał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9710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6888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504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1"/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</a:t>
            </a:r>
            <a:r>
              <a:rPr lang="pl-PL" altLang="en-US" dirty="0"/>
              <a:t>y</a:t>
            </a:r>
            <a:r>
              <a:rPr lang="en-GB" altLang="en-US" dirty="0"/>
              <a:t>t</a:t>
            </a:r>
            <a:r>
              <a:rPr lang="pl-PL" altLang="en-US" dirty="0" err="1"/>
              <a:t>uł</a:t>
            </a:r>
            <a:endParaRPr lang="en-GB" altLang="en-US" dirty="0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6312365" y="4760160"/>
            <a:ext cx="2203342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600" dirty="0">
                <a:solidFill>
                  <a:srgbClr val="000000"/>
                </a:solidFill>
                <a:latin typeface="+mn-lt"/>
                <a:ea typeface="+mn-ea"/>
                <a:cs typeface="CiscoSans Thin"/>
              </a:rPr>
              <a:t>Wydawnictwo informatyczne ITSTART. Piekary Śląskie 2022</a:t>
            </a:r>
          </a:p>
        </p:txBody>
      </p:sp>
      <p:pic>
        <p:nvPicPr>
          <p:cNvPr id="3" name="Obraz 2" descr="Obraz zawierający tekst, clipart&#10;&#10;Opis wygenerowany automatycznie">
            <a:extLst>
              <a:ext uri="{FF2B5EF4-FFF2-40B4-BE49-F238E27FC236}">
                <a16:creationId xmlns:a16="http://schemas.microsoft.com/office/drawing/2014/main" id="{E5B5301B-6235-4A25-A36C-8EA275ACAD1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20801" y="4802187"/>
            <a:ext cx="691897" cy="1524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29" r:id="rId10"/>
    <p:sldLayoutId id="2147484031" r:id="rId11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1"/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36" name="Obraz 35" descr="Obraz zawierający tekst, clipart&#10;&#10;Opis wygenerowany automatycznie">
            <a:extLst>
              <a:ext uri="{FF2B5EF4-FFF2-40B4-BE49-F238E27FC236}">
                <a16:creationId xmlns:a16="http://schemas.microsoft.com/office/drawing/2014/main" id="{AAC7B974-11C0-4587-86D9-0AE7E9B22CD8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320801" y="4802187"/>
            <a:ext cx="691897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769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3" r:id="rId1"/>
    <p:sldLayoutId id="2147484054" r:id="rId2"/>
    <p:sldLayoutId id="2147484055" r:id="rId3"/>
    <p:sldLayoutId id="2147484056" r:id="rId4"/>
    <p:sldLayoutId id="2147484057" r:id="rId5"/>
    <p:sldLayoutId id="2147484058" r:id="rId6"/>
    <p:sldLayoutId id="2147484059" r:id="rId7"/>
    <p:sldLayoutId id="2147484060" r:id="rId8"/>
    <p:sldLayoutId id="2147484061" r:id="rId9"/>
    <p:sldLayoutId id="2147484062" r:id="rId10"/>
    <p:sldLayoutId id="2147484063" r:id="rId11"/>
    <p:sldLayoutId id="2147484064" r:id="rId12"/>
    <p:sldLayoutId id="2147484065" r:id="rId13"/>
    <p:sldLayoutId id="2147484066" r:id="rId14"/>
    <p:sldLayoutId id="2147484067" r:id="rId15"/>
    <p:sldLayoutId id="2147484068" r:id="rId16"/>
    <p:sldLayoutId id="2147484069" r:id="rId17"/>
    <p:sldLayoutId id="2147484070" r:id="rId18"/>
  </p:sldLayoutIdLst>
  <p:transition spd="slow">
    <p:wipe/>
  </p:transition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1"/>
            </a:gs>
          </a:gsLst>
          <a:path path="circle">
            <a:fillToRect l="50000" t="50000" r="100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36" name="Obraz 35" descr="Obraz zawierający tekst, clipart&#10;&#10;Opis wygenerowany automatycznie">
            <a:extLst>
              <a:ext uri="{FF2B5EF4-FFF2-40B4-BE49-F238E27FC236}">
                <a16:creationId xmlns:a16="http://schemas.microsoft.com/office/drawing/2014/main" id="{B2296D36-0F82-45C9-A20F-0B5EA813DF71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320801" y="4802187"/>
            <a:ext cx="691897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12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9" r:id="rId1"/>
    <p:sldLayoutId id="2147484090" r:id="rId2"/>
    <p:sldLayoutId id="2147484091" r:id="rId3"/>
    <p:sldLayoutId id="2147484092" r:id="rId4"/>
    <p:sldLayoutId id="2147484093" r:id="rId5"/>
    <p:sldLayoutId id="2147484094" r:id="rId6"/>
    <p:sldLayoutId id="2147484095" r:id="rId7"/>
    <p:sldLayoutId id="2147484096" r:id="rId8"/>
    <p:sldLayoutId id="2147484097" r:id="rId9"/>
    <p:sldLayoutId id="2147484098" r:id="rId10"/>
    <p:sldLayoutId id="2147484099" r:id="rId11"/>
    <p:sldLayoutId id="2147484100" r:id="rId12"/>
    <p:sldLayoutId id="2147484101" r:id="rId13"/>
    <p:sldLayoutId id="2147484102" r:id="rId14"/>
    <p:sldLayoutId id="2147484103" r:id="rId15"/>
    <p:sldLayoutId id="2147484104" r:id="rId16"/>
  </p:sldLayoutIdLst>
  <p:transition spd="slow">
    <p:wipe/>
  </p:transition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8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0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5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 anchor="b">
            <a:normAutofit fontScale="85000" lnSpcReduction="20000"/>
          </a:bodyPr>
          <a:lstStyle/>
          <a:p>
            <a:pPr rtl="0"/>
            <a:r>
              <a:rPr lang="pl-PL" sz="18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Laboratorium IPV6 – materiał pomocniczy</a:t>
            </a:r>
            <a:endParaRPr lang="pl-PL" sz="180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280CE95-EC57-C26B-CEE6-1295A117D5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pl-PL" dirty="0"/>
              <a:t>Wydawnictwo informatyczne ITSTART.</a:t>
            </a:r>
            <a:endParaRPr lang="en-US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F329CD50-6EE0-2D6D-39C2-5E1BF9E5A1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pl-PL" dirty="0"/>
              <a:t>2022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pPr rtl="0"/>
            <a:r>
              <a:rPr lang="pl-PL" sz="1400" dirty="0"/>
              <a:t>Materiały pomocnicze dla nauczyciela</a:t>
            </a:r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392435" y="1193046"/>
            <a:ext cx="8604880" cy="809815"/>
          </a:xfrm>
        </p:spPr>
        <p:txBody>
          <a:bodyPr wrap="square" anchor="b">
            <a:normAutofit/>
          </a:bodyPr>
          <a:lstStyle/>
          <a:p>
            <a:pPr rtl="0"/>
            <a:r>
              <a:rPr lang="pl-PL" dirty="0"/>
              <a:t>MIGRACJA IPV4 DO IPV6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26680580-DB8D-4F55-843F-A7DC92133B40}"/>
              </a:ext>
            </a:extLst>
          </p:cNvPr>
          <p:cNvSpPr txBox="1"/>
          <p:nvPr/>
        </p:nvSpPr>
        <p:spPr>
          <a:xfrm>
            <a:off x="392435" y="1948906"/>
            <a:ext cx="61287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l-PL" dirty="0"/>
              <a:t>DUAL STACK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l-PL" dirty="0"/>
              <a:t>ISATAP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l-PL" dirty="0"/>
              <a:t>6OVER4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650477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MECHANIZMY MIGRACJI IPV4 DO IPV6 – DUAL STACK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E889C25D-01EC-A72A-4F74-EC6052341AF5}"/>
              </a:ext>
            </a:extLst>
          </p:cNvPr>
          <p:cNvSpPr txBox="1"/>
          <p:nvPr/>
        </p:nvSpPr>
        <p:spPr>
          <a:xfrm>
            <a:off x="2010169" y="1054118"/>
            <a:ext cx="5452393" cy="3013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 przypadku, gdy występuje potrzeba komunikacji urządzeń IPV4 z urządzeniami IPV4 oraz urządzeń IPV6 z urządzeniami IPV6, stosuje się rozwiązanie podwójnego stosu w interfejsach (</a:t>
            </a:r>
            <a:r>
              <a:rPr lang="pl-PL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ang.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dual 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stack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 </a:t>
            </a: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endParaRPr lang="pl-PL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Jest to rozwiązanie przejściowe, stosowane aż do zakończenia przejścia z IPV4 na IPV6.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628648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DUAL STACK</a:t>
            </a:r>
          </a:p>
        </p:txBody>
      </p:sp>
      <p:pic>
        <p:nvPicPr>
          <p:cNvPr id="6" name="Obraz 5" descr="Obraz zawierający mapa&#10;&#10;Opis wygenerowany automatycznie">
            <a:extLst>
              <a:ext uri="{FF2B5EF4-FFF2-40B4-BE49-F238E27FC236}">
                <a16:creationId xmlns:a16="http://schemas.microsoft.com/office/drawing/2014/main" id="{D9CD7829-9ECE-C04C-2D4F-0FF7C98C6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1081" y="260281"/>
            <a:ext cx="6468813" cy="482946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61847619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>
            <a:normAutofit/>
          </a:bodyPr>
          <a:lstStyle/>
          <a:p>
            <a:pPr rtl="0" eaLnBrk="1" hangingPunct="1"/>
            <a:r>
              <a:rPr lang="pl-PL" dirty="0"/>
              <a:t>DUAL STACK</a:t>
            </a:r>
          </a:p>
        </p:txBody>
      </p:sp>
      <p:pic>
        <p:nvPicPr>
          <p:cNvPr id="4" name="Obraz 3" descr="Obraz zawierający tekst&#10;&#10;Opis wygenerowany automatycznie">
            <a:extLst>
              <a:ext uri="{FF2B5EF4-FFF2-40B4-BE49-F238E27FC236}">
                <a16:creationId xmlns:a16="http://schemas.microsoft.com/office/drawing/2014/main" id="{701B5111-9956-D918-5EA9-51724A549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0418" y="1082357"/>
            <a:ext cx="7192527" cy="30664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6584825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>
            <a:normAutofit/>
          </a:bodyPr>
          <a:lstStyle/>
          <a:p>
            <a:pPr rtl="0" eaLnBrk="1" hangingPunct="1"/>
            <a:r>
              <a:rPr lang="pl-PL" dirty="0"/>
              <a:t>DUAL STACK</a:t>
            </a:r>
          </a:p>
        </p:txBody>
      </p:sp>
      <p:pic>
        <p:nvPicPr>
          <p:cNvPr id="3" name="Obraz 2" descr="Obraz zawierający tekst&#10;&#10;Opis wygenerowany automatycznie">
            <a:extLst>
              <a:ext uri="{FF2B5EF4-FFF2-40B4-BE49-F238E27FC236}">
                <a16:creationId xmlns:a16="http://schemas.microsoft.com/office/drawing/2014/main" id="{9E3106A1-E1FE-490F-5711-FA7F2A728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60" y="1148804"/>
            <a:ext cx="7459917" cy="28564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36333961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>
            <a:normAutofit/>
          </a:bodyPr>
          <a:lstStyle/>
          <a:p>
            <a:pPr rtl="0" eaLnBrk="1" hangingPunct="1"/>
            <a:r>
              <a:rPr lang="pl-PL" dirty="0"/>
              <a:t>DUAL STACK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BBD0D420-D0A1-A610-40A4-3E4E691B73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4673" y="757551"/>
            <a:ext cx="6051050" cy="394586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78794885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>
            <a:normAutofit/>
          </a:bodyPr>
          <a:lstStyle/>
          <a:p>
            <a:pPr rtl="0" eaLnBrk="1" hangingPunct="1"/>
            <a:r>
              <a:rPr lang="pl-PL" dirty="0"/>
              <a:t>DUAL STACK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300F248B-953B-7DDE-6955-8484DB7C72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9559" y="757551"/>
            <a:ext cx="6564927" cy="409116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81575867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MECHANIZMY MIGRACJI IPV4 DO IPV6 – ISATAP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E889C25D-01EC-A72A-4F74-EC6052341AF5}"/>
              </a:ext>
            </a:extLst>
          </p:cNvPr>
          <p:cNvSpPr txBox="1"/>
          <p:nvPr/>
        </p:nvSpPr>
        <p:spPr>
          <a:xfrm>
            <a:off x="2845220" y="1054119"/>
            <a:ext cx="4617342" cy="3951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Drugi mechanizm to zastosowanie protokołu 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ISATAP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pl-PL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ang.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Intra-Site Automatic 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Tunnel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Addressing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Protocol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 </a:t>
            </a: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endParaRPr lang="pl-PL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Protokół 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ISATAP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zapewnia automatyczną enkapsulację i transmisję pakietów IPV6 i IPV4 poprzez sieć IPV4. </a:t>
            </a: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Jest to rozwiązanie przejściowe, stosowane aż do zakończenia przejścia z IPV4 na IPV6.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36094339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ISATAP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229C9446-7452-6F76-1099-16762C8D1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809" y="935822"/>
            <a:ext cx="7456572" cy="327185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53523473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>
            <a:normAutofit/>
          </a:bodyPr>
          <a:lstStyle/>
          <a:p>
            <a:pPr rtl="0" eaLnBrk="1" hangingPunct="1"/>
            <a:r>
              <a:rPr lang="pl-PL" dirty="0"/>
              <a:t>ISATAP – R1 (KLIENT)</a:t>
            </a:r>
          </a:p>
        </p:txBody>
      </p:sp>
      <p:sp>
        <p:nvSpPr>
          <p:cNvPr id="3" name="Rectangle 34">
            <a:extLst>
              <a:ext uri="{FF2B5EF4-FFF2-40B4-BE49-F238E27FC236}">
                <a16:creationId xmlns:a16="http://schemas.microsoft.com/office/drawing/2014/main" id="{2C183C64-1731-7367-C9AF-C668A4E8B3FB}"/>
              </a:ext>
            </a:extLst>
          </p:cNvPr>
          <p:cNvSpPr txBox="1">
            <a:spLocks noChangeArrowheads="1"/>
          </p:cNvSpPr>
          <p:nvPr/>
        </p:nvSpPr>
        <p:spPr>
          <a:xfrm>
            <a:off x="2080386" y="836731"/>
            <a:ext cx="6632864" cy="39846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interface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FastEthernet0/0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13.1.1.1 255.0.0.0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no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shutdown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interface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FastEthernet0/1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14.1.1.1 255.0.0.0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no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shutdown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auto">
              <a:spcBef>
                <a:spcPts val="300"/>
              </a:spcBef>
              <a:spcAft>
                <a:spcPts val="300"/>
              </a:spcAft>
            </a:pPr>
            <a:endParaRPr lang="pl-PL" sz="1800" b="1" dirty="0"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64395723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>
            <a:normAutofit/>
          </a:bodyPr>
          <a:lstStyle/>
          <a:p>
            <a:pPr rtl="0" eaLnBrk="1" hangingPunct="1"/>
            <a:r>
              <a:rPr lang="pl-PL" dirty="0"/>
              <a:t>ISATAP – R2 (SERWER)</a:t>
            </a:r>
          </a:p>
        </p:txBody>
      </p:sp>
      <p:sp>
        <p:nvSpPr>
          <p:cNvPr id="3" name="Rectangle 34">
            <a:extLst>
              <a:ext uri="{FF2B5EF4-FFF2-40B4-BE49-F238E27FC236}">
                <a16:creationId xmlns:a16="http://schemas.microsoft.com/office/drawing/2014/main" id="{6BF50021-D78F-B950-4C40-40EA447C6260}"/>
              </a:ext>
            </a:extLst>
          </p:cNvPr>
          <p:cNvSpPr txBox="1">
            <a:spLocks noChangeArrowheads="1"/>
          </p:cNvSpPr>
          <p:nvPr/>
        </p:nvSpPr>
        <p:spPr>
          <a:xfrm>
            <a:off x="2080386" y="836731"/>
            <a:ext cx="6632864" cy="39846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interface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Tunnel0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no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no 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nd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ra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suppress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2001:DB8:CAFE:65::/64 eui-64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enable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tunnel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source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FastEthernet0/0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tunnel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mode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ipv6ip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isatap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interface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FastEthernet0/0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14.1.1.2 255.0.0.0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no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shutdown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1750932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>
            <a:normAutofit/>
          </a:bodyPr>
          <a:lstStyle/>
          <a:p>
            <a:pPr rtl="0" eaLnBrk="1" hangingPunct="1"/>
            <a:r>
              <a:rPr lang="pl-PL" dirty="0"/>
              <a:t>ISATAP – R2 (SERWER) – ciąg dalszy</a:t>
            </a:r>
          </a:p>
        </p:txBody>
      </p:sp>
      <p:sp>
        <p:nvSpPr>
          <p:cNvPr id="3" name="Rectangle 34">
            <a:extLst>
              <a:ext uri="{FF2B5EF4-FFF2-40B4-BE49-F238E27FC236}">
                <a16:creationId xmlns:a16="http://schemas.microsoft.com/office/drawing/2014/main" id="{6BF50021-D78F-B950-4C40-40EA447C6260}"/>
              </a:ext>
            </a:extLst>
          </p:cNvPr>
          <p:cNvSpPr txBox="1">
            <a:spLocks noChangeArrowheads="1"/>
          </p:cNvSpPr>
          <p:nvPr/>
        </p:nvSpPr>
        <p:spPr>
          <a:xfrm>
            <a:off x="2080386" y="836731"/>
            <a:ext cx="6632864" cy="39846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interface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FastEthernet0/1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no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2001::1/64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no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shutdown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4796511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MECHANIZMY MIGRACJI IPV4 DO IPV6 – 6over4, 4over6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E889C25D-01EC-A72A-4F74-EC6052341AF5}"/>
              </a:ext>
            </a:extLst>
          </p:cNvPr>
          <p:cNvSpPr txBox="1"/>
          <p:nvPr/>
        </p:nvSpPr>
        <p:spPr>
          <a:xfrm>
            <a:off x="1957269" y="1054119"/>
            <a:ext cx="6771095" cy="3013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Trzecim rozwiązaniem jest 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tunelowanie 4over6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które polega na komunikacji między dwoma hostami IPV4 poprzez tunel pracujący w IPV6, albo </a:t>
            </a:r>
            <a:r>
              <a:rPr lang="pl-PL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tunelowanie 6over4 </a:t>
            </a: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między dwoma hostami IPV6 poprzez tunel pracujący w IPV4.</a:t>
            </a: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endParaRPr lang="pl-PL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  <a:spcBef>
                <a:spcPts val="1200"/>
              </a:spcBef>
              <a:spcAft>
                <a:spcPts val="5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Jest to rozwiązanie przejściowe, stosowane aż do zakończenia przejścia z IPV4 na IPV6.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2149745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/>
          <a:lstStyle/>
          <a:p>
            <a:pPr rtl="0" eaLnBrk="1" hangingPunct="1"/>
            <a:r>
              <a:rPr lang="pl-PL" dirty="0"/>
              <a:t>6over4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1C2C8644-2FD9-1895-477D-22EE254F0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2459" y="1889951"/>
            <a:ext cx="7215306" cy="219084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10966682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>
            <a:normAutofit/>
          </a:bodyPr>
          <a:lstStyle/>
          <a:p>
            <a:pPr rtl="0" eaLnBrk="1" hangingPunct="1"/>
            <a:r>
              <a:rPr lang="pl-PL" dirty="0"/>
              <a:t>6over4 – R1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2080386" y="836731"/>
            <a:ext cx="6632864" cy="398465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interface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Tunnel0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no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2001:2:2:2::1/64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tunnel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source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FastEthernet0/1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tunnel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destination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10.3.3.2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tunnel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mode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ipv6ip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0989452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>
          <a:xfrm>
            <a:off x="75571" y="0"/>
            <a:ext cx="9144000" cy="757551"/>
          </a:xfrm>
        </p:spPr>
        <p:txBody>
          <a:bodyPr>
            <a:normAutofit/>
          </a:bodyPr>
          <a:lstStyle/>
          <a:p>
            <a:pPr rtl="0" eaLnBrk="1" hangingPunct="1"/>
            <a:r>
              <a:rPr lang="pl-PL" dirty="0"/>
              <a:t>6over4 – R3</a:t>
            </a:r>
          </a:p>
        </p:txBody>
      </p:sp>
      <p:sp>
        <p:nvSpPr>
          <p:cNvPr id="7171" name="Rectangle 34"/>
          <p:cNvSpPr>
            <a:spLocks noGrp="1" noChangeArrowheads="1"/>
          </p:cNvSpPr>
          <p:nvPr>
            <p:ph idx="4294967295"/>
          </p:nvPr>
        </p:nvSpPr>
        <p:spPr>
          <a:xfrm>
            <a:off x="2080386" y="836731"/>
            <a:ext cx="6632864" cy="398465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interface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Tunnel0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no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ip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ipv6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2001:2:2:2::2/64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tunnel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source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FastEthernet0/0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tunnel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destination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10.2.2.1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tunnel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b="1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mode</a:t>
            </a:r>
            <a:r>
              <a:rPr lang="pl-PL" sz="1800" b="1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ipv6ip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None/>
            </a:pPr>
            <a:endParaRPr lang="pl-PL" sz="1800" b="1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75953032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Neon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Smuga">
  <a:themeElements>
    <a:clrScheme name="Smuga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Smug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muga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3.xml><?xml version="1.0" encoding="utf-8"?>
<a:theme xmlns:a="http://schemas.openxmlformats.org/drawingml/2006/main" name="2_Smuga">
  <a:themeElements>
    <a:clrScheme name="Smuga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Smug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muga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12464</TotalTime>
  <Words>451</Words>
  <Application>Microsoft Office PowerPoint</Application>
  <PresentationFormat>Pokaz na ekranie (16:9)</PresentationFormat>
  <Paragraphs>115</Paragraphs>
  <Slides>16</Slides>
  <Notes>16</Notes>
  <HiddenSlides>15</HiddenSlides>
  <MMClips>0</MMClips>
  <ScaleCrop>false</ScaleCrop>
  <HeadingPairs>
    <vt:vector size="6" baseType="variant">
      <vt:variant>
        <vt:lpstr>Używane czcionki</vt:lpstr>
      </vt:variant>
      <vt:variant>
        <vt:i4>8</vt:i4>
      </vt:variant>
      <vt:variant>
        <vt:lpstr>Motyw</vt:lpstr>
      </vt:variant>
      <vt:variant>
        <vt:i4>3</vt:i4>
      </vt:variant>
      <vt:variant>
        <vt:lpstr>Tytuły slajdów</vt:lpstr>
      </vt:variant>
      <vt:variant>
        <vt:i4>16</vt:i4>
      </vt:variant>
    </vt:vector>
  </HeadingPairs>
  <TitlesOfParts>
    <vt:vector size="27" baseType="lpstr">
      <vt:lpstr>Arial</vt:lpstr>
      <vt:lpstr>Calibri</vt:lpstr>
      <vt:lpstr>Century Gothic</vt:lpstr>
      <vt:lpstr>CiscoSans ExtraLight</vt:lpstr>
      <vt:lpstr>Courier New</vt:lpstr>
      <vt:lpstr>Times New Roman</vt:lpstr>
      <vt:lpstr>Wingdings</vt:lpstr>
      <vt:lpstr>Wingdings 3</vt:lpstr>
      <vt:lpstr>Default Theme</vt:lpstr>
      <vt:lpstr>Smuga</vt:lpstr>
      <vt:lpstr>2_Smuga</vt:lpstr>
      <vt:lpstr>MIGRACJA IPV4 DO IPV6</vt:lpstr>
      <vt:lpstr>MECHANIZMY MIGRACJI IPV4 DO IPV6 – DUAL STACK</vt:lpstr>
      <vt:lpstr>DUAL STACK</vt:lpstr>
      <vt:lpstr>DUAL STACK</vt:lpstr>
      <vt:lpstr>DUAL STACK</vt:lpstr>
      <vt:lpstr>DUAL STACK</vt:lpstr>
      <vt:lpstr>DUAL STACK</vt:lpstr>
      <vt:lpstr>MECHANIZMY MIGRACJI IPV4 DO IPV6 – ISATAP</vt:lpstr>
      <vt:lpstr>ISATAP</vt:lpstr>
      <vt:lpstr>ISATAP – R1 (KLIENT)</vt:lpstr>
      <vt:lpstr>ISATAP – R2 (SERWER)</vt:lpstr>
      <vt:lpstr>ISATAP – R2 (SERWER) – ciąg dalszy</vt:lpstr>
      <vt:lpstr>MECHANIZMY MIGRACJI IPV4 DO IPV6 – 6over4, 4over6</vt:lpstr>
      <vt:lpstr>6over4</vt:lpstr>
      <vt:lpstr>6over4 – R1</vt:lpstr>
      <vt:lpstr>6over4 – R3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Jerzy Kluczewski</cp:lastModifiedBy>
  <cp:revision>407</cp:revision>
  <dcterms:created xsi:type="dcterms:W3CDTF">2019-10-18T06:21:22Z</dcterms:created>
  <dcterms:modified xsi:type="dcterms:W3CDTF">2022-11-21T21:16:25Z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