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9"/>
  </p:notesMasterIdLst>
  <p:sldIdLst>
    <p:sldId id="333" r:id="rId5"/>
    <p:sldId id="334" r:id="rId6"/>
    <p:sldId id="335" r:id="rId7"/>
    <p:sldId id="336" r:id="rId8"/>
  </p:sldIdLst>
  <p:sldSz cx="10691813" cy="755967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81">
          <p15:clr>
            <a:srgbClr val="A4A3A4"/>
          </p15:clr>
        </p15:guide>
        <p15:guide id="2" pos="3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566" y="84"/>
      </p:cViewPr>
      <p:guideLst>
        <p:guide orient="horz" pos="2381"/>
        <p:guide pos="336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46188" y="1143000"/>
            <a:ext cx="43656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l-PL"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993710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ajd tytuł + treść - 1 kolumna" userDrawn="1">
  <p:cSld name="slajd tytuł + treść - 1 kolumna">
    <p:spTree>
      <p:nvGrpSpPr>
        <p:cNvPr id="1" name="Shape 44"/>
        <p:cNvGrpSpPr/>
        <p:nvPr/>
      </p:nvGrpSpPr>
      <p:grpSpPr>
        <a:xfrm>
          <a:off x="0" y="0"/>
          <a:ext cx="0" cy="0"/>
          <a:chOff x="0" y="0"/>
          <a:chExt cx="0" cy="0"/>
        </a:xfrm>
      </p:grpSpPr>
      <p:sp>
        <p:nvSpPr>
          <p:cNvPr id="45" name="Google Shape;45;p5"/>
          <p:cNvSpPr txBox="1">
            <a:spLocks noGrp="1"/>
          </p:cNvSpPr>
          <p:nvPr>
            <p:ph type="title"/>
          </p:nvPr>
        </p:nvSpPr>
        <p:spPr>
          <a:xfrm>
            <a:off x="520700" y="774883"/>
            <a:ext cx="9650413" cy="443198"/>
          </a:xfrm>
          <a:prstGeom prst="rect">
            <a:avLst/>
          </a:prstGeom>
          <a:noFill/>
          <a:ln>
            <a:noFill/>
          </a:ln>
        </p:spPr>
        <p:txBody>
          <a:bodyPr spcFirstLastPara="1" wrap="square" lIns="0" tIns="0" rIns="0" bIns="0" anchor="t" anchorCtr="0"/>
          <a:lstStyle>
            <a:lvl1pPr marR="0" lvl="0" algn="l" rtl="0">
              <a:lnSpc>
                <a:spcPct val="90000"/>
              </a:lnSpc>
              <a:spcBef>
                <a:spcPts val="0"/>
              </a:spcBef>
              <a:spcAft>
                <a:spcPts val="0"/>
              </a:spcAft>
              <a:buClr>
                <a:schemeClr val="dk1"/>
              </a:buClr>
              <a:buSzPts val="3200"/>
              <a:buFont typeface="Georgia"/>
              <a:buNone/>
              <a:defRPr sz="3200" b="1"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 name="Google Shape;46;p5"/>
          <p:cNvSpPr txBox="1">
            <a:spLocks noGrp="1"/>
          </p:cNvSpPr>
          <p:nvPr>
            <p:ph type="body" idx="1"/>
          </p:nvPr>
        </p:nvSpPr>
        <p:spPr>
          <a:xfrm>
            <a:off x="520700" y="1538713"/>
            <a:ext cx="9650413" cy="4772053"/>
          </a:xfrm>
          <a:prstGeom prst="rect">
            <a:avLst/>
          </a:prstGeom>
          <a:noFill/>
          <a:ln>
            <a:noFill/>
          </a:ln>
        </p:spPr>
        <p:txBody>
          <a:bodyPr spcFirstLastPara="1" wrap="square" lIns="0" tIns="0" rIns="0" bIns="0" anchor="t" anchorCtr="0"/>
          <a:lstStyle>
            <a:lvl1pPr marL="457200" marR="0" lvl="0" indent="-228600" algn="l" rtl="0">
              <a:lnSpc>
                <a:spcPct val="90000"/>
              </a:lnSpc>
              <a:spcBef>
                <a:spcPts val="1102"/>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6pPr>
            <a:lvl7pPr marL="3200400" marR="0" lvl="6"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7pPr>
            <a:lvl8pPr marL="3657600" marR="0" lvl="7"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8pPr>
            <a:lvl9pPr marL="4114800" marR="0" lvl="8"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9pPr>
          </a:lstStyle>
          <a:p>
            <a:endParaRPr dirty="0"/>
          </a:p>
        </p:txBody>
      </p:sp>
      <p:cxnSp>
        <p:nvCxnSpPr>
          <p:cNvPr id="47" name="Google Shape;47;p5"/>
          <p:cNvCxnSpPr/>
          <p:nvPr/>
        </p:nvCxnSpPr>
        <p:spPr>
          <a:xfrm>
            <a:off x="520700" y="6819776"/>
            <a:ext cx="9650413" cy="0"/>
          </a:xfrm>
          <a:prstGeom prst="straightConnector1">
            <a:avLst/>
          </a:prstGeom>
          <a:noFill/>
          <a:ln w="9525" cap="flat" cmpd="sng">
            <a:solidFill>
              <a:schemeClr val="dk1"/>
            </a:solidFill>
            <a:prstDash val="solid"/>
            <a:miter lim="800000"/>
            <a:headEnd type="none" w="sm" len="sm"/>
            <a:tailEnd type="none" w="sm" len="sm"/>
          </a:ln>
        </p:spPr>
      </p:cxnSp>
      <p:cxnSp>
        <p:nvCxnSpPr>
          <p:cNvPr id="48" name="Google Shape;48;p5"/>
          <p:cNvCxnSpPr/>
          <p:nvPr/>
        </p:nvCxnSpPr>
        <p:spPr>
          <a:xfrm>
            <a:off x="520700" y="540000"/>
            <a:ext cx="9650413" cy="0"/>
          </a:xfrm>
          <a:prstGeom prst="straightConnector1">
            <a:avLst/>
          </a:prstGeom>
          <a:noFill/>
          <a:ln w="50800" cap="flat" cmpd="sng">
            <a:solidFill>
              <a:schemeClr val="dk1"/>
            </a:solidFill>
            <a:prstDash val="solid"/>
            <a:miter lim="800000"/>
            <a:headEnd type="none" w="sm" len="sm"/>
            <a:tailEnd type="none" w="sm" len="sm"/>
          </a:ln>
        </p:spPr>
      </p:cxnSp>
      <p:sp>
        <p:nvSpPr>
          <p:cNvPr id="49" name="Google Shape;49;p5"/>
          <p:cNvSpPr txBox="1">
            <a:spLocks noGrp="1"/>
          </p:cNvSpPr>
          <p:nvPr>
            <p:ph type="dt" idx="10"/>
          </p:nvPr>
        </p:nvSpPr>
        <p:spPr>
          <a:xfrm>
            <a:off x="7937500" y="7006700"/>
            <a:ext cx="1133475" cy="184666"/>
          </a:xfrm>
          <a:prstGeom prst="rect">
            <a:avLst/>
          </a:prstGeom>
          <a:noFill/>
          <a:ln>
            <a:noFill/>
          </a:ln>
        </p:spPr>
        <p:txBody>
          <a:bodyPr spcFirstLastPara="1" wrap="square" lIns="0" tIns="0" rIns="0" bIns="0"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0" name="Google Shape;50;p5"/>
          <p:cNvSpPr txBox="1">
            <a:spLocks noGrp="1"/>
          </p:cNvSpPr>
          <p:nvPr>
            <p:ph type="ftr" idx="11"/>
          </p:nvPr>
        </p:nvSpPr>
        <p:spPr>
          <a:xfrm>
            <a:off x="5454650" y="7006700"/>
            <a:ext cx="2266949" cy="184666"/>
          </a:xfrm>
          <a:prstGeom prst="rect">
            <a:avLst/>
          </a:prstGeom>
          <a:noFill/>
          <a:ln>
            <a:noFill/>
          </a:ln>
        </p:spPr>
        <p:txBody>
          <a:bodyPr spcFirstLastPara="1" wrap="square" lIns="0" tIns="0" rIns="0" bIns="0"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5"/>
          <p:cNvSpPr txBox="1">
            <a:spLocks noGrp="1"/>
          </p:cNvSpPr>
          <p:nvPr>
            <p:ph type="sldNum" idx="12"/>
          </p:nvPr>
        </p:nvSpPr>
        <p:spPr>
          <a:xfrm>
            <a:off x="9471923" y="7006700"/>
            <a:ext cx="699190" cy="184666"/>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pPr marL="0" lvl="0" indent="0" algn="r" rtl="0">
                <a:spcBef>
                  <a:spcPts val="0"/>
                </a:spcBef>
                <a:spcAft>
                  <a:spcPts val="0"/>
                </a:spcAft>
                <a:buNone/>
              </a:pPr>
              <a:t>‹#›</a:t>
            </a:fld>
            <a:endParaRPr/>
          </a:p>
        </p:txBody>
      </p:sp>
      <p:pic>
        <p:nvPicPr>
          <p:cNvPr id="3" name="Obraz 2">
            <a:extLst>
              <a:ext uri="{FF2B5EF4-FFF2-40B4-BE49-F238E27FC236}">
                <a16:creationId xmlns:a16="http://schemas.microsoft.com/office/drawing/2014/main" id="{41A96210-1BCD-8C97-6AA9-1B4192D2D203}"/>
              </a:ext>
            </a:extLst>
          </p:cNvPr>
          <p:cNvPicPr>
            <a:picLocks noChangeAspect="1"/>
          </p:cNvPicPr>
          <p:nvPr userDrawn="1"/>
        </p:nvPicPr>
        <p:blipFill>
          <a:blip r:embed="rId2"/>
          <a:stretch>
            <a:fillRect/>
          </a:stretch>
        </p:blipFill>
        <p:spPr>
          <a:xfrm>
            <a:off x="520700" y="6868038"/>
            <a:ext cx="809336" cy="2773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20700" y="774883"/>
            <a:ext cx="9650413" cy="443198"/>
          </a:xfrm>
          <a:prstGeom prst="rect">
            <a:avLst/>
          </a:prstGeom>
          <a:noFill/>
          <a:ln>
            <a:noFill/>
          </a:ln>
        </p:spPr>
        <p:txBody>
          <a:bodyPr spcFirstLastPara="1" wrap="square" lIns="0" tIns="0" rIns="0" bIns="0" anchor="t" anchorCtr="0"/>
          <a:lstStyle>
            <a:lvl1pPr marR="0" lvl="0" algn="l" rtl="0">
              <a:lnSpc>
                <a:spcPct val="90000"/>
              </a:lnSpc>
              <a:spcBef>
                <a:spcPts val="0"/>
              </a:spcBef>
              <a:spcAft>
                <a:spcPts val="0"/>
              </a:spcAft>
              <a:buClr>
                <a:schemeClr val="dk1"/>
              </a:buClr>
              <a:buSzPts val="3200"/>
              <a:buFont typeface="Georgia"/>
              <a:buNone/>
              <a:defRPr sz="3200" b="1"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520700" y="1514223"/>
            <a:ext cx="9650413" cy="4796544"/>
          </a:xfrm>
          <a:prstGeom prst="rect">
            <a:avLst/>
          </a:prstGeom>
          <a:noFill/>
          <a:ln>
            <a:noFill/>
          </a:ln>
        </p:spPr>
        <p:txBody>
          <a:bodyPr spcFirstLastPara="1" wrap="square" lIns="0" tIns="0" rIns="0" bIns="0" anchor="t" anchorCtr="0"/>
          <a:lstStyle>
            <a:lvl1pPr marL="457200" marR="0" lvl="0" indent="-228600" algn="l" rtl="0">
              <a:lnSpc>
                <a:spcPct val="90000"/>
              </a:lnSpc>
              <a:spcBef>
                <a:spcPts val="1102"/>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6pPr>
            <a:lvl7pPr marL="3200400" marR="0" lvl="6"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7pPr>
            <a:lvl8pPr marL="3657600" marR="0" lvl="7"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8pPr>
            <a:lvl9pPr marL="4114800" marR="0" lvl="8"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7937500" y="7006700"/>
            <a:ext cx="1133475" cy="184666"/>
          </a:xfrm>
          <a:prstGeom prst="rect">
            <a:avLst/>
          </a:prstGeom>
          <a:noFill/>
          <a:ln>
            <a:noFill/>
          </a:ln>
        </p:spPr>
        <p:txBody>
          <a:bodyPr spcFirstLastPara="1" wrap="square" lIns="0" tIns="0" rIns="0" bIns="0"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5454650" y="7006700"/>
            <a:ext cx="2266949" cy="184666"/>
          </a:xfrm>
          <a:prstGeom prst="rect">
            <a:avLst/>
          </a:prstGeom>
          <a:noFill/>
          <a:ln>
            <a:noFill/>
          </a:ln>
        </p:spPr>
        <p:txBody>
          <a:bodyPr spcFirstLastPara="1" wrap="square" lIns="0" tIns="0" rIns="0" bIns="0"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9471923" y="7006700"/>
            <a:ext cx="699190" cy="184666"/>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744">
          <p15:clr>
            <a:srgbClr val="F26B43"/>
          </p15:clr>
        </p15:guide>
        <p15:guide id="2" pos="3436">
          <p15:clr>
            <a:srgbClr val="F26B43"/>
          </p15:clr>
        </p15:guide>
        <p15:guide id="3" pos="3299">
          <p15:clr>
            <a:srgbClr val="F26B43"/>
          </p15:clr>
        </p15:guide>
        <p15:guide id="4" pos="328">
          <p15:clr>
            <a:srgbClr val="F26B43"/>
          </p15:clr>
        </p15:guide>
        <p15:guide id="5" pos="192">
          <p15:clr>
            <a:srgbClr val="F26B43"/>
          </p15:clr>
        </p15:guide>
        <p15:guide id="6" pos="6407">
          <p15:clr>
            <a:srgbClr val="F26B43"/>
          </p15:clr>
        </p15:guide>
        <p15:guide id="7" pos="6543">
          <p15:clr>
            <a:srgbClr val="F26B43"/>
          </p15:clr>
        </p15:guide>
        <p15:guide id="8" pos="1735">
          <p15:clr>
            <a:srgbClr val="F26B43"/>
          </p15:clr>
        </p15:guide>
        <p15:guide id="9" pos="1871">
          <p15:clr>
            <a:srgbClr val="F26B43"/>
          </p15:clr>
        </p15:guide>
        <p15:guide id="10" pos="4864">
          <p15:clr>
            <a:srgbClr val="F26B43"/>
          </p15:clr>
        </p15:guide>
        <p15:guide id="11" pos="500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EF4BE-A49F-841E-5DD2-983CC4C39F6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7E832EFD-1A26-41A8-C268-C62112BD0B1D}"/>
              </a:ext>
            </a:extLst>
          </p:cNvPr>
          <p:cNvSpPr>
            <a:spLocks noGrp="1"/>
          </p:cNvSpPr>
          <p:nvPr>
            <p:ph type="title"/>
          </p:nvPr>
        </p:nvSpPr>
        <p:spPr>
          <a:xfrm>
            <a:off x="520700" y="774882"/>
            <a:ext cx="9650413" cy="3088906"/>
          </a:xfrm>
        </p:spPr>
        <p:txBody>
          <a:bodyPr/>
          <a:lstStyle/>
          <a:p>
            <a:pPr marL="457200">
              <a:spcBef>
                <a:spcPts val="300"/>
              </a:spcBef>
              <a:spcAft>
                <a:spcPts val="300"/>
              </a:spcAft>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Server-based Authentication with TACACS+ and RADIU</a:t>
            </a:r>
            <a: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pic>
        <p:nvPicPr>
          <p:cNvPr id="5" name="Obraz 4">
            <a:extLst>
              <a:ext uri="{FF2B5EF4-FFF2-40B4-BE49-F238E27FC236}">
                <a16:creationId xmlns:a16="http://schemas.microsoft.com/office/drawing/2014/main" id="{996B8491-BE4A-C220-F416-675A8AC1CFE1}"/>
              </a:ext>
            </a:extLst>
          </p:cNvPr>
          <p:cNvPicPr>
            <a:picLocks noChangeAspect="1"/>
          </p:cNvPicPr>
          <p:nvPr/>
        </p:nvPicPr>
        <p:blipFill>
          <a:blip r:embed="rId2"/>
          <a:stretch>
            <a:fillRect/>
          </a:stretch>
        </p:blipFill>
        <p:spPr>
          <a:xfrm>
            <a:off x="636507" y="1944209"/>
            <a:ext cx="9418797" cy="4092605"/>
          </a:xfrm>
          <a:prstGeom prst="rect">
            <a:avLst/>
          </a:prstGeom>
        </p:spPr>
      </p:pic>
    </p:spTree>
    <p:extLst>
      <p:ext uri="{BB962C8B-B14F-4D97-AF65-F5344CB8AC3E}">
        <p14:creationId xmlns:p14="http://schemas.microsoft.com/office/powerpoint/2010/main" val="2986724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AF217-136A-4128-6194-1E364CC058A8}"/>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C0050348-E42A-518D-228D-8008A7B938AF}"/>
              </a:ext>
            </a:extLst>
          </p:cNvPr>
          <p:cNvSpPr>
            <a:spLocks noGrp="1"/>
          </p:cNvSpPr>
          <p:nvPr>
            <p:ph type="title"/>
          </p:nvPr>
        </p:nvSpPr>
        <p:spPr>
          <a:xfrm>
            <a:off x="520700" y="774882"/>
            <a:ext cx="9650413" cy="5901126"/>
          </a:xfrm>
        </p:spPr>
        <p:txBody>
          <a:bodyPr/>
          <a:lstStyle/>
          <a:p>
            <a:pPr marL="228600">
              <a:spcBef>
                <a:spcPts val="600"/>
              </a:spcBef>
              <a:spcAft>
                <a:spcPts val="600"/>
              </a:spcAft>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Server-based Authentication with TACACS+ and RADIU</a:t>
            </a:r>
            <a: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The network topology shows routers R1, R2 and R3. Currently, all administrative security is based on knowledge of the enable secret password. Your task is to configure and test local and server-based AAA solutions.</a:t>
            </a:r>
            <a:br>
              <a:rPr lang="hr-HR" sz="1800" dirty="0">
                <a:effectLst/>
                <a:latin typeface="Arial" panose="020B0604020202020204" pitchFamily="34" charset="0"/>
                <a:ea typeface="Calibri" panose="020F0502020204030204" pitchFamily="34" charset="0"/>
                <a:cs typeface="Times New Roman" panose="02020603050405020304" pitchFamily="18" charset="0"/>
              </a:rPr>
            </a:b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You will configure router R2 to support server-based authentication using the TACACS+ protocol. The TACACS+ server has been pre-configured with the following:</a:t>
            </a: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Client: </a:t>
            </a:r>
            <a:r>
              <a:rPr lang="en-US" sz="1800" b="1" dirty="0">
                <a:effectLst/>
                <a:latin typeface="Arial" panose="020B0604020202020204" pitchFamily="34" charset="0"/>
                <a:ea typeface="Calibri" panose="020F0502020204030204" pitchFamily="34" charset="0"/>
                <a:cs typeface="Times New Roman" panose="02020603050405020304" pitchFamily="18" charset="0"/>
              </a:rPr>
              <a:t>R2</a:t>
            </a:r>
            <a:r>
              <a:rPr lang="en-US" sz="1800" dirty="0">
                <a:effectLst/>
                <a:latin typeface="Arial" panose="020B0604020202020204" pitchFamily="34" charset="0"/>
                <a:ea typeface="Calibri" panose="020F0502020204030204" pitchFamily="34" charset="0"/>
                <a:cs typeface="Times New Roman" panose="02020603050405020304" pitchFamily="18" charset="0"/>
              </a:rPr>
              <a:t> using the keyword </a:t>
            </a:r>
            <a:r>
              <a:rPr lang="en-US" sz="1800" b="1" dirty="0">
                <a:effectLst/>
                <a:latin typeface="Arial" panose="020B0604020202020204" pitchFamily="34" charset="0"/>
                <a:ea typeface="Calibri" panose="020F0502020204030204" pitchFamily="34" charset="0"/>
                <a:cs typeface="Times New Roman" panose="02020603050405020304" pitchFamily="18" charset="0"/>
              </a:rPr>
              <a:t>tacacspa55</a:t>
            </a: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User account: </a:t>
            </a:r>
            <a:r>
              <a:rPr lang="en-US" sz="1800" b="1" dirty="0">
                <a:effectLst/>
                <a:latin typeface="Arial" panose="020B0604020202020204" pitchFamily="34" charset="0"/>
                <a:ea typeface="Calibri" panose="020F0502020204030204" pitchFamily="34" charset="0"/>
                <a:cs typeface="Times New Roman" panose="02020603050405020304" pitchFamily="18" charset="0"/>
              </a:rPr>
              <a:t>Admin2</a:t>
            </a:r>
            <a:r>
              <a:rPr lang="en-US" sz="1800" dirty="0">
                <a:effectLst/>
                <a:latin typeface="Arial" panose="020B0604020202020204" pitchFamily="34" charset="0"/>
                <a:ea typeface="Calibri" panose="020F0502020204030204" pitchFamily="34" charset="0"/>
                <a:cs typeface="Times New Roman" panose="02020603050405020304" pitchFamily="18" charset="0"/>
              </a:rPr>
              <a:t> and password </a:t>
            </a:r>
            <a:r>
              <a:rPr lang="en-US" sz="1800" b="1" dirty="0">
                <a:effectLst/>
                <a:latin typeface="Arial" panose="020B0604020202020204" pitchFamily="34" charset="0"/>
                <a:ea typeface="Calibri" panose="020F0502020204030204" pitchFamily="34" charset="0"/>
                <a:cs typeface="Times New Roman" panose="02020603050405020304" pitchFamily="18" charset="0"/>
              </a:rPr>
              <a:t>admin2pa55</a:t>
            </a:r>
            <a:br>
              <a:rPr lang="hr-HR" sz="1800" dirty="0">
                <a:effectLst/>
                <a:latin typeface="Arial" panose="020B0604020202020204" pitchFamily="34" charset="0"/>
                <a:ea typeface="Calibri" panose="020F0502020204030204" pitchFamily="34" charset="0"/>
                <a:cs typeface="Times New Roman" panose="02020603050405020304" pitchFamily="18" charset="0"/>
              </a:rPr>
            </a:b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Finally, you will configure router R3 to support server-based authentication using the RADIUS protocol. The RADIUS server has been pre-configured with the following:</a:t>
            </a:r>
            <a:br>
              <a:rPr lang="hr-HR" sz="1800" dirty="0">
                <a:effectLst/>
                <a:latin typeface="Arial" panose="020B0604020202020204" pitchFamily="34" charset="0"/>
                <a:ea typeface="Calibri" panose="020F0502020204030204" pitchFamily="34" charset="0"/>
                <a:cs typeface="Times New Roman" panose="02020603050405020304" pitchFamily="18" charset="0"/>
              </a:rPr>
            </a:b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Client: </a:t>
            </a:r>
            <a:r>
              <a:rPr lang="en-US" sz="1800" b="1" dirty="0">
                <a:effectLst/>
                <a:latin typeface="Arial" panose="020B0604020202020204" pitchFamily="34" charset="0"/>
                <a:ea typeface="Calibri" panose="020F0502020204030204" pitchFamily="34" charset="0"/>
                <a:cs typeface="Times New Roman" panose="02020603050405020304" pitchFamily="18" charset="0"/>
              </a:rPr>
              <a:t>R3</a:t>
            </a:r>
            <a:r>
              <a:rPr lang="en-US" sz="1800" dirty="0">
                <a:effectLst/>
                <a:latin typeface="Arial" panose="020B0604020202020204" pitchFamily="34" charset="0"/>
                <a:ea typeface="Calibri" panose="020F0502020204030204" pitchFamily="34" charset="0"/>
                <a:cs typeface="Times New Roman" panose="02020603050405020304" pitchFamily="18" charset="0"/>
              </a:rPr>
              <a:t> using the keyword </a:t>
            </a:r>
            <a:r>
              <a:rPr lang="en-US" sz="1800" b="1" dirty="0">
                <a:effectLst/>
                <a:latin typeface="Arial" panose="020B0604020202020204" pitchFamily="34" charset="0"/>
                <a:ea typeface="Calibri" panose="020F0502020204030204" pitchFamily="34" charset="0"/>
                <a:cs typeface="Times New Roman" panose="02020603050405020304" pitchFamily="18" charset="0"/>
              </a:rPr>
              <a:t>radiuspa55</a:t>
            </a: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User account: </a:t>
            </a:r>
            <a:r>
              <a:rPr lang="en-US" sz="1800" b="1" dirty="0">
                <a:effectLst/>
                <a:latin typeface="Arial" panose="020B0604020202020204" pitchFamily="34" charset="0"/>
                <a:ea typeface="Calibri" panose="020F0502020204030204" pitchFamily="34" charset="0"/>
                <a:cs typeface="Times New Roman" panose="02020603050405020304" pitchFamily="18" charset="0"/>
              </a:rPr>
              <a:t>Admin3</a:t>
            </a:r>
            <a:r>
              <a:rPr lang="en-US" sz="1800" dirty="0">
                <a:effectLst/>
                <a:latin typeface="Arial" panose="020B0604020202020204" pitchFamily="34" charset="0"/>
                <a:ea typeface="Calibri" panose="020F0502020204030204" pitchFamily="34" charset="0"/>
                <a:cs typeface="Times New Roman" panose="02020603050405020304" pitchFamily="18" charset="0"/>
              </a:rPr>
              <a:t> and password </a:t>
            </a:r>
            <a:r>
              <a:rPr lang="en-US" sz="1800" b="1" dirty="0">
                <a:effectLst/>
                <a:latin typeface="Arial" panose="020B0604020202020204" pitchFamily="34" charset="0"/>
                <a:ea typeface="Calibri" panose="020F0502020204030204" pitchFamily="34" charset="0"/>
                <a:cs typeface="Times New Roman" panose="02020603050405020304" pitchFamily="18" charset="0"/>
              </a:rPr>
              <a:t>admin3pa55</a:t>
            </a: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The routers have also been pre-configured with the following:</a:t>
            </a: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Enable secret password: </a:t>
            </a:r>
            <a:r>
              <a:rPr lang="en-US" sz="1800" b="1" dirty="0">
                <a:effectLst/>
                <a:latin typeface="Arial" panose="020B0604020202020204" pitchFamily="34" charset="0"/>
                <a:ea typeface="Calibri" panose="020F0502020204030204" pitchFamily="34" charset="0"/>
                <a:cs typeface="Times New Roman" panose="02020603050405020304" pitchFamily="18" charset="0"/>
              </a:rPr>
              <a:t>ciscoenpa55</a:t>
            </a: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OSPF routing protocol with MD5 authentication using password: </a:t>
            </a:r>
            <a:r>
              <a:rPr lang="en-US" sz="1800" b="1" dirty="0">
                <a:effectLst/>
                <a:latin typeface="Arial" panose="020B0604020202020204" pitchFamily="34" charset="0"/>
                <a:ea typeface="Calibri" panose="020F0502020204030204" pitchFamily="34" charset="0"/>
                <a:cs typeface="Times New Roman" panose="02020603050405020304" pitchFamily="18" charset="0"/>
              </a:rPr>
              <a:t>MD5pa55</a:t>
            </a:r>
            <a:br>
              <a:rPr lang="hr-HR" sz="1800" dirty="0">
                <a:effectLst/>
                <a:latin typeface="Arial" panose="020B0604020202020204" pitchFamily="34" charset="0"/>
                <a:ea typeface="Calibri" panose="020F0502020204030204" pitchFamily="34" charset="0"/>
                <a:cs typeface="Times New Roman" panose="02020603050405020304" pitchFamily="18" charset="0"/>
              </a:rPr>
            </a:br>
            <a:br>
              <a:rPr lang="hr-HR" sz="1800" dirty="0">
                <a:effectLst/>
                <a:latin typeface="Arial" panose="020B0604020202020204" pitchFamily="34" charset="0"/>
                <a:ea typeface="Calibri" panose="020F0502020204030204" pitchFamily="34" charset="0"/>
                <a:cs typeface="Times New Roman" panose="02020603050405020304" pitchFamily="18" charset="0"/>
              </a:rPr>
            </a:br>
            <a:r>
              <a:rPr lang="en-US" sz="1800" b="1" dirty="0">
                <a:effectLst/>
                <a:latin typeface="Arial" panose="020B0604020202020204" pitchFamily="34" charset="0"/>
                <a:ea typeface="Calibri" panose="020F0502020204030204" pitchFamily="34" charset="0"/>
                <a:cs typeface="Times New Roman" panose="02020603050405020304" pitchFamily="18" charset="0"/>
              </a:rPr>
              <a:t>Note</a:t>
            </a:r>
            <a:r>
              <a:rPr lang="en-US" sz="1800" dirty="0">
                <a:effectLst/>
                <a:latin typeface="Arial" panose="020B0604020202020204" pitchFamily="34" charset="0"/>
                <a:ea typeface="Calibri" panose="020F0502020204030204" pitchFamily="34" charset="0"/>
                <a:cs typeface="Times New Roman" panose="02020603050405020304" pitchFamily="18" charset="0"/>
              </a:rPr>
              <a:t>: The console and vty lines have not been pre-configured.</a:t>
            </a:r>
            <a:br>
              <a:rPr lang="hr-HR" sz="1800" dirty="0">
                <a:effectLst/>
                <a:latin typeface="Arial" panose="020B0604020202020204" pitchFamily="34" charset="0"/>
                <a:ea typeface="Calibri" panose="020F0502020204030204" pitchFamily="34" charset="0"/>
                <a:cs typeface="Times New Roman" panose="02020603050405020304" pitchFamily="18" charset="0"/>
              </a:rPr>
            </a:br>
            <a:br>
              <a:rPr lang="hr-HR" sz="1800" dirty="0">
                <a:effectLst/>
                <a:latin typeface="Arial" panose="020B0604020202020204" pitchFamily="34" charset="0"/>
                <a:ea typeface="Calibri" panose="020F0502020204030204" pitchFamily="34" charset="0"/>
                <a:cs typeface="Times New Roman" panose="02020603050405020304" pitchFamily="18" charset="0"/>
              </a:rPr>
            </a:br>
            <a:endParaRPr lang="hr-HR" dirty="0"/>
          </a:p>
        </p:txBody>
      </p:sp>
      <p:sp>
        <p:nvSpPr>
          <p:cNvPr id="3" name="pole tekstowe 2">
            <a:extLst>
              <a:ext uri="{FF2B5EF4-FFF2-40B4-BE49-F238E27FC236}">
                <a16:creationId xmlns:a16="http://schemas.microsoft.com/office/drawing/2014/main" id="{C41B301D-B566-945F-AD71-0538E772736D}"/>
              </a:ext>
            </a:extLst>
          </p:cNvPr>
          <p:cNvSpPr txBox="1"/>
          <p:nvPr/>
        </p:nvSpPr>
        <p:spPr>
          <a:xfrm>
            <a:off x="3364637" y="1544715"/>
            <a:ext cx="1010213" cy="307777"/>
          </a:xfrm>
          <a:prstGeom prst="rect">
            <a:avLst/>
          </a:prstGeom>
          <a:noFill/>
        </p:spPr>
        <p:txBody>
          <a:bodyPr wrap="none" rtlCol="0">
            <a:spAutoFit/>
          </a:bodyPr>
          <a:lstStyle/>
          <a:p>
            <a:r>
              <a:rPr lang="pl-PL" dirty="0"/>
              <a:t>Założenia:</a:t>
            </a:r>
            <a:endParaRPr lang="hr-HR" dirty="0"/>
          </a:p>
        </p:txBody>
      </p:sp>
    </p:spTree>
    <p:extLst>
      <p:ext uri="{BB962C8B-B14F-4D97-AF65-F5344CB8AC3E}">
        <p14:creationId xmlns:p14="http://schemas.microsoft.com/office/powerpoint/2010/main" val="420237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5061F-BC65-07E2-CF3D-B7A6CF8D4A18}"/>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0DC602E1-F6E5-7C67-EB90-A1B57C4A2983}"/>
              </a:ext>
            </a:extLst>
          </p:cNvPr>
          <p:cNvSpPr>
            <a:spLocks noGrp="1"/>
          </p:cNvSpPr>
          <p:nvPr>
            <p:ph type="title"/>
          </p:nvPr>
        </p:nvSpPr>
        <p:spPr>
          <a:xfrm>
            <a:off x="520700" y="774881"/>
            <a:ext cx="9650413" cy="5066625"/>
          </a:xfrm>
        </p:spPr>
        <p:txBody>
          <a:bodyPr/>
          <a:lstStyle/>
          <a:p>
            <a:pPr>
              <a:lnSpc>
                <a:spcPct val="115000"/>
              </a:lnSpc>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Server-based Authentication with TACACS+ and RADIU</a:t>
            </a:r>
            <a: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r>
              <a:rPr lang="pl-PL" sz="3200" b="1" i="0" dirty="0">
                <a:solidFill>
                  <a:srgbClr val="000000"/>
                </a:solidFill>
                <a:effectLst/>
                <a:latin typeface="Arial" panose="020B0604020202020204" pitchFamily="34" charset="0"/>
              </a:rPr>
              <a:t>rozwiązanie R2:</a:t>
            </a:r>
            <a:br>
              <a:rPr lang="pl-PL" sz="3200" b="1" i="0" dirty="0">
                <a:solidFill>
                  <a:srgbClr val="000000"/>
                </a:solidFill>
                <a:effectLst/>
                <a:latin typeface="Arial" panose="020B0604020202020204" pitchFamily="34"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conf t</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username Admin2 secret admin2pa55</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tacacs</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-server host 192.168.2.2</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tacacs</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-server key tacacspa55</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aaa</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new-model</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aaa</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authentication login default group </a:t>
            </a: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tacacs</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local</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line console 0</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login authentication default</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spTree>
    <p:extLst>
      <p:ext uri="{BB962C8B-B14F-4D97-AF65-F5344CB8AC3E}">
        <p14:creationId xmlns:p14="http://schemas.microsoft.com/office/powerpoint/2010/main" val="113700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55288-D29A-523C-4C2D-6F66126A64BD}"/>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1786FCD4-83F4-3D95-9254-F30F33E5E805}"/>
              </a:ext>
            </a:extLst>
          </p:cNvPr>
          <p:cNvSpPr>
            <a:spLocks noGrp="1"/>
          </p:cNvSpPr>
          <p:nvPr>
            <p:ph type="title"/>
          </p:nvPr>
        </p:nvSpPr>
        <p:spPr>
          <a:xfrm>
            <a:off x="520700" y="774881"/>
            <a:ext cx="9650413" cy="5111013"/>
          </a:xfrm>
        </p:spPr>
        <p:txBody>
          <a:bodyPr/>
          <a:lstStyle/>
          <a:p>
            <a:pPr>
              <a:lnSpc>
                <a:spcPct val="115000"/>
              </a:lnSpc>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Server-based Authentication with TACACS+ and RADIU</a:t>
            </a:r>
            <a: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r>
              <a:rPr lang="pl-PL" sz="1800" b="1" i="0" dirty="0">
                <a:solidFill>
                  <a:srgbClr val="000000"/>
                </a:solidFill>
                <a:effectLst/>
                <a:latin typeface="Arial" panose="020B0604020202020204" pitchFamily="34" charset="0"/>
              </a:rPr>
              <a:t>rozwiązanie R3:</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conf t</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username Admin3 secret admin3pa55</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radius-server host 192.168.3.2</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radius-server key radiuspa55</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aaa</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new-model</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aaa</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authentication login default group radius local</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line console 0</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login authentication default</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spTree>
    <p:extLst>
      <p:ext uri="{BB962C8B-B14F-4D97-AF65-F5344CB8AC3E}">
        <p14:creationId xmlns:p14="http://schemas.microsoft.com/office/powerpoint/2010/main" val="2604987942"/>
      </p:ext>
    </p:extLst>
  </p:cSld>
  <p:clrMapOvr>
    <a:masterClrMapping/>
  </p:clrMapOvr>
</p:sld>
</file>

<file path=ppt/theme/theme1.xml><?xml version="1.0" encoding="utf-8"?>
<a:theme xmlns:a="http://schemas.openxmlformats.org/drawingml/2006/main" name="Office Theme">
  <a:themeElements>
    <a:clrScheme name="WSB OK (rgb)">
      <a:dk1>
        <a:srgbClr val="002C58"/>
      </a:dk1>
      <a:lt1>
        <a:srgbClr val="FFFFFF"/>
      </a:lt1>
      <a:dk2>
        <a:srgbClr val="4DC0E2"/>
      </a:dk2>
      <a:lt2>
        <a:srgbClr val="ACDCEB"/>
      </a:lt2>
      <a:accent1>
        <a:srgbClr val="DC4261"/>
      </a:accent1>
      <a:accent2>
        <a:srgbClr val="002243"/>
      </a:accent2>
      <a:accent3>
        <a:srgbClr val="003D7B"/>
      </a:accent3>
      <a:accent4>
        <a:srgbClr val="005AB3"/>
      </a:accent4>
      <a:accent5>
        <a:srgbClr val="0061C2"/>
      </a:accent5>
      <a:accent6>
        <a:srgbClr val="006B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1dfd687-ce92-41e8-800b-11e03cd3205f" xsi:nil="true"/>
    <lcf76f155ced4ddcb4097134ff3c332f xmlns="cc32ea10-24d7-4ab8-908a-92053f695cd3">
      <Terms xmlns="http://schemas.microsoft.com/office/infopath/2007/PartnerControls"/>
    </lcf76f155ced4ddcb4097134ff3c332f>
    <MediaLengthInSeconds xmlns="cc32ea10-24d7-4ab8-908a-92053f695cd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C4838B074BD1B64DBED77476FBBDC7EA" ma:contentTypeVersion="16" ma:contentTypeDescription="Utwórz nowy dokument." ma:contentTypeScope="" ma:versionID="1faa9a61b868f0e42675a6eaccbd43e2">
  <xsd:schema xmlns:xsd="http://www.w3.org/2001/XMLSchema" xmlns:xs="http://www.w3.org/2001/XMLSchema" xmlns:p="http://schemas.microsoft.com/office/2006/metadata/properties" xmlns:ns2="cc32ea10-24d7-4ab8-908a-92053f695cd3" xmlns:ns3="f1dfd687-ce92-41e8-800b-11e03cd3205f" targetNamespace="http://schemas.microsoft.com/office/2006/metadata/properties" ma:root="true" ma:fieldsID="66a0292362dbd25a5142deeef0689148" ns2:_="" ns3:_="">
    <xsd:import namespace="cc32ea10-24d7-4ab8-908a-92053f695cd3"/>
    <xsd:import namespace="f1dfd687-ce92-41e8-800b-11e03cd3205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32ea10-24d7-4ab8-908a-92053f695c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Tagi obrazów" ma:readOnly="false" ma:fieldId="{5cf76f15-5ced-4ddc-b409-7134ff3c332f}" ma:taxonomyMulti="true" ma:sspId="d134e4b8-377d-442c-b5bd-7a06feb52b3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1dfd687-ce92-41e8-800b-11e03cd3205f" elementFormDefault="qualified">
    <xsd:import namespace="http://schemas.microsoft.com/office/2006/documentManagement/types"/>
    <xsd:import namespace="http://schemas.microsoft.com/office/infopath/2007/PartnerControls"/>
    <xsd:element name="SharedWithUsers" ma:index="18" nillable="true" ma:displayName="Udostępniani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Udostępnione dla — szczegóły" ma:internalName="SharedWithDetails" ma:readOnly="true">
      <xsd:simpleType>
        <xsd:restriction base="dms:Note">
          <xsd:maxLength value="255"/>
        </xsd:restriction>
      </xsd:simpleType>
    </xsd:element>
    <xsd:element name="TaxCatchAll" ma:index="23" nillable="true" ma:displayName="Taxonomy Catch All Column" ma:hidden="true" ma:list="{515a6a51-fbed-4be8-95e3-b05eba715707}" ma:internalName="TaxCatchAll" ma:showField="CatchAllData" ma:web="f1dfd687-ce92-41e8-800b-11e03cd320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7721F2-3FF2-4D2A-88BB-AF0BCAFEAA31}">
  <ds:schemaRefs>
    <ds:schemaRef ds:uri="http://schemas.microsoft.com/office/2006/metadata/properties"/>
    <ds:schemaRef ds:uri="http://schemas.microsoft.com/office/infopath/2007/PartnerControls"/>
    <ds:schemaRef ds:uri="f1dfd687-ce92-41e8-800b-11e03cd3205f"/>
    <ds:schemaRef ds:uri="cc32ea10-24d7-4ab8-908a-92053f695cd3"/>
  </ds:schemaRefs>
</ds:datastoreItem>
</file>

<file path=customXml/itemProps2.xml><?xml version="1.0" encoding="utf-8"?>
<ds:datastoreItem xmlns:ds="http://schemas.openxmlformats.org/officeDocument/2006/customXml" ds:itemID="{898D8022-2741-4431-94F1-7D2F6E0B93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32ea10-24d7-4ab8-908a-92053f695cd3"/>
    <ds:schemaRef ds:uri="f1dfd687-ce92-41e8-800b-11e03cd320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85157BF-583F-48A4-B39C-8F058835DF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348</TotalTime>
  <Words>306</Words>
  <Application>Microsoft Office PowerPoint</Application>
  <PresentationFormat>Niestandardowy</PresentationFormat>
  <Paragraphs>5</Paragraphs>
  <Slides>4</Slides>
  <Notes>0</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4</vt:i4>
      </vt:variant>
    </vt:vector>
  </HeadingPairs>
  <TitlesOfParts>
    <vt:vector size="9" baseType="lpstr">
      <vt:lpstr>Arial</vt:lpstr>
      <vt:lpstr>Calibri</vt:lpstr>
      <vt:lpstr>Courier New</vt:lpstr>
      <vt:lpstr>Georgia</vt:lpstr>
      <vt:lpstr>Office Theme</vt:lpstr>
      <vt:lpstr>Configure Server-based Authentication with TACACS+ and RADIUS    </vt:lpstr>
      <vt:lpstr>Configure Server-based Authentication with TACACS+ and RADIUS    The network topology shows routers R1, R2 and R3. Currently, all administrative security is based on knowledge of the enable secret password. Your task is to configure and test local and server-based AAA solutions.  You will configure router R2 to support server-based authentication using the TACACS+ protocol. The TACACS+ server has been pre-configured with the following: Client: R2 using the keyword tacacspa55 User account: Admin2 and password admin2pa55  Finally, you will configure router R3 to support server-based authentication using the RADIUS protocol. The RADIUS server has been pre-configured with the following:  Client: R3 using the keyword radiuspa55 User account: Admin3 and password admin3pa55 The routers have also been pre-configured with the following: Enable secret password: ciscoenpa55 OSPF routing protocol with MD5 authentication using password: MD5pa55  Note: The console and vty lines have not been pre-configured.  </vt:lpstr>
      <vt:lpstr>Configure Server-based Authentication with TACACS+ and RADIUS   rozwiązanie R2:  conf t username Admin2 secret admin2pa55 tacacs-server host 192.168.2.2 tacacs-server key tacacspa55 aaa new-model aaa authentication login default group tacacs+ local line console 0  login authentication default </vt:lpstr>
      <vt:lpstr>Configure Server-based Authentication with TACACS+ and RADIUS   rozwiązanie R3:  conf t username Admin3 secret admin3pa55 radius-server host 192.168.3.2 radius-server key radiuspa55 aaa new-model aaa authentication login default group radius local line console 0 login authentication default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Slajd 1</dc:title>
  <dc:creator>akornowska</dc:creator>
  <cp:lastModifiedBy>Jerzy Kluczewski</cp:lastModifiedBy>
  <cp:revision>20</cp:revision>
  <dcterms:modified xsi:type="dcterms:W3CDTF">2026-09-28T15:42:30Z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0x010100C4838B074BD1B64DBED77476FBBDC7EA</vt:lpwstr>
  </property>
  <property fmtid="{D5CDD505-2E9C-101B-9397-08002B2CF9AE}" pid="3" name="MediaServiceImageTags">
    <vt:lpwstr/>
  </property>
</Properties>
</file>