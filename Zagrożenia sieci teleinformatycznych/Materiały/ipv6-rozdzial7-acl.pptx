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  <p:sldMasterId id="2147484052" r:id="rId2"/>
    <p:sldMasterId id="2147484088" r:id="rId3"/>
  </p:sldMasterIdLst>
  <p:notesMasterIdLst>
    <p:notesMasterId r:id="rId13"/>
  </p:notesMasterIdLst>
  <p:sldIdLst>
    <p:sldId id="513" r:id="rId4"/>
    <p:sldId id="889" r:id="rId5"/>
    <p:sldId id="890" r:id="rId6"/>
    <p:sldId id="891" r:id="rId7"/>
    <p:sldId id="892" r:id="rId8"/>
    <p:sldId id="893" r:id="rId9"/>
    <p:sldId id="896" r:id="rId10"/>
    <p:sldId id="894" r:id="rId11"/>
    <p:sldId id="895" r:id="rId12"/>
  </p:sldIdLst>
  <p:sldSz cx="9144000" cy="5143500" type="screen16x9"/>
  <p:notesSz cx="6858000" cy="9144000"/>
  <p:custDataLst>
    <p:tags r:id="rId14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7E9EB"/>
    <a:srgbClr val="592A8A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8" autoAdjust="0"/>
    <p:restoredTop sz="84371" autoAdjust="0"/>
  </p:normalViewPr>
  <p:slideViewPr>
    <p:cSldViewPr snapToGrid="0" showGuides="1">
      <p:cViewPr varScale="1">
        <p:scale>
          <a:sx n="76" d="100"/>
          <a:sy n="76" d="100"/>
        </p:scale>
        <p:origin x="114" y="696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2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294113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3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660712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4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526166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5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59520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6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56538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7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4150698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8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417431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9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702749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Materiały pomocnicze dla nauczyciela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pl-PL" dirty="0"/>
              <a:t>Materiały </a:t>
            </a:r>
            <a:r>
              <a:rPr lang="pl-PL" dirty="0" err="1"/>
              <a:t>pomo</a:t>
            </a:r>
            <a:endParaRPr lang="en-US" dirty="0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tx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C0372AD6-69D1-423C-9C52-069BAA95B6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501" y="214186"/>
            <a:ext cx="2285271" cy="50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25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3263D56B-0888-430C-B990-3146506F0C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1" y="75185"/>
            <a:ext cx="1444499" cy="31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6866311" y="4770153"/>
            <a:ext cx="16365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2022 Wydawnictwo informatyczne ITSTART</a:t>
            </a:r>
          </a:p>
        </p:txBody>
      </p:sp>
      <p:pic>
        <p:nvPicPr>
          <p:cNvPr id="3" name="Obraz 2" descr="Obraz zawierający tekst, clipart&#10;&#10;Opis wygenerowany automatycznie">
            <a:extLst>
              <a:ext uri="{FF2B5EF4-FFF2-40B4-BE49-F238E27FC236}">
                <a16:creationId xmlns:a16="http://schemas.microsoft.com/office/drawing/2014/main" id="{15C82B64-3913-47C0-8D1B-D06D2F2DDC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63" y="4752678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15="http://schemas.microsoft.com/office/drawing/2012/chart" xmlns:c="http://schemas.openxmlformats.org/drawingml/2006/chart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pl-PL" dirty="0">
                <a:sym typeface="Arial" pitchFamily="34" charset="0"/>
              </a:rPr>
              <a:t>Tytuł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Wydawnictwo informatyczne ITSTART. Piekary Śląskie.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320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56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54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015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68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652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3729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0860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391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7668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14134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9436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7286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0732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7287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9958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3263D56B-0888-430C-B990-3146506F0C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1" y="75185"/>
            <a:ext cx="1444499" cy="31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7017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>
          <p15:clr>
            <a:srgbClr val="FBAE40"/>
          </p15:clr>
        </p15:guide>
        <p15:guide id="2" pos="360">
          <p15:clr>
            <a:srgbClr val="FBAE40"/>
          </p15:clr>
        </p15:guide>
        <p15:guide id="3" orient="horz" pos="518">
          <p15:clr>
            <a:srgbClr val="FBAE40"/>
          </p15:clr>
        </p15:guide>
        <p15:guide id="4" pos="812">
          <p15:clr>
            <a:srgbClr val="FBAE40"/>
          </p15:clr>
        </p15:guide>
        <p15:guide id="5" pos="31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pl-PL" dirty="0">
                <a:sym typeface="Arial" pitchFamily="34" charset="0"/>
              </a:rPr>
              <a:t>Tytuł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072825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497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2919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876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8842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639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5662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0579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5247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03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1453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88386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6288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24452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9710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888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50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</a:t>
            </a:r>
            <a:r>
              <a:rPr lang="pl-PL" altLang="en-US" dirty="0"/>
              <a:t>y</a:t>
            </a:r>
            <a:r>
              <a:rPr lang="en-GB" altLang="en-US" dirty="0"/>
              <a:t>t</a:t>
            </a:r>
            <a:r>
              <a:rPr lang="pl-PL" altLang="en-US" dirty="0" err="1"/>
              <a:t>uł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6312365" y="4760160"/>
            <a:ext cx="2203342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600" dirty="0">
                <a:solidFill>
                  <a:srgbClr val="000000"/>
                </a:solidFill>
                <a:latin typeface="+mn-lt"/>
                <a:ea typeface="+mn-ea"/>
                <a:cs typeface="CiscoSans Thin"/>
              </a:rPr>
              <a:t>Wydawnictwo informatyczne ITSTART. Piekary Śląskie 2022</a:t>
            </a:r>
          </a:p>
        </p:txBody>
      </p:sp>
      <p:pic>
        <p:nvPicPr>
          <p:cNvPr id="3" name="Obraz 2" descr="Obraz zawierający tekst, clipart&#10;&#10;Opis wygenerowany automatycznie">
            <a:extLst>
              <a:ext uri="{FF2B5EF4-FFF2-40B4-BE49-F238E27FC236}">
                <a16:creationId xmlns:a16="http://schemas.microsoft.com/office/drawing/2014/main" id="{E5B5301B-6235-4A25-A36C-8EA275ACAD1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29" r:id="rId10"/>
    <p:sldLayoutId id="2147484031" r:id="rId11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36" name="Obraz 35" descr="Obraz zawierający tekst, clipart&#10;&#10;Opis wygenerowany automatycznie">
            <a:extLst>
              <a:ext uri="{FF2B5EF4-FFF2-40B4-BE49-F238E27FC236}">
                <a16:creationId xmlns:a16="http://schemas.microsoft.com/office/drawing/2014/main" id="{AAC7B974-11C0-4587-86D9-0AE7E9B22CD8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69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  <p:sldLayoutId id="2147484066" r:id="rId14"/>
    <p:sldLayoutId id="2147484067" r:id="rId15"/>
    <p:sldLayoutId id="2147484068" r:id="rId16"/>
    <p:sldLayoutId id="2147484069" r:id="rId17"/>
    <p:sldLayoutId id="2147484070" r:id="rId18"/>
  </p:sldLayoutIdLst>
  <p:transition spd="slow">
    <p:wipe/>
  </p:transition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36" name="Obraz 35" descr="Obraz zawierający tekst, clipart&#10;&#10;Opis wygenerowany automatycznie">
            <a:extLst>
              <a:ext uri="{FF2B5EF4-FFF2-40B4-BE49-F238E27FC236}">
                <a16:creationId xmlns:a16="http://schemas.microsoft.com/office/drawing/2014/main" id="{B2296D36-0F82-45C9-A20F-0B5EA813DF71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1" r:id="rId3"/>
    <p:sldLayoutId id="2147484092" r:id="rId4"/>
    <p:sldLayoutId id="2147484093" r:id="rId5"/>
    <p:sldLayoutId id="2147484094" r:id="rId6"/>
    <p:sldLayoutId id="2147484095" r:id="rId7"/>
    <p:sldLayoutId id="2147484096" r:id="rId8"/>
    <p:sldLayoutId id="2147484097" r:id="rId9"/>
    <p:sldLayoutId id="2147484098" r:id="rId10"/>
    <p:sldLayoutId id="2147484099" r:id="rId11"/>
    <p:sldLayoutId id="2147484100" r:id="rId12"/>
    <p:sldLayoutId id="2147484101" r:id="rId13"/>
    <p:sldLayoutId id="2147484102" r:id="rId14"/>
    <p:sldLayoutId id="2147484103" r:id="rId15"/>
    <p:sldLayoutId id="2147484104" r:id="rId16"/>
  </p:sldLayoutIdLst>
  <p:transition spd="slow">
    <p:wipe/>
  </p:transition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 fontScale="85000" lnSpcReduction="20000"/>
          </a:bodyPr>
          <a:lstStyle/>
          <a:p>
            <a:pPr rtl="0"/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Laboratorium IPV6 – materiał pomocniczy</a:t>
            </a:r>
            <a:endParaRPr lang="pl-PL" sz="1800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280CE95-EC57-C26B-CEE6-1295A117D5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pl-PL" dirty="0"/>
              <a:t>Wydawnictwo informatyczne ITSTART.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329CD50-6EE0-2D6D-39C2-5E1BF9E5A1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pl-PL" dirty="0"/>
              <a:t>2022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rtl="0"/>
            <a:r>
              <a:rPr lang="pl-PL" sz="1400" dirty="0"/>
              <a:t>Materiały pomocnicze dla nauczyciela</a:t>
            </a:r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25765" y="1843914"/>
            <a:ext cx="8604880" cy="1101566"/>
          </a:xfrm>
        </p:spPr>
        <p:txBody>
          <a:bodyPr wrap="square" anchor="b">
            <a:normAutofit/>
          </a:bodyPr>
          <a:lstStyle/>
          <a:p>
            <a:pPr rtl="0"/>
            <a:r>
              <a:rPr lang="pl-PL" dirty="0"/>
              <a:t>FILTROWANIE RUCHU IPV6 </a:t>
            </a:r>
            <a:br>
              <a:rPr lang="pl-PL" dirty="0"/>
            </a:br>
            <a:r>
              <a:rPr lang="pl-PL" dirty="0"/>
              <a:t>ZA POMOCĄ ACL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Różnice w stosunku do list ACL w IPV4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 protokole IPV6 stosuje się wyłącznie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rozszerzone nazywane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listy ACL.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Zamiast polecenia „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ip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access-group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 charakterystycznego dla IPV4, używa się polecenia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ipv6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traffic-filter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 listach ACL IPV6 są domyślnie wstawiane na samym końcu,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trzy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niewidoczne polecenia: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permit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icmp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-na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permit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icmp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nd-ns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deny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62864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Przykładowa topologia i założenia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88E01B0F-BA16-46C4-9C63-D694DF58B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75" y="1309215"/>
            <a:ext cx="8167015" cy="23521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168708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Przykładowa topologia i założenia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Pierwsza lista ACL ma zadanie blokować ruch HTTP i HTTPS przychodzący do serwera SERVER.COM, a pozostały ruch IPV6 ma być dozwolony. Lista ACL ma mieć nazwę BLOKUJ_HTTP. Należy ją skonfigurować w interfejsie Gig0/0 w routerze R1.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Druga lista ACL ma zadanie blokować ruch ICMP wychodzący z dowolnego hosta i kierowany do dowolnego adresu, a pozostały ruch IPV6 ma być dozwolony. Lista ACL ma mieć nazwę BLOKUJ_ICMP. Należy ją skonfigurować w interfejsie Gig0/0 w routerze R3.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741099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Konfigurowanie ACL w R1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conf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access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-list BLOKUJ_HTTP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deny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tcp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host 2001:DB8:1:50::1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eq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www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deny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tcp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host 2001:DB8:1:50::1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eq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443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permit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Gig0/0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traffic-filter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BLOKUJ_HTTP in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249600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Konfigurowanie ACL w R3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conf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access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-list BLOKUJ_ICMP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deny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icmp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permit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exit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Gig0/0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traffic-filter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BLOKUJ_ICMP out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226373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Uwaga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1868789" y="1947614"/>
            <a:ext cx="6632864" cy="105252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 przypadku znalezienia pomyłek w listach ACL, może okazać się bardzo przydatne przygotowanie skryptów kasujących błędne listy.</a:t>
            </a: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  <a:buNone/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977207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Usuwanie ACL w R1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conf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access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-list BLOKUJ_HTTP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GigabitEthernet0/0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traffic-filter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BLOKUJ_HTTP in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259377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Usuwanie ACL w R3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conf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access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-list BLOKUJ_ICMP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Gig0/0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no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traffic-filter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BLOKUJ_ICMP out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6501875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Neon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Smuga">
  <a:themeElements>
    <a:clrScheme name="Smuga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mug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ug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2_Smuga">
  <a:themeElements>
    <a:clrScheme name="Smuga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mug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ug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12424</TotalTime>
  <Words>375</Words>
  <Application>Microsoft Office PowerPoint</Application>
  <PresentationFormat>Pokaz na ekranie (16:9)</PresentationFormat>
  <Paragraphs>76</Paragraphs>
  <Slides>9</Slides>
  <Notes>9</Notes>
  <HiddenSlides>8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3</vt:i4>
      </vt:variant>
      <vt:variant>
        <vt:lpstr>Tytuły slajdów</vt:lpstr>
      </vt:variant>
      <vt:variant>
        <vt:i4>9</vt:i4>
      </vt:variant>
    </vt:vector>
  </HeadingPairs>
  <TitlesOfParts>
    <vt:vector size="19" baseType="lpstr">
      <vt:lpstr>Arial</vt:lpstr>
      <vt:lpstr>Calibri</vt:lpstr>
      <vt:lpstr>Century Gothic</vt:lpstr>
      <vt:lpstr>CiscoSans ExtraLight</vt:lpstr>
      <vt:lpstr>Courier New</vt:lpstr>
      <vt:lpstr>Times New Roman</vt:lpstr>
      <vt:lpstr>Wingdings 3</vt:lpstr>
      <vt:lpstr>Default Theme</vt:lpstr>
      <vt:lpstr>Smuga</vt:lpstr>
      <vt:lpstr>2_Smuga</vt:lpstr>
      <vt:lpstr>FILTROWANIE RUCHU IPV6  ZA POMOCĄ ACL</vt:lpstr>
      <vt:lpstr>Różnice w stosunku do list ACL w IPV4</vt:lpstr>
      <vt:lpstr>Przykładowa topologia i założenia</vt:lpstr>
      <vt:lpstr>Przykładowa topologia i założenia</vt:lpstr>
      <vt:lpstr>Konfigurowanie ACL w R1</vt:lpstr>
      <vt:lpstr>Konfigurowanie ACL w R3</vt:lpstr>
      <vt:lpstr>Uwaga</vt:lpstr>
      <vt:lpstr>Usuwanie ACL w R1</vt:lpstr>
      <vt:lpstr>Usuwanie ACL w R3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Jerzy Kluczewski</cp:lastModifiedBy>
  <cp:revision>405</cp:revision>
  <dcterms:created xsi:type="dcterms:W3CDTF">2019-10-18T06:21:22Z</dcterms:created>
  <dcterms:modified xsi:type="dcterms:W3CDTF">2022-11-21T21:16:03Z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