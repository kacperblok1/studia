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4"/>
  </p:sldMasterIdLst>
  <p:notesMasterIdLst>
    <p:notesMasterId r:id="rId18"/>
  </p:notesMasterIdLst>
  <p:sldIdLst>
    <p:sldId id="321" r:id="rId5"/>
    <p:sldId id="280" r:id="rId6"/>
    <p:sldId id="276" r:id="rId7"/>
    <p:sldId id="278" r:id="rId8"/>
    <p:sldId id="259" r:id="rId9"/>
    <p:sldId id="332" r:id="rId10"/>
    <p:sldId id="322" r:id="rId11"/>
    <p:sldId id="324" r:id="rId12"/>
    <p:sldId id="333" r:id="rId13"/>
    <p:sldId id="331" r:id="rId14"/>
    <p:sldId id="325" r:id="rId15"/>
    <p:sldId id="326" r:id="rId16"/>
    <p:sldId id="327" r:id="rId17"/>
  </p:sldIdLst>
  <p:sldSz cx="10691813" cy="7559675"/>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381">
          <p15:clr>
            <a:srgbClr val="A4A3A4"/>
          </p15:clr>
        </p15:guide>
        <p15:guide id="2" pos="33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6" d="100"/>
          <a:sy n="96" d="100"/>
        </p:scale>
        <p:origin x="1566" y="84"/>
      </p:cViewPr>
      <p:guideLst>
        <p:guide orient="horz" pos="2381"/>
        <p:guide pos="3368"/>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246188" y="1143000"/>
            <a:ext cx="43656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pl-PL"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9937105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4:notes"/>
          <p:cNvSpPr>
            <a:spLocks noGrp="1" noRot="1" noChangeAspect="1"/>
          </p:cNvSpPr>
          <p:nvPr>
            <p:ph type="sldImg" idx="2"/>
          </p:nvPr>
        </p:nvSpPr>
        <p:spPr>
          <a:xfrm>
            <a:off x="1246188" y="1143000"/>
            <a:ext cx="43656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87362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ajd tytuł + treść - 1 kolumna" userDrawn="1">
  <p:cSld name="slajd tytuł + treść - 1 kolumna">
    <p:spTree>
      <p:nvGrpSpPr>
        <p:cNvPr id="1" name="Shape 44"/>
        <p:cNvGrpSpPr/>
        <p:nvPr/>
      </p:nvGrpSpPr>
      <p:grpSpPr>
        <a:xfrm>
          <a:off x="0" y="0"/>
          <a:ext cx="0" cy="0"/>
          <a:chOff x="0" y="0"/>
          <a:chExt cx="0" cy="0"/>
        </a:xfrm>
      </p:grpSpPr>
      <p:sp>
        <p:nvSpPr>
          <p:cNvPr id="45" name="Google Shape;45;p5"/>
          <p:cNvSpPr txBox="1">
            <a:spLocks noGrp="1"/>
          </p:cNvSpPr>
          <p:nvPr>
            <p:ph type="title"/>
          </p:nvPr>
        </p:nvSpPr>
        <p:spPr>
          <a:xfrm>
            <a:off x="520700" y="774883"/>
            <a:ext cx="9650413" cy="443198"/>
          </a:xfrm>
          <a:prstGeom prst="rect">
            <a:avLst/>
          </a:prstGeom>
          <a:noFill/>
          <a:ln>
            <a:noFill/>
          </a:ln>
        </p:spPr>
        <p:txBody>
          <a:bodyPr spcFirstLastPara="1" wrap="square" lIns="0" tIns="0" rIns="0" bIns="0" anchor="t" anchorCtr="0"/>
          <a:lstStyle>
            <a:lvl1pPr marR="0" lvl="0" algn="l" rtl="0">
              <a:lnSpc>
                <a:spcPct val="90000"/>
              </a:lnSpc>
              <a:spcBef>
                <a:spcPts val="0"/>
              </a:spcBef>
              <a:spcAft>
                <a:spcPts val="0"/>
              </a:spcAft>
              <a:buClr>
                <a:schemeClr val="dk1"/>
              </a:buClr>
              <a:buSzPts val="3200"/>
              <a:buFont typeface="Georgia"/>
              <a:buNone/>
              <a:defRPr sz="3200" b="1" i="0" u="none" strike="noStrike" cap="none">
                <a:solidFill>
                  <a:schemeClr val="dk1"/>
                </a:solidFill>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6" name="Google Shape;46;p5"/>
          <p:cNvSpPr txBox="1">
            <a:spLocks noGrp="1"/>
          </p:cNvSpPr>
          <p:nvPr>
            <p:ph type="body" idx="1"/>
          </p:nvPr>
        </p:nvSpPr>
        <p:spPr>
          <a:xfrm>
            <a:off x="520700" y="1538713"/>
            <a:ext cx="9650413" cy="4772053"/>
          </a:xfrm>
          <a:prstGeom prst="rect">
            <a:avLst/>
          </a:prstGeom>
          <a:noFill/>
          <a:ln>
            <a:noFill/>
          </a:ln>
        </p:spPr>
        <p:txBody>
          <a:bodyPr spcFirstLastPara="1" wrap="square" lIns="0" tIns="0" rIns="0" bIns="0" anchor="t" anchorCtr="0"/>
          <a:lstStyle>
            <a:lvl1pPr marL="457200" marR="0" lvl="0" indent="-228600" algn="l" rtl="0">
              <a:lnSpc>
                <a:spcPct val="90000"/>
              </a:lnSpc>
              <a:spcBef>
                <a:spcPts val="1102"/>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L="914400" marR="0" lvl="1" indent="-304800" algn="l" rtl="0">
              <a:lnSpc>
                <a:spcPct val="90000"/>
              </a:lnSpc>
              <a:spcBef>
                <a:spcPts val="551"/>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51"/>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51"/>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51"/>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54583" algn="l" rtl="0">
              <a:lnSpc>
                <a:spcPct val="90000"/>
              </a:lnSpc>
              <a:spcBef>
                <a:spcPts val="551"/>
              </a:spcBef>
              <a:spcAft>
                <a:spcPts val="0"/>
              </a:spcAft>
              <a:buClr>
                <a:schemeClr val="dk1"/>
              </a:buClr>
              <a:buSzPts val="1984"/>
              <a:buFont typeface="Arial"/>
              <a:buChar char="•"/>
              <a:defRPr sz="1984" b="0" i="0" u="none" strike="noStrike" cap="none">
                <a:solidFill>
                  <a:schemeClr val="dk1"/>
                </a:solidFill>
                <a:latin typeface="Arial"/>
                <a:ea typeface="Arial"/>
                <a:cs typeface="Arial"/>
                <a:sym typeface="Arial"/>
              </a:defRPr>
            </a:lvl6pPr>
            <a:lvl7pPr marL="3200400" marR="0" lvl="6" indent="-354583" algn="l" rtl="0">
              <a:lnSpc>
                <a:spcPct val="90000"/>
              </a:lnSpc>
              <a:spcBef>
                <a:spcPts val="551"/>
              </a:spcBef>
              <a:spcAft>
                <a:spcPts val="0"/>
              </a:spcAft>
              <a:buClr>
                <a:schemeClr val="dk1"/>
              </a:buClr>
              <a:buSzPts val="1984"/>
              <a:buFont typeface="Arial"/>
              <a:buChar char="•"/>
              <a:defRPr sz="1984" b="0" i="0" u="none" strike="noStrike" cap="none">
                <a:solidFill>
                  <a:schemeClr val="dk1"/>
                </a:solidFill>
                <a:latin typeface="Arial"/>
                <a:ea typeface="Arial"/>
                <a:cs typeface="Arial"/>
                <a:sym typeface="Arial"/>
              </a:defRPr>
            </a:lvl7pPr>
            <a:lvl8pPr marL="3657600" marR="0" lvl="7" indent="-354584" algn="l" rtl="0">
              <a:lnSpc>
                <a:spcPct val="90000"/>
              </a:lnSpc>
              <a:spcBef>
                <a:spcPts val="551"/>
              </a:spcBef>
              <a:spcAft>
                <a:spcPts val="0"/>
              </a:spcAft>
              <a:buClr>
                <a:schemeClr val="dk1"/>
              </a:buClr>
              <a:buSzPts val="1984"/>
              <a:buFont typeface="Arial"/>
              <a:buChar char="•"/>
              <a:defRPr sz="1984" b="0" i="0" u="none" strike="noStrike" cap="none">
                <a:solidFill>
                  <a:schemeClr val="dk1"/>
                </a:solidFill>
                <a:latin typeface="Arial"/>
                <a:ea typeface="Arial"/>
                <a:cs typeface="Arial"/>
                <a:sym typeface="Arial"/>
              </a:defRPr>
            </a:lvl8pPr>
            <a:lvl9pPr marL="4114800" marR="0" lvl="8" indent="-354584" algn="l" rtl="0">
              <a:lnSpc>
                <a:spcPct val="90000"/>
              </a:lnSpc>
              <a:spcBef>
                <a:spcPts val="551"/>
              </a:spcBef>
              <a:spcAft>
                <a:spcPts val="0"/>
              </a:spcAft>
              <a:buClr>
                <a:schemeClr val="dk1"/>
              </a:buClr>
              <a:buSzPts val="1984"/>
              <a:buFont typeface="Arial"/>
              <a:buChar char="•"/>
              <a:defRPr sz="1984" b="0" i="0" u="none" strike="noStrike" cap="none">
                <a:solidFill>
                  <a:schemeClr val="dk1"/>
                </a:solidFill>
                <a:latin typeface="Arial"/>
                <a:ea typeface="Arial"/>
                <a:cs typeface="Arial"/>
                <a:sym typeface="Arial"/>
              </a:defRPr>
            </a:lvl9pPr>
          </a:lstStyle>
          <a:p>
            <a:endParaRPr dirty="0"/>
          </a:p>
        </p:txBody>
      </p:sp>
      <p:cxnSp>
        <p:nvCxnSpPr>
          <p:cNvPr id="47" name="Google Shape;47;p5"/>
          <p:cNvCxnSpPr/>
          <p:nvPr/>
        </p:nvCxnSpPr>
        <p:spPr>
          <a:xfrm>
            <a:off x="520700" y="6819776"/>
            <a:ext cx="9650413" cy="0"/>
          </a:xfrm>
          <a:prstGeom prst="straightConnector1">
            <a:avLst/>
          </a:prstGeom>
          <a:noFill/>
          <a:ln w="9525" cap="flat" cmpd="sng">
            <a:solidFill>
              <a:schemeClr val="dk1"/>
            </a:solidFill>
            <a:prstDash val="solid"/>
            <a:miter lim="800000"/>
            <a:headEnd type="none" w="sm" len="sm"/>
            <a:tailEnd type="none" w="sm" len="sm"/>
          </a:ln>
        </p:spPr>
      </p:cxnSp>
      <p:cxnSp>
        <p:nvCxnSpPr>
          <p:cNvPr id="48" name="Google Shape;48;p5"/>
          <p:cNvCxnSpPr/>
          <p:nvPr/>
        </p:nvCxnSpPr>
        <p:spPr>
          <a:xfrm>
            <a:off x="520700" y="540000"/>
            <a:ext cx="9650413" cy="0"/>
          </a:xfrm>
          <a:prstGeom prst="straightConnector1">
            <a:avLst/>
          </a:prstGeom>
          <a:noFill/>
          <a:ln w="50800" cap="flat" cmpd="sng">
            <a:solidFill>
              <a:schemeClr val="dk1"/>
            </a:solidFill>
            <a:prstDash val="solid"/>
            <a:miter lim="800000"/>
            <a:headEnd type="none" w="sm" len="sm"/>
            <a:tailEnd type="none" w="sm" len="sm"/>
          </a:ln>
        </p:spPr>
      </p:cxnSp>
      <p:sp>
        <p:nvSpPr>
          <p:cNvPr id="49" name="Google Shape;49;p5"/>
          <p:cNvSpPr txBox="1">
            <a:spLocks noGrp="1"/>
          </p:cNvSpPr>
          <p:nvPr>
            <p:ph type="dt" idx="10"/>
          </p:nvPr>
        </p:nvSpPr>
        <p:spPr>
          <a:xfrm>
            <a:off x="7937500" y="7006700"/>
            <a:ext cx="1133475" cy="184666"/>
          </a:xfrm>
          <a:prstGeom prst="rect">
            <a:avLst/>
          </a:prstGeom>
          <a:noFill/>
          <a:ln>
            <a:noFill/>
          </a:ln>
        </p:spPr>
        <p:txBody>
          <a:bodyPr spcFirstLastPara="1" wrap="square" lIns="0" tIns="0" rIns="0" bIns="0" anchor="t" anchorCtr="0"/>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0" name="Google Shape;50;p5"/>
          <p:cNvSpPr txBox="1">
            <a:spLocks noGrp="1"/>
          </p:cNvSpPr>
          <p:nvPr>
            <p:ph type="ftr" idx="11"/>
          </p:nvPr>
        </p:nvSpPr>
        <p:spPr>
          <a:xfrm>
            <a:off x="5454650" y="7006700"/>
            <a:ext cx="2266949" cy="184666"/>
          </a:xfrm>
          <a:prstGeom prst="rect">
            <a:avLst/>
          </a:prstGeom>
          <a:noFill/>
          <a:ln>
            <a:noFill/>
          </a:ln>
        </p:spPr>
        <p:txBody>
          <a:bodyPr spcFirstLastPara="1" wrap="square" lIns="0" tIns="0" rIns="0" bIns="0" anchor="t" anchorCtr="0"/>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1" name="Google Shape;51;p5"/>
          <p:cNvSpPr txBox="1">
            <a:spLocks noGrp="1"/>
          </p:cNvSpPr>
          <p:nvPr>
            <p:ph type="sldNum" idx="12"/>
          </p:nvPr>
        </p:nvSpPr>
        <p:spPr>
          <a:xfrm>
            <a:off x="9471923" y="7006700"/>
            <a:ext cx="699190" cy="184666"/>
          </a:xfrm>
          <a:prstGeom prst="rect">
            <a:avLst/>
          </a:prstGeom>
          <a:noFill/>
          <a:ln>
            <a:noFill/>
          </a:ln>
        </p:spPr>
        <p:txBody>
          <a:bodyPr spcFirstLastPara="1" wrap="square" lIns="0" tIns="0" rIns="0" bIns="0" anchor="t" anchorCtr="0">
            <a:noAutofit/>
          </a:bodyPr>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0" marR="0" lvl="1" indent="0" algn="r" rtl="0">
              <a:spcBef>
                <a:spcPts val="0"/>
              </a:spcBef>
              <a:buNone/>
              <a:defRPr sz="1200" b="0" i="0" u="none" strike="noStrike" cap="none">
                <a:solidFill>
                  <a:schemeClr val="dk1"/>
                </a:solidFill>
                <a:latin typeface="Arial"/>
                <a:ea typeface="Arial"/>
                <a:cs typeface="Arial"/>
                <a:sym typeface="Arial"/>
              </a:defRPr>
            </a:lvl2pPr>
            <a:lvl3pPr marL="0" marR="0" lvl="2" indent="0" algn="r" rtl="0">
              <a:spcBef>
                <a:spcPts val="0"/>
              </a:spcBef>
              <a:buNone/>
              <a:defRPr sz="1200" b="0" i="0" u="none" strike="noStrike" cap="none">
                <a:solidFill>
                  <a:schemeClr val="dk1"/>
                </a:solidFill>
                <a:latin typeface="Arial"/>
                <a:ea typeface="Arial"/>
                <a:cs typeface="Arial"/>
                <a:sym typeface="Arial"/>
              </a:defRPr>
            </a:lvl3pPr>
            <a:lvl4pPr marL="0" marR="0" lvl="3" indent="0" algn="r" rtl="0">
              <a:spcBef>
                <a:spcPts val="0"/>
              </a:spcBef>
              <a:buNone/>
              <a:defRPr sz="1200" b="0" i="0" u="none" strike="noStrike" cap="none">
                <a:solidFill>
                  <a:schemeClr val="dk1"/>
                </a:solidFill>
                <a:latin typeface="Arial"/>
                <a:ea typeface="Arial"/>
                <a:cs typeface="Arial"/>
                <a:sym typeface="Arial"/>
              </a:defRPr>
            </a:lvl4pPr>
            <a:lvl5pPr marL="0" marR="0" lvl="4" indent="0" algn="r" rtl="0">
              <a:spcBef>
                <a:spcPts val="0"/>
              </a:spcBef>
              <a:buNone/>
              <a:defRPr sz="1200" b="0" i="0" u="none" strike="noStrike" cap="none">
                <a:solidFill>
                  <a:schemeClr val="dk1"/>
                </a:solidFill>
                <a:latin typeface="Arial"/>
                <a:ea typeface="Arial"/>
                <a:cs typeface="Arial"/>
                <a:sym typeface="Arial"/>
              </a:defRPr>
            </a:lvl5pPr>
            <a:lvl6pPr marL="0" marR="0" lvl="5" indent="0" algn="r" rtl="0">
              <a:spcBef>
                <a:spcPts val="0"/>
              </a:spcBef>
              <a:buNone/>
              <a:defRPr sz="1200" b="0" i="0" u="none" strike="noStrike" cap="none">
                <a:solidFill>
                  <a:schemeClr val="dk1"/>
                </a:solidFill>
                <a:latin typeface="Arial"/>
                <a:ea typeface="Arial"/>
                <a:cs typeface="Arial"/>
                <a:sym typeface="Arial"/>
              </a:defRPr>
            </a:lvl6pPr>
            <a:lvl7pPr marL="0" marR="0" lvl="6" indent="0" algn="r" rtl="0">
              <a:spcBef>
                <a:spcPts val="0"/>
              </a:spcBef>
              <a:buNone/>
              <a:defRPr sz="1200" b="0" i="0" u="none" strike="noStrike" cap="none">
                <a:solidFill>
                  <a:schemeClr val="dk1"/>
                </a:solidFill>
                <a:latin typeface="Arial"/>
                <a:ea typeface="Arial"/>
                <a:cs typeface="Arial"/>
                <a:sym typeface="Arial"/>
              </a:defRPr>
            </a:lvl7pPr>
            <a:lvl8pPr marL="0" marR="0" lvl="7" indent="0" algn="r" rtl="0">
              <a:spcBef>
                <a:spcPts val="0"/>
              </a:spcBef>
              <a:buNone/>
              <a:defRPr sz="1200" b="0" i="0" u="none" strike="noStrike" cap="none">
                <a:solidFill>
                  <a:schemeClr val="dk1"/>
                </a:solidFill>
                <a:latin typeface="Arial"/>
                <a:ea typeface="Arial"/>
                <a:cs typeface="Arial"/>
                <a:sym typeface="Arial"/>
              </a:defRPr>
            </a:lvl8pPr>
            <a:lvl9pPr marL="0" marR="0" lvl="8" indent="0" algn="r" rtl="0">
              <a:spcBef>
                <a:spcPts val="0"/>
              </a:spcBef>
              <a:buNone/>
              <a:defRPr sz="1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l-PL"/>
              <a:pPr marL="0" lvl="0" indent="0" algn="r" rtl="0">
                <a:spcBef>
                  <a:spcPts val="0"/>
                </a:spcBef>
                <a:spcAft>
                  <a:spcPts val="0"/>
                </a:spcAft>
                <a:buNone/>
              </a:pPr>
              <a:t>‹#›</a:t>
            </a:fld>
            <a:endParaRPr/>
          </a:p>
        </p:txBody>
      </p:sp>
      <p:pic>
        <p:nvPicPr>
          <p:cNvPr id="3" name="Obraz 2">
            <a:extLst>
              <a:ext uri="{FF2B5EF4-FFF2-40B4-BE49-F238E27FC236}">
                <a16:creationId xmlns:a16="http://schemas.microsoft.com/office/drawing/2014/main" id="{41A96210-1BCD-8C97-6AA9-1B4192D2D203}"/>
              </a:ext>
            </a:extLst>
          </p:cNvPr>
          <p:cNvPicPr>
            <a:picLocks noChangeAspect="1"/>
          </p:cNvPicPr>
          <p:nvPr userDrawn="1"/>
        </p:nvPicPr>
        <p:blipFill>
          <a:blip r:embed="rId2"/>
          <a:stretch>
            <a:fillRect/>
          </a:stretch>
        </p:blipFill>
        <p:spPr>
          <a:xfrm>
            <a:off x="520700" y="6868038"/>
            <a:ext cx="809336" cy="27732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520700" y="774883"/>
            <a:ext cx="9650413" cy="443198"/>
          </a:xfrm>
          <a:prstGeom prst="rect">
            <a:avLst/>
          </a:prstGeom>
          <a:noFill/>
          <a:ln>
            <a:noFill/>
          </a:ln>
        </p:spPr>
        <p:txBody>
          <a:bodyPr spcFirstLastPara="1" wrap="square" lIns="0" tIns="0" rIns="0" bIns="0" anchor="t" anchorCtr="0"/>
          <a:lstStyle>
            <a:lvl1pPr marR="0" lvl="0" algn="l" rtl="0">
              <a:lnSpc>
                <a:spcPct val="90000"/>
              </a:lnSpc>
              <a:spcBef>
                <a:spcPts val="0"/>
              </a:spcBef>
              <a:spcAft>
                <a:spcPts val="0"/>
              </a:spcAft>
              <a:buClr>
                <a:schemeClr val="dk1"/>
              </a:buClr>
              <a:buSzPts val="3200"/>
              <a:buFont typeface="Georgia"/>
              <a:buNone/>
              <a:defRPr sz="3200" b="1" i="0" u="none" strike="noStrike" cap="none">
                <a:solidFill>
                  <a:schemeClr val="dk1"/>
                </a:solidFill>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520700" y="1514223"/>
            <a:ext cx="9650413" cy="4796544"/>
          </a:xfrm>
          <a:prstGeom prst="rect">
            <a:avLst/>
          </a:prstGeom>
          <a:noFill/>
          <a:ln>
            <a:noFill/>
          </a:ln>
        </p:spPr>
        <p:txBody>
          <a:bodyPr spcFirstLastPara="1" wrap="square" lIns="0" tIns="0" rIns="0" bIns="0" anchor="t" anchorCtr="0"/>
          <a:lstStyle>
            <a:lvl1pPr marL="457200" marR="0" lvl="0" indent="-228600" algn="l" rtl="0">
              <a:lnSpc>
                <a:spcPct val="90000"/>
              </a:lnSpc>
              <a:spcBef>
                <a:spcPts val="1102"/>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L="914400" marR="0" lvl="1" indent="-304800" algn="l" rtl="0">
              <a:lnSpc>
                <a:spcPct val="90000"/>
              </a:lnSpc>
              <a:spcBef>
                <a:spcPts val="551"/>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51"/>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51"/>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51"/>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54583" algn="l" rtl="0">
              <a:lnSpc>
                <a:spcPct val="90000"/>
              </a:lnSpc>
              <a:spcBef>
                <a:spcPts val="551"/>
              </a:spcBef>
              <a:spcAft>
                <a:spcPts val="0"/>
              </a:spcAft>
              <a:buClr>
                <a:schemeClr val="dk1"/>
              </a:buClr>
              <a:buSzPts val="1984"/>
              <a:buFont typeface="Arial"/>
              <a:buChar char="•"/>
              <a:defRPr sz="1984" b="0" i="0" u="none" strike="noStrike" cap="none">
                <a:solidFill>
                  <a:schemeClr val="dk1"/>
                </a:solidFill>
                <a:latin typeface="Arial"/>
                <a:ea typeface="Arial"/>
                <a:cs typeface="Arial"/>
                <a:sym typeface="Arial"/>
              </a:defRPr>
            </a:lvl6pPr>
            <a:lvl7pPr marL="3200400" marR="0" lvl="6" indent="-354583" algn="l" rtl="0">
              <a:lnSpc>
                <a:spcPct val="90000"/>
              </a:lnSpc>
              <a:spcBef>
                <a:spcPts val="551"/>
              </a:spcBef>
              <a:spcAft>
                <a:spcPts val="0"/>
              </a:spcAft>
              <a:buClr>
                <a:schemeClr val="dk1"/>
              </a:buClr>
              <a:buSzPts val="1984"/>
              <a:buFont typeface="Arial"/>
              <a:buChar char="•"/>
              <a:defRPr sz="1984" b="0" i="0" u="none" strike="noStrike" cap="none">
                <a:solidFill>
                  <a:schemeClr val="dk1"/>
                </a:solidFill>
                <a:latin typeface="Arial"/>
                <a:ea typeface="Arial"/>
                <a:cs typeface="Arial"/>
                <a:sym typeface="Arial"/>
              </a:defRPr>
            </a:lvl7pPr>
            <a:lvl8pPr marL="3657600" marR="0" lvl="7" indent="-354584" algn="l" rtl="0">
              <a:lnSpc>
                <a:spcPct val="90000"/>
              </a:lnSpc>
              <a:spcBef>
                <a:spcPts val="551"/>
              </a:spcBef>
              <a:spcAft>
                <a:spcPts val="0"/>
              </a:spcAft>
              <a:buClr>
                <a:schemeClr val="dk1"/>
              </a:buClr>
              <a:buSzPts val="1984"/>
              <a:buFont typeface="Arial"/>
              <a:buChar char="•"/>
              <a:defRPr sz="1984" b="0" i="0" u="none" strike="noStrike" cap="none">
                <a:solidFill>
                  <a:schemeClr val="dk1"/>
                </a:solidFill>
                <a:latin typeface="Arial"/>
                <a:ea typeface="Arial"/>
                <a:cs typeface="Arial"/>
                <a:sym typeface="Arial"/>
              </a:defRPr>
            </a:lvl8pPr>
            <a:lvl9pPr marL="4114800" marR="0" lvl="8" indent="-354584" algn="l" rtl="0">
              <a:lnSpc>
                <a:spcPct val="90000"/>
              </a:lnSpc>
              <a:spcBef>
                <a:spcPts val="551"/>
              </a:spcBef>
              <a:spcAft>
                <a:spcPts val="0"/>
              </a:spcAft>
              <a:buClr>
                <a:schemeClr val="dk1"/>
              </a:buClr>
              <a:buSzPts val="1984"/>
              <a:buFont typeface="Arial"/>
              <a:buChar char="•"/>
              <a:defRPr sz="1984"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dt" idx="10"/>
          </p:nvPr>
        </p:nvSpPr>
        <p:spPr>
          <a:xfrm>
            <a:off x="7937500" y="7006700"/>
            <a:ext cx="1133475" cy="184666"/>
          </a:xfrm>
          <a:prstGeom prst="rect">
            <a:avLst/>
          </a:prstGeom>
          <a:noFill/>
          <a:ln>
            <a:noFill/>
          </a:ln>
        </p:spPr>
        <p:txBody>
          <a:bodyPr spcFirstLastPara="1" wrap="square" lIns="0" tIns="0" rIns="0" bIns="0" anchor="t" anchorCtr="0"/>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5454650" y="7006700"/>
            <a:ext cx="2266949" cy="184666"/>
          </a:xfrm>
          <a:prstGeom prst="rect">
            <a:avLst/>
          </a:prstGeom>
          <a:noFill/>
          <a:ln>
            <a:noFill/>
          </a:ln>
        </p:spPr>
        <p:txBody>
          <a:bodyPr spcFirstLastPara="1" wrap="square" lIns="0" tIns="0" rIns="0" bIns="0" anchor="t" anchorCtr="0"/>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9471923" y="7006700"/>
            <a:ext cx="699190" cy="184666"/>
          </a:xfrm>
          <a:prstGeom prst="rect">
            <a:avLst/>
          </a:prstGeom>
          <a:noFill/>
          <a:ln>
            <a:noFill/>
          </a:ln>
        </p:spPr>
        <p:txBody>
          <a:bodyPr spcFirstLastPara="1" wrap="square" lIns="0" tIns="0" rIns="0" bIns="0" anchor="t" anchorCtr="0">
            <a:noAutofit/>
          </a:bodyPr>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0" marR="0" lvl="1" indent="0" algn="r" rtl="0">
              <a:spcBef>
                <a:spcPts val="0"/>
              </a:spcBef>
              <a:buNone/>
              <a:defRPr sz="1200" b="0" i="0" u="none" strike="noStrike" cap="none">
                <a:solidFill>
                  <a:schemeClr val="dk1"/>
                </a:solidFill>
                <a:latin typeface="Arial"/>
                <a:ea typeface="Arial"/>
                <a:cs typeface="Arial"/>
                <a:sym typeface="Arial"/>
              </a:defRPr>
            </a:lvl2pPr>
            <a:lvl3pPr marL="0" marR="0" lvl="2" indent="0" algn="r" rtl="0">
              <a:spcBef>
                <a:spcPts val="0"/>
              </a:spcBef>
              <a:buNone/>
              <a:defRPr sz="1200" b="0" i="0" u="none" strike="noStrike" cap="none">
                <a:solidFill>
                  <a:schemeClr val="dk1"/>
                </a:solidFill>
                <a:latin typeface="Arial"/>
                <a:ea typeface="Arial"/>
                <a:cs typeface="Arial"/>
                <a:sym typeface="Arial"/>
              </a:defRPr>
            </a:lvl3pPr>
            <a:lvl4pPr marL="0" marR="0" lvl="3" indent="0" algn="r" rtl="0">
              <a:spcBef>
                <a:spcPts val="0"/>
              </a:spcBef>
              <a:buNone/>
              <a:defRPr sz="1200" b="0" i="0" u="none" strike="noStrike" cap="none">
                <a:solidFill>
                  <a:schemeClr val="dk1"/>
                </a:solidFill>
                <a:latin typeface="Arial"/>
                <a:ea typeface="Arial"/>
                <a:cs typeface="Arial"/>
                <a:sym typeface="Arial"/>
              </a:defRPr>
            </a:lvl4pPr>
            <a:lvl5pPr marL="0" marR="0" lvl="4" indent="0" algn="r" rtl="0">
              <a:spcBef>
                <a:spcPts val="0"/>
              </a:spcBef>
              <a:buNone/>
              <a:defRPr sz="1200" b="0" i="0" u="none" strike="noStrike" cap="none">
                <a:solidFill>
                  <a:schemeClr val="dk1"/>
                </a:solidFill>
                <a:latin typeface="Arial"/>
                <a:ea typeface="Arial"/>
                <a:cs typeface="Arial"/>
                <a:sym typeface="Arial"/>
              </a:defRPr>
            </a:lvl5pPr>
            <a:lvl6pPr marL="0" marR="0" lvl="5" indent="0" algn="r" rtl="0">
              <a:spcBef>
                <a:spcPts val="0"/>
              </a:spcBef>
              <a:buNone/>
              <a:defRPr sz="1200" b="0" i="0" u="none" strike="noStrike" cap="none">
                <a:solidFill>
                  <a:schemeClr val="dk1"/>
                </a:solidFill>
                <a:latin typeface="Arial"/>
                <a:ea typeface="Arial"/>
                <a:cs typeface="Arial"/>
                <a:sym typeface="Arial"/>
              </a:defRPr>
            </a:lvl6pPr>
            <a:lvl7pPr marL="0" marR="0" lvl="6" indent="0" algn="r" rtl="0">
              <a:spcBef>
                <a:spcPts val="0"/>
              </a:spcBef>
              <a:buNone/>
              <a:defRPr sz="1200" b="0" i="0" u="none" strike="noStrike" cap="none">
                <a:solidFill>
                  <a:schemeClr val="dk1"/>
                </a:solidFill>
                <a:latin typeface="Arial"/>
                <a:ea typeface="Arial"/>
                <a:cs typeface="Arial"/>
                <a:sym typeface="Arial"/>
              </a:defRPr>
            </a:lvl7pPr>
            <a:lvl8pPr marL="0" marR="0" lvl="7" indent="0" algn="r" rtl="0">
              <a:spcBef>
                <a:spcPts val="0"/>
              </a:spcBef>
              <a:buNone/>
              <a:defRPr sz="1200" b="0" i="0" u="none" strike="noStrike" cap="none">
                <a:solidFill>
                  <a:schemeClr val="dk1"/>
                </a:solidFill>
                <a:latin typeface="Arial"/>
                <a:ea typeface="Arial"/>
                <a:cs typeface="Arial"/>
                <a:sym typeface="Arial"/>
              </a:defRPr>
            </a:lvl8pPr>
            <a:lvl9pPr marL="0" marR="0" lvl="8" indent="0" algn="r" rtl="0">
              <a:spcBef>
                <a:spcPts val="0"/>
              </a:spcBef>
              <a:buNone/>
              <a:defRPr sz="1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l-PL"/>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5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744">
          <p15:clr>
            <a:srgbClr val="F26B43"/>
          </p15:clr>
        </p15:guide>
        <p15:guide id="2" pos="3436">
          <p15:clr>
            <a:srgbClr val="F26B43"/>
          </p15:clr>
        </p15:guide>
        <p15:guide id="3" pos="3299">
          <p15:clr>
            <a:srgbClr val="F26B43"/>
          </p15:clr>
        </p15:guide>
        <p15:guide id="4" pos="328">
          <p15:clr>
            <a:srgbClr val="F26B43"/>
          </p15:clr>
        </p15:guide>
        <p15:guide id="5" pos="192">
          <p15:clr>
            <a:srgbClr val="F26B43"/>
          </p15:clr>
        </p15:guide>
        <p15:guide id="6" pos="6407">
          <p15:clr>
            <a:srgbClr val="F26B43"/>
          </p15:clr>
        </p15:guide>
        <p15:guide id="7" pos="6543">
          <p15:clr>
            <a:srgbClr val="F26B43"/>
          </p15:clr>
        </p15:guide>
        <p15:guide id="8" pos="1735">
          <p15:clr>
            <a:srgbClr val="F26B43"/>
          </p15:clr>
        </p15:guide>
        <p15:guide id="9" pos="1871">
          <p15:clr>
            <a:srgbClr val="F26B43"/>
          </p15:clr>
        </p15:guide>
        <p15:guide id="10" pos="4864">
          <p15:clr>
            <a:srgbClr val="F26B43"/>
          </p15:clr>
        </p15:guide>
        <p15:guide id="11" pos="500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60B8C-266F-55E5-E7D0-C3454159CE81}"/>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66F6F14E-AEB4-C6DE-2B1B-D02BE4BCFF92}"/>
              </a:ext>
            </a:extLst>
          </p:cNvPr>
          <p:cNvSpPr>
            <a:spLocks noGrp="1"/>
          </p:cNvSpPr>
          <p:nvPr>
            <p:ph type="title"/>
          </p:nvPr>
        </p:nvSpPr>
        <p:spPr/>
        <p:txBody>
          <a:bodyPr/>
          <a:lstStyle/>
          <a:p>
            <a:r>
              <a:rPr lang="pl-PL" sz="1800" b="1" dirty="0">
                <a:effectLst/>
                <a:latin typeface="Calibri" panose="020F0502020204030204" pitchFamily="34" charset="0"/>
                <a:ea typeface="Calibri" panose="020F0502020204030204" pitchFamily="34" charset="0"/>
                <a:cs typeface="Times New Roman" panose="02020603050405020304" pitchFamily="18" charset="0"/>
              </a:rPr>
              <a:t>Materiał dydaktyczny</a:t>
            </a:r>
            <a:br>
              <a:rPr lang="hr-HR" sz="1800" dirty="0">
                <a:effectLst/>
                <a:latin typeface="Calibri" panose="020F0502020204030204" pitchFamily="34" charset="0"/>
                <a:ea typeface="Calibri" panose="020F0502020204030204" pitchFamily="34" charset="0"/>
                <a:cs typeface="Times New Roman" panose="02020603050405020304" pitchFamily="18" charset="0"/>
              </a:rPr>
            </a:br>
            <a:br>
              <a:rPr lang="pl-PL" sz="3200" b="1" i="0" dirty="0">
                <a:solidFill>
                  <a:srgbClr val="000000"/>
                </a:solidFill>
                <a:effectLst/>
                <a:latin typeface="Arial" panose="020B0604020202020204" pitchFamily="34" charset="0"/>
              </a:rPr>
            </a:br>
            <a:br>
              <a:rPr lang="pl-PL" dirty="0">
                <a:solidFill>
                  <a:srgbClr val="000000"/>
                </a:solidFill>
                <a:latin typeface="Arial" panose="020B0604020202020204" pitchFamily="34" charset="0"/>
              </a:rPr>
            </a:br>
            <a:r>
              <a:rPr lang="pl-PL" sz="1800" dirty="0">
                <a:effectLst/>
                <a:latin typeface="Calibri" panose="020F0502020204030204" pitchFamily="34" charset="0"/>
                <a:ea typeface="Calibri" panose="020F0502020204030204" pitchFamily="34" charset="0"/>
                <a:cs typeface="Times New Roman" panose="02020603050405020304" pitchFamily="18" charset="0"/>
              </a:rPr>
              <a:t>Głównym celem stosowania </a:t>
            </a:r>
            <a:r>
              <a:rPr lang="pl-PL" sz="1800" b="1" dirty="0">
                <a:effectLst/>
                <a:latin typeface="Calibri" panose="020F0502020204030204" pitchFamily="34" charset="0"/>
                <a:ea typeface="Calibri" panose="020F0502020204030204" pitchFamily="34" charset="0"/>
                <a:cs typeface="Times New Roman" panose="02020603050405020304" pitchFamily="18" charset="0"/>
              </a:rPr>
              <a:t>list kontroli dostępu</a:t>
            </a:r>
            <a:r>
              <a:rPr lang="pl-PL" sz="1800" dirty="0">
                <a:effectLst/>
                <a:latin typeface="Calibri" panose="020F0502020204030204" pitchFamily="34" charset="0"/>
                <a:ea typeface="Calibri" panose="020F0502020204030204" pitchFamily="34" charset="0"/>
                <a:cs typeface="Times New Roman" panose="02020603050405020304" pitchFamily="18" charset="0"/>
              </a:rPr>
              <a:t> (</a:t>
            </a:r>
            <a:r>
              <a:rPr lang="pl-PL" sz="1800" i="1" dirty="0">
                <a:effectLst/>
                <a:latin typeface="Calibri" panose="020F0502020204030204" pitchFamily="34" charset="0"/>
                <a:ea typeface="Calibri" panose="020F0502020204030204" pitchFamily="34" charset="0"/>
                <a:cs typeface="Times New Roman" panose="02020603050405020304" pitchFamily="18" charset="0"/>
              </a:rPr>
              <a:t>ang. Access Control List</a:t>
            </a:r>
            <a:r>
              <a:rPr lang="pl-PL" sz="1800" dirty="0">
                <a:effectLst/>
                <a:latin typeface="Calibri" panose="020F0502020204030204" pitchFamily="34" charset="0"/>
                <a:ea typeface="Calibri" panose="020F0502020204030204" pitchFamily="34" charset="0"/>
                <a:cs typeface="Times New Roman" panose="02020603050405020304" pitchFamily="18" charset="0"/>
              </a:rPr>
              <a:t>) jest kontrola i ograniczenie ruchu sieciowego, przechodzącego poprzez routery. </a:t>
            </a:r>
            <a:br>
              <a:rPr lang="pl-PL" sz="1800" dirty="0">
                <a:effectLst/>
                <a:latin typeface="Calibri" panose="020F0502020204030204" pitchFamily="34" charset="0"/>
                <a:ea typeface="Calibri" panose="020F0502020204030204" pitchFamily="34" charset="0"/>
                <a:cs typeface="Times New Roman" panose="02020603050405020304" pitchFamily="18" charset="0"/>
              </a:rPr>
            </a:br>
            <a:br>
              <a:rPr lang="pl-PL" sz="1800" dirty="0">
                <a:effectLst/>
                <a:latin typeface="Calibri" panose="020F0502020204030204" pitchFamily="34" charset="0"/>
                <a:ea typeface="Calibri" panose="020F0502020204030204" pitchFamily="34" charset="0"/>
                <a:cs typeface="Times New Roman" panose="02020603050405020304" pitchFamily="18" charset="0"/>
              </a:rPr>
            </a:br>
            <a:br>
              <a:rPr lang="pl-PL" sz="1800" dirty="0">
                <a:effectLst/>
                <a:latin typeface="Calibri" panose="020F0502020204030204" pitchFamily="34" charset="0"/>
                <a:ea typeface="Calibri" panose="020F0502020204030204" pitchFamily="34" charset="0"/>
                <a:cs typeface="Times New Roman" panose="02020603050405020304" pitchFamily="18" charset="0"/>
              </a:rPr>
            </a:br>
            <a:br>
              <a:rPr lang="pl-PL" sz="1800" dirty="0">
                <a:effectLst/>
                <a:latin typeface="Calibri" panose="020F0502020204030204" pitchFamily="34" charset="0"/>
                <a:ea typeface="Calibri" panose="020F0502020204030204" pitchFamily="34" charset="0"/>
                <a:cs typeface="Times New Roman" panose="02020603050405020304" pitchFamily="18" charset="0"/>
              </a:rPr>
            </a:br>
            <a:br>
              <a:rPr lang="pl-PL" sz="1800" dirty="0">
                <a:effectLst/>
                <a:latin typeface="Calibri" panose="020F0502020204030204" pitchFamily="34" charset="0"/>
                <a:ea typeface="Calibri" panose="020F0502020204030204" pitchFamily="34" charset="0"/>
                <a:cs typeface="Times New Roman" panose="02020603050405020304" pitchFamily="18" charset="0"/>
              </a:rPr>
            </a:br>
            <a:br>
              <a:rPr lang="pl-PL" sz="1800" dirty="0">
                <a:effectLst/>
                <a:latin typeface="Calibri" panose="020F0502020204030204" pitchFamily="34" charset="0"/>
                <a:ea typeface="Calibri" panose="020F0502020204030204" pitchFamily="34" charset="0"/>
                <a:cs typeface="Times New Roman" panose="02020603050405020304" pitchFamily="18" charset="0"/>
              </a:rPr>
            </a:br>
            <a:r>
              <a:rPr lang="pl-PL" sz="1800" dirty="0">
                <a:effectLst/>
                <a:latin typeface="Calibri" panose="020F0502020204030204" pitchFamily="34" charset="0"/>
                <a:ea typeface="Calibri" panose="020F0502020204030204" pitchFamily="34" charset="0"/>
                <a:cs typeface="Times New Roman" panose="02020603050405020304" pitchFamily="18" charset="0"/>
              </a:rPr>
              <a:t>Poprzez ich zastosowanie możemy wpłynąć nie tylko na podniesienie poziomu bezpieczeństwa naszej sieci, ale również na poprawę jej wydajności. Kontrolowanie i filtrowanie ruchu sieciowego to bardzo odpowiedzialne zadanie każdego administratora, który decyduje jaki typ ruchu będzie przepuszczany przez router, a jaki blokowany. </a:t>
            </a:r>
            <a:endParaRPr lang="hr-HR" dirty="0"/>
          </a:p>
        </p:txBody>
      </p:sp>
    </p:spTree>
    <p:extLst>
      <p:ext uri="{BB962C8B-B14F-4D97-AF65-F5344CB8AC3E}">
        <p14:creationId xmlns:p14="http://schemas.microsoft.com/office/powerpoint/2010/main" val="4173052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D08DB-EC7C-19FA-DE49-89B6DC402D9D}"/>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3926C9A2-07FF-F88A-9ECC-C90E3C1E74F0}"/>
              </a:ext>
            </a:extLst>
          </p:cNvPr>
          <p:cNvSpPr>
            <a:spLocks noGrp="1"/>
          </p:cNvSpPr>
          <p:nvPr>
            <p:ph type="title"/>
          </p:nvPr>
        </p:nvSpPr>
        <p:spPr/>
        <p:txBody>
          <a:bodyPr/>
          <a:lstStyle/>
          <a:p>
            <a:r>
              <a:rPr lang="pl-PL" dirty="0"/>
              <a:t>zadania</a:t>
            </a:r>
          </a:p>
        </p:txBody>
      </p:sp>
      <p:sp>
        <p:nvSpPr>
          <p:cNvPr id="3" name="Symbol zastępczy tekstu 2">
            <a:extLst>
              <a:ext uri="{FF2B5EF4-FFF2-40B4-BE49-F238E27FC236}">
                <a16:creationId xmlns:a16="http://schemas.microsoft.com/office/drawing/2014/main" id="{DD73295E-3B5C-9CFC-A35D-D815B8962E48}"/>
              </a:ext>
            </a:extLst>
          </p:cNvPr>
          <p:cNvSpPr>
            <a:spLocks noGrp="1"/>
          </p:cNvSpPr>
          <p:nvPr>
            <p:ph type="body" idx="1"/>
          </p:nvPr>
        </p:nvSpPr>
        <p:spPr/>
        <p:txBody>
          <a:bodyPr/>
          <a:lstStyle/>
          <a:p>
            <a:r>
              <a:rPr lang="pl-PL" sz="1800" dirty="0">
                <a:effectLst/>
                <a:latin typeface="Calibri" panose="020F0502020204030204" pitchFamily="34" charset="0"/>
                <a:ea typeface="Calibri" panose="020F0502020204030204" pitchFamily="34" charset="0"/>
                <a:cs typeface="Times New Roman" panose="02020603050405020304" pitchFamily="18" charset="0"/>
              </a:rPr>
              <a:t>Każdy router może mieć skonfigurowaną dużą liczbę </a:t>
            </a:r>
            <a:r>
              <a:rPr lang="pl-PL" sz="1800" b="1" dirty="0">
                <a:effectLst/>
                <a:latin typeface="Calibri" panose="020F0502020204030204" pitchFamily="34" charset="0"/>
                <a:ea typeface="Calibri" panose="020F0502020204030204" pitchFamily="34" charset="0"/>
                <a:cs typeface="Times New Roman" panose="02020603050405020304" pitchFamily="18" charset="0"/>
              </a:rPr>
              <a:t>ACL</a:t>
            </a:r>
            <a:r>
              <a:rPr lang="pl-PL" sz="1800" dirty="0">
                <a:effectLst/>
                <a:latin typeface="Calibri" panose="020F0502020204030204" pitchFamily="34" charset="0"/>
                <a:ea typeface="Calibri" panose="020F0502020204030204" pitchFamily="34" charset="0"/>
                <a:cs typeface="Times New Roman" panose="02020603050405020304" pitchFamily="18" charset="0"/>
              </a:rPr>
              <a:t>, </a:t>
            </a:r>
          </a:p>
          <a:p>
            <a:endParaRPr lang="pl-PL" sz="1800" dirty="0">
              <a:latin typeface="Calibri" panose="020F0502020204030204" pitchFamily="34" charset="0"/>
              <a:ea typeface="Calibri" panose="020F0502020204030204" pitchFamily="34" charset="0"/>
              <a:cs typeface="Times New Roman" panose="02020603050405020304" pitchFamily="18" charset="0"/>
            </a:endParaRPr>
          </a:p>
          <a:p>
            <a:endParaRPr lang="pl-PL"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pl-PL" sz="1800" dirty="0">
              <a:latin typeface="Calibri" panose="020F0502020204030204" pitchFamily="34" charset="0"/>
              <a:ea typeface="Calibri" panose="020F0502020204030204" pitchFamily="34" charset="0"/>
              <a:cs typeface="Times New Roman" panose="02020603050405020304" pitchFamily="18" charset="0"/>
            </a:endParaRPr>
          </a:p>
          <a:p>
            <a:r>
              <a:rPr lang="pl-PL" sz="1800" dirty="0">
                <a:effectLst/>
                <a:latin typeface="Calibri" panose="020F0502020204030204" pitchFamily="34" charset="0"/>
                <a:ea typeface="Calibri" panose="020F0502020204030204" pitchFamily="34" charset="0"/>
                <a:cs typeface="Times New Roman" panose="02020603050405020304" pitchFamily="18" charset="0"/>
              </a:rPr>
              <a:t>nie wszystkie jednak muszą być aktywne, tzn. utworzona lista kontroli dostępu i zapisana w konfiguracji routera będzie działać dopiero wtedy, gdy przypisze się jej dany interfejs dla którego ma filtrować ruch oraz zdefiniuje kierunek działania, tzn. czy ACL ma filtrować pakiety wchodzące do routera, czy wychodzące z routera. </a:t>
            </a:r>
            <a:endParaRPr lang="pl-PL" sz="4400" b="1" dirty="0"/>
          </a:p>
        </p:txBody>
      </p:sp>
      <p:sp>
        <p:nvSpPr>
          <p:cNvPr id="4" name="Symbol zastępczy tekstu 3">
            <a:extLst>
              <a:ext uri="{FF2B5EF4-FFF2-40B4-BE49-F238E27FC236}">
                <a16:creationId xmlns:a16="http://schemas.microsoft.com/office/drawing/2014/main" id="{FFC089F5-58A4-D4E8-4D7D-AD72A61AE021}"/>
              </a:ext>
            </a:extLst>
          </p:cNvPr>
          <p:cNvSpPr>
            <a:spLocks noGrp="1"/>
          </p:cNvSpPr>
          <p:nvPr>
            <p:ph type="body" idx="4294967295"/>
          </p:nvPr>
        </p:nvSpPr>
        <p:spPr>
          <a:xfrm>
            <a:off x="520700" y="6413500"/>
            <a:ext cx="2884488" cy="284163"/>
          </a:xfrm>
        </p:spPr>
        <p:txBody>
          <a:bodyPr/>
          <a:lstStyle/>
          <a:p>
            <a:endParaRPr lang="pl-PL"/>
          </a:p>
        </p:txBody>
      </p:sp>
    </p:spTree>
    <p:extLst>
      <p:ext uri="{BB962C8B-B14F-4D97-AF65-F5344CB8AC3E}">
        <p14:creationId xmlns:p14="http://schemas.microsoft.com/office/powerpoint/2010/main" val="3318318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FEBFBF4-D88E-D4C8-A65F-18E63F95C857}"/>
              </a:ext>
            </a:extLst>
          </p:cNvPr>
          <p:cNvSpPr>
            <a:spLocks noGrp="1"/>
          </p:cNvSpPr>
          <p:nvPr>
            <p:ph type="title"/>
          </p:nvPr>
        </p:nvSpPr>
        <p:spPr/>
        <p:txBody>
          <a:bodyPr/>
          <a:lstStyle/>
          <a:p>
            <a:r>
              <a:rPr lang="pl-PL" dirty="0"/>
              <a:t>ACL</a:t>
            </a:r>
            <a:endParaRPr lang="hr-HR" dirty="0"/>
          </a:p>
        </p:txBody>
      </p:sp>
      <p:sp>
        <p:nvSpPr>
          <p:cNvPr id="3" name="Symbol zastępczy tekstu 2">
            <a:extLst>
              <a:ext uri="{FF2B5EF4-FFF2-40B4-BE49-F238E27FC236}">
                <a16:creationId xmlns:a16="http://schemas.microsoft.com/office/drawing/2014/main" id="{84043ABB-0DDA-DB7C-96F4-44B175F80F94}"/>
              </a:ext>
            </a:extLst>
          </p:cNvPr>
          <p:cNvSpPr>
            <a:spLocks noGrp="1"/>
          </p:cNvSpPr>
          <p:nvPr>
            <p:ph type="body" idx="1"/>
          </p:nvPr>
        </p:nvSpPr>
        <p:spPr/>
        <p:txBody>
          <a:bodyPr/>
          <a:lstStyle/>
          <a:p>
            <a:pPr>
              <a:lnSpc>
                <a:spcPct val="107000"/>
              </a:lnSpc>
              <a:spcAft>
                <a:spcPts val="800"/>
              </a:spcAft>
            </a:pPr>
            <a:r>
              <a:rPr lang="pl-PL" sz="1800" dirty="0">
                <a:effectLst/>
                <a:latin typeface="Calibri" panose="020F0502020204030204" pitchFamily="34" charset="0"/>
                <a:ea typeface="Calibri" panose="020F0502020204030204" pitchFamily="34" charset="0"/>
                <a:cs typeface="Times New Roman" panose="02020603050405020304" pitchFamily="18" charset="0"/>
              </a:rPr>
              <a:t>Ponadto każdą ACL można zdefiniować dla danego protokołu sieciowego np. IP, TCP, UDP, ICMP, tak jak przedstawia to poniższy rysunek.</a:t>
            </a:r>
            <a:endParaRPr lang="hr-H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hr-HR" dirty="0"/>
          </a:p>
          <a:p>
            <a:endParaRPr lang="hr-HR" dirty="0"/>
          </a:p>
          <a:p>
            <a:endParaRPr lang="hr-HR" dirty="0"/>
          </a:p>
        </p:txBody>
      </p:sp>
      <p:pic>
        <p:nvPicPr>
          <p:cNvPr id="4" name="Obraz 3">
            <a:extLst>
              <a:ext uri="{FF2B5EF4-FFF2-40B4-BE49-F238E27FC236}">
                <a16:creationId xmlns:a16="http://schemas.microsoft.com/office/drawing/2014/main" id="{0CF9B833-1D03-5F04-E45A-1BDC18335113}"/>
              </a:ext>
            </a:extLst>
          </p:cNvPr>
          <p:cNvPicPr>
            <a:picLocks noChangeAspect="1"/>
          </p:cNvPicPr>
          <p:nvPr/>
        </p:nvPicPr>
        <p:blipFill>
          <a:blip r:embed="rId2"/>
          <a:stretch>
            <a:fillRect/>
          </a:stretch>
        </p:blipFill>
        <p:spPr>
          <a:xfrm>
            <a:off x="3206844" y="2877360"/>
            <a:ext cx="2999740" cy="2923540"/>
          </a:xfrm>
          <a:prstGeom prst="rect">
            <a:avLst/>
          </a:prstGeom>
          <a:ln>
            <a:solidFill>
              <a:schemeClr val="tx1"/>
            </a:solidFill>
          </a:ln>
        </p:spPr>
      </p:pic>
    </p:spTree>
    <p:extLst>
      <p:ext uri="{BB962C8B-B14F-4D97-AF65-F5344CB8AC3E}">
        <p14:creationId xmlns:p14="http://schemas.microsoft.com/office/powerpoint/2010/main" val="256003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0F28D-CA18-0857-FFAD-E44EEC60CEBE}"/>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125DEC79-07D8-8799-C282-1E3FAE686A59}"/>
              </a:ext>
            </a:extLst>
          </p:cNvPr>
          <p:cNvSpPr>
            <a:spLocks noGrp="1"/>
          </p:cNvSpPr>
          <p:nvPr>
            <p:ph type="title"/>
          </p:nvPr>
        </p:nvSpPr>
        <p:spPr/>
        <p:txBody>
          <a:bodyPr/>
          <a:lstStyle/>
          <a:p>
            <a:r>
              <a:rPr lang="pl-PL" dirty="0"/>
              <a:t>Moduł 2</a:t>
            </a:r>
          </a:p>
        </p:txBody>
      </p:sp>
      <p:sp>
        <p:nvSpPr>
          <p:cNvPr id="3" name="Symbol zastępczy tekstu 2">
            <a:extLst>
              <a:ext uri="{FF2B5EF4-FFF2-40B4-BE49-F238E27FC236}">
                <a16:creationId xmlns:a16="http://schemas.microsoft.com/office/drawing/2014/main" id="{686FE894-9D87-67D3-685F-29310416851B}"/>
              </a:ext>
            </a:extLst>
          </p:cNvPr>
          <p:cNvSpPr>
            <a:spLocks noGrp="1"/>
          </p:cNvSpPr>
          <p:nvPr>
            <p:ph type="body" idx="1"/>
          </p:nvPr>
        </p:nvSpPr>
        <p:spPr/>
        <p:txBody>
          <a:bodyPr/>
          <a:lstStyle/>
          <a:p>
            <a:pPr>
              <a:lnSpc>
                <a:spcPct val="107000"/>
              </a:lnSpc>
              <a:spcAft>
                <a:spcPts val="800"/>
              </a:spcAft>
            </a:pPr>
            <a:r>
              <a:rPr lang="pl-PL" sz="1800" dirty="0">
                <a:effectLst/>
                <a:latin typeface="Calibri" panose="020F0502020204030204" pitchFamily="34" charset="0"/>
                <a:ea typeface="Calibri" panose="020F0502020204030204" pitchFamily="34" charset="0"/>
                <a:cs typeface="Times New Roman" panose="02020603050405020304" pitchFamily="18" charset="0"/>
              </a:rPr>
              <a:t>Filtrowanie ruchu sieciowego pozwala na kontrolowanie co dzieje się w poszczególnych segmentach sieci. Jest to proces analizujący zawartość pakietów w celu podjęcia decyzji, czy pakiet ma być dopuszczony do pewnej strefy sieci czy też zablokowany.</a:t>
            </a:r>
            <a:endParaRPr lang="hr-H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pl-PL" sz="1800" dirty="0">
                <a:effectLst/>
                <a:latin typeface="Calibri" panose="020F0502020204030204" pitchFamily="34" charset="0"/>
                <a:ea typeface="Calibri" panose="020F0502020204030204" pitchFamily="34" charset="0"/>
                <a:cs typeface="Times New Roman" panose="02020603050405020304" pitchFamily="18" charset="0"/>
              </a:rPr>
              <a:t>Filtrowanie pakietów może odbywać się na podstawie:</a:t>
            </a:r>
            <a:endParaRPr lang="hr-H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pl-PL" sz="1800" dirty="0">
                <a:effectLst/>
                <a:latin typeface="Calibri" panose="020F0502020204030204" pitchFamily="34" charset="0"/>
                <a:ea typeface="Calibri" panose="020F0502020204030204" pitchFamily="34" charset="0"/>
                <a:cs typeface="Times New Roman" panose="02020603050405020304" pitchFamily="18" charset="0"/>
              </a:rPr>
              <a:t> </a:t>
            </a:r>
            <a:endParaRPr lang="hr-H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tabLst>
                <a:tab pos="457200" algn="l"/>
              </a:tabLst>
            </a:pPr>
            <a:r>
              <a:rPr lang="pl-PL" sz="1800" dirty="0">
                <a:effectLst/>
                <a:latin typeface="Calibri" panose="020F0502020204030204" pitchFamily="34" charset="0"/>
                <a:ea typeface="Calibri" panose="020F0502020204030204" pitchFamily="34" charset="0"/>
                <a:cs typeface="Times New Roman" panose="02020603050405020304" pitchFamily="18" charset="0"/>
              </a:rPr>
              <a:t>adresu źródłowego IP,</a:t>
            </a:r>
            <a:endParaRPr lang="hr-H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tabLst>
                <a:tab pos="457200" algn="l"/>
              </a:tabLst>
            </a:pPr>
            <a:r>
              <a:rPr lang="pl-PL" sz="1800" dirty="0">
                <a:effectLst/>
                <a:latin typeface="Calibri" panose="020F0502020204030204" pitchFamily="34" charset="0"/>
                <a:ea typeface="Calibri" panose="020F0502020204030204" pitchFamily="34" charset="0"/>
                <a:cs typeface="Times New Roman" panose="02020603050405020304" pitchFamily="18" charset="0"/>
              </a:rPr>
              <a:t>adresu docelowego IP,</a:t>
            </a:r>
            <a:endParaRPr lang="hr-H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tabLst>
                <a:tab pos="457200" algn="l"/>
              </a:tabLst>
            </a:pPr>
            <a:r>
              <a:rPr lang="pl-PL" sz="1800" dirty="0">
                <a:effectLst/>
                <a:latin typeface="Calibri" panose="020F0502020204030204" pitchFamily="34" charset="0"/>
                <a:ea typeface="Calibri" panose="020F0502020204030204" pitchFamily="34" charset="0"/>
                <a:cs typeface="Times New Roman" panose="02020603050405020304" pitchFamily="18" charset="0"/>
              </a:rPr>
              <a:t>protokołów (nazwy protokołów),</a:t>
            </a:r>
            <a:endParaRPr lang="hr-H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tabLst>
                <a:tab pos="457200" algn="l"/>
              </a:tabLst>
            </a:pPr>
            <a:r>
              <a:rPr lang="pl-PL" sz="1800" dirty="0">
                <a:effectLst/>
                <a:latin typeface="Calibri" panose="020F0502020204030204" pitchFamily="34" charset="0"/>
                <a:ea typeface="Calibri" panose="020F0502020204030204" pitchFamily="34" charset="0"/>
                <a:cs typeface="Times New Roman" panose="02020603050405020304" pitchFamily="18" charset="0"/>
              </a:rPr>
              <a:t>typu aplikacji (numery portów).</a:t>
            </a:r>
            <a:endParaRPr lang="hr-HR"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ymbol zastępczy tekstu 3">
            <a:extLst>
              <a:ext uri="{FF2B5EF4-FFF2-40B4-BE49-F238E27FC236}">
                <a16:creationId xmlns:a16="http://schemas.microsoft.com/office/drawing/2014/main" id="{D472E958-F379-544A-3CC2-648704954ACA}"/>
              </a:ext>
            </a:extLst>
          </p:cNvPr>
          <p:cNvSpPr>
            <a:spLocks noGrp="1"/>
          </p:cNvSpPr>
          <p:nvPr>
            <p:ph type="body" idx="4294967295"/>
          </p:nvPr>
        </p:nvSpPr>
        <p:spPr>
          <a:xfrm>
            <a:off x="520700" y="6413500"/>
            <a:ext cx="2884488" cy="284163"/>
          </a:xfrm>
        </p:spPr>
        <p:txBody>
          <a:bodyPr/>
          <a:lstStyle/>
          <a:p>
            <a:endParaRPr lang="pl-PL"/>
          </a:p>
        </p:txBody>
      </p:sp>
    </p:spTree>
    <p:extLst>
      <p:ext uri="{BB962C8B-B14F-4D97-AF65-F5344CB8AC3E}">
        <p14:creationId xmlns:p14="http://schemas.microsoft.com/office/powerpoint/2010/main" val="2030062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1"/>
          <p:cNvSpPr txBox="1">
            <a:spLocks noGrp="1"/>
          </p:cNvSpPr>
          <p:nvPr>
            <p:ph type="title"/>
          </p:nvPr>
        </p:nvSpPr>
        <p:spPr>
          <a:xfrm>
            <a:off x="520700" y="774883"/>
            <a:ext cx="9650413" cy="44319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3200"/>
              <a:buFont typeface="Georgia"/>
              <a:buNone/>
            </a:pPr>
            <a:r>
              <a:rPr lang="pl-PL" sz="3200" b="1" i="0" u="none" strike="noStrike" cap="none" dirty="0">
                <a:solidFill>
                  <a:schemeClr val="dk1"/>
                </a:solidFill>
                <a:latin typeface="Georgia"/>
                <a:ea typeface="Georgia"/>
                <a:cs typeface="Georgia"/>
                <a:sym typeface="Georgia"/>
              </a:rPr>
              <a:t>TEMATYKA MODUŁU 2</a:t>
            </a:r>
            <a:endParaRPr sz="3200" b="1" i="0" u="none" strike="noStrike" cap="none" dirty="0">
              <a:solidFill>
                <a:schemeClr val="dk1"/>
              </a:solidFill>
              <a:latin typeface="Georgia"/>
              <a:ea typeface="Georgia"/>
              <a:cs typeface="Georgia"/>
              <a:sym typeface="Georgia"/>
            </a:endParaRPr>
          </a:p>
        </p:txBody>
      </p:sp>
      <p:sp>
        <p:nvSpPr>
          <p:cNvPr id="202" name="Google Shape;202;p21"/>
          <p:cNvSpPr txBox="1">
            <a:spLocks noGrp="1"/>
          </p:cNvSpPr>
          <p:nvPr>
            <p:ph type="body" idx="1"/>
          </p:nvPr>
        </p:nvSpPr>
        <p:spPr>
          <a:xfrm>
            <a:off x="520700" y="1538713"/>
            <a:ext cx="9650413" cy="4772053"/>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1200"/>
              <a:buFont typeface="Arial"/>
              <a:buNone/>
            </a:pPr>
            <a:r>
              <a:rPr lang="pl-PL" sz="2000" b="1" i="0" u="none" strike="noStrike" cap="none" dirty="0">
                <a:solidFill>
                  <a:srgbClr val="FF0000"/>
                </a:solidFill>
                <a:latin typeface="Arial"/>
                <a:ea typeface="Arial"/>
                <a:cs typeface="Arial"/>
                <a:sym typeface="Arial"/>
              </a:rPr>
              <a:t>ĆWICZENIA I ZADANIA W FORMACIE PKA (PACKET TRACER ACTIVITY):</a:t>
            </a:r>
          </a:p>
          <a:p>
            <a:pPr marL="0" marR="0" lvl="0" indent="0" algn="l" rtl="0">
              <a:lnSpc>
                <a:spcPct val="90000"/>
              </a:lnSpc>
              <a:spcBef>
                <a:spcPts val="0"/>
              </a:spcBef>
              <a:spcAft>
                <a:spcPts val="0"/>
              </a:spcAft>
              <a:buClr>
                <a:schemeClr val="dk1"/>
              </a:buClr>
              <a:buSzPts val="1200"/>
              <a:buFont typeface="Arial"/>
              <a:buNone/>
            </a:pPr>
            <a:endParaRPr lang="pl-PL" sz="2000" b="1" i="0" u="none" strike="noStrike" cap="none" dirty="0">
              <a:solidFill>
                <a:schemeClr val="dk1"/>
              </a:solidFill>
              <a:latin typeface="Arial"/>
              <a:ea typeface="Arial"/>
              <a:cs typeface="Arial"/>
              <a:sym typeface="Arial"/>
            </a:endParaRPr>
          </a:p>
          <a:p>
            <a:pPr marL="0" marR="0" lvl="0" indent="0" algn="l" rtl="0">
              <a:lnSpc>
                <a:spcPct val="90000"/>
              </a:lnSpc>
              <a:spcBef>
                <a:spcPts val="0"/>
              </a:spcBef>
              <a:spcAft>
                <a:spcPts val="0"/>
              </a:spcAft>
              <a:buClr>
                <a:schemeClr val="dk1"/>
              </a:buClr>
              <a:buSzPts val="1200"/>
              <a:buFont typeface="Arial"/>
              <a:buNone/>
            </a:pPr>
            <a:r>
              <a:rPr lang="en-US" sz="2800" b="1" i="0" u="none" strike="noStrike" cap="none" dirty="0">
                <a:solidFill>
                  <a:schemeClr val="dk1"/>
                </a:solidFill>
                <a:latin typeface="Arial"/>
                <a:ea typeface="Arial"/>
                <a:cs typeface="Arial"/>
                <a:sym typeface="Arial"/>
              </a:rPr>
              <a:t>MODUL2-1-Configure Named Standard IPv4 ACLs</a:t>
            </a:r>
            <a:endParaRPr lang="pl-PL" sz="2800" b="1" i="0" u="none" strike="noStrike" cap="none" dirty="0">
              <a:solidFill>
                <a:schemeClr val="dk1"/>
              </a:solidFill>
              <a:latin typeface="Arial"/>
              <a:ea typeface="Arial"/>
              <a:cs typeface="Arial"/>
              <a:sym typeface="Arial"/>
            </a:endParaRPr>
          </a:p>
          <a:p>
            <a:pPr marL="0" marR="0" lvl="0" indent="0" algn="l" rtl="0">
              <a:lnSpc>
                <a:spcPct val="90000"/>
              </a:lnSpc>
              <a:spcBef>
                <a:spcPts val="0"/>
              </a:spcBef>
              <a:spcAft>
                <a:spcPts val="0"/>
              </a:spcAft>
              <a:buClr>
                <a:schemeClr val="dk1"/>
              </a:buClr>
              <a:buSzPts val="1200"/>
              <a:buFont typeface="Arial"/>
              <a:buNone/>
            </a:pPr>
            <a:endParaRPr lang="pl-PL" sz="2800" b="1" dirty="0"/>
          </a:p>
          <a:p>
            <a:pPr marL="0" marR="0" lvl="0" indent="0" algn="l" rtl="0">
              <a:lnSpc>
                <a:spcPct val="90000"/>
              </a:lnSpc>
              <a:spcBef>
                <a:spcPts val="0"/>
              </a:spcBef>
              <a:spcAft>
                <a:spcPts val="0"/>
              </a:spcAft>
              <a:buClr>
                <a:schemeClr val="dk1"/>
              </a:buClr>
              <a:buSzPts val="1200"/>
              <a:buFont typeface="Arial"/>
              <a:buNone/>
            </a:pPr>
            <a:r>
              <a:rPr lang="en-US" sz="2800" b="1" dirty="0"/>
              <a:t>MODUL2-3-Configure Extended ACLs - Scenario 1</a:t>
            </a:r>
            <a:endParaRPr lang="pl-PL" sz="2800" b="1" dirty="0"/>
          </a:p>
          <a:p>
            <a:pPr marL="0" marR="0" lvl="0" indent="0" algn="l" rtl="0">
              <a:lnSpc>
                <a:spcPct val="90000"/>
              </a:lnSpc>
              <a:spcBef>
                <a:spcPts val="0"/>
              </a:spcBef>
              <a:spcAft>
                <a:spcPts val="0"/>
              </a:spcAft>
              <a:buClr>
                <a:schemeClr val="dk1"/>
              </a:buClr>
              <a:buSzPts val="1200"/>
              <a:buFont typeface="Arial"/>
              <a:buNone/>
            </a:pPr>
            <a:endParaRPr lang="pl-PL" sz="2800" b="1" dirty="0"/>
          </a:p>
          <a:p>
            <a:pPr marL="0" marR="0" lvl="0" indent="0" algn="l" rtl="0">
              <a:lnSpc>
                <a:spcPct val="90000"/>
              </a:lnSpc>
              <a:spcBef>
                <a:spcPts val="0"/>
              </a:spcBef>
              <a:spcAft>
                <a:spcPts val="0"/>
              </a:spcAft>
              <a:buClr>
                <a:schemeClr val="dk1"/>
              </a:buClr>
              <a:buSzPts val="1200"/>
              <a:buFont typeface="Arial"/>
              <a:buNone/>
            </a:pPr>
            <a:r>
              <a:rPr lang="en-US" sz="2800" b="1" dirty="0"/>
              <a:t>MODUL2-</a:t>
            </a:r>
            <a:r>
              <a:rPr lang="pl-PL" sz="2800" b="1" dirty="0"/>
              <a:t>4</a:t>
            </a:r>
            <a:r>
              <a:rPr lang="en-US" sz="2800" b="1" dirty="0"/>
              <a:t>-Configure Extended ACLs - Scenario </a:t>
            </a:r>
            <a:r>
              <a:rPr lang="pl-PL" sz="2800" b="1" dirty="0"/>
              <a:t>2</a:t>
            </a:r>
          </a:p>
          <a:p>
            <a:pPr marL="0" marR="0" lvl="0" indent="0" algn="l" rtl="0">
              <a:lnSpc>
                <a:spcPct val="90000"/>
              </a:lnSpc>
              <a:spcBef>
                <a:spcPts val="0"/>
              </a:spcBef>
              <a:spcAft>
                <a:spcPts val="0"/>
              </a:spcAft>
              <a:buClr>
                <a:schemeClr val="dk1"/>
              </a:buClr>
              <a:buSzPts val="1200"/>
              <a:buFont typeface="Arial"/>
              <a:buNone/>
            </a:pPr>
            <a:endParaRPr lang="pl-PL" sz="2800" b="1" dirty="0"/>
          </a:p>
          <a:p>
            <a:pPr marL="0" marR="0" lvl="0" indent="0" algn="l" rtl="0">
              <a:lnSpc>
                <a:spcPct val="90000"/>
              </a:lnSpc>
              <a:spcBef>
                <a:spcPts val="0"/>
              </a:spcBef>
              <a:spcAft>
                <a:spcPts val="0"/>
              </a:spcAft>
              <a:buClr>
                <a:schemeClr val="dk1"/>
              </a:buClr>
              <a:buSzPts val="1200"/>
              <a:buFont typeface="Arial"/>
              <a:buNone/>
            </a:pPr>
            <a:r>
              <a:rPr lang="en-US" sz="2800" b="1" dirty="0"/>
              <a:t>MODUL2-5-Configure IP ACLs to Mitigate Attacks</a:t>
            </a:r>
            <a:endParaRPr lang="pl-PL" sz="2800" b="1" dirty="0"/>
          </a:p>
          <a:p>
            <a:pPr marL="0" marR="0" lvl="0" indent="0" algn="l" rtl="0">
              <a:lnSpc>
                <a:spcPct val="90000"/>
              </a:lnSpc>
              <a:spcBef>
                <a:spcPts val="0"/>
              </a:spcBef>
              <a:spcAft>
                <a:spcPts val="0"/>
              </a:spcAft>
              <a:buClr>
                <a:schemeClr val="dk1"/>
              </a:buClr>
              <a:buSzPts val="1200"/>
              <a:buFont typeface="Arial"/>
              <a:buNone/>
            </a:pPr>
            <a:endParaRPr lang="pl-PL" sz="2800" b="1" dirty="0"/>
          </a:p>
          <a:p>
            <a:pPr marL="0" marR="0" lvl="0" indent="0" algn="l" rtl="0">
              <a:lnSpc>
                <a:spcPct val="90000"/>
              </a:lnSpc>
              <a:spcBef>
                <a:spcPts val="0"/>
              </a:spcBef>
              <a:spcAft>
                <a:spcPts val="0"/>
              </a:spcAft>
              <a:buClr>
                <a:schemeClr val="dk1"/>
              </a:buClr>
              <a:buSzPts val="1200"/>
              <a:buFont typeface="Arial"/>
              <a:buNone/>
            </a:pPr>
            <a:r>
              <a:rPr lang="pl-PL" sz="2800" b="1" dirty="0"/>
              <a:t>MODUL2-6-Configure IPv6 </a:t>
            </a:r>
            <a:r>
              <a:rPr lang="pl-PL" sz="2800" b="1" dirty="0" err="1"/>
              <a:t>ACLs</a:t>
            </a:r>
            <a:endParaRPr lang="pl-PL" sz="2800" b="1" dirty="0"/>
          </a:p>
          <a:p>
            <a:pPr marL="0" marR="0" lvl="0" indent="0" algn="l" rtl="0">
              <a:lnSpc>
                <a:spcPct val="90000"/>
              </a:lnSpc>
              <a:spcBef>
                <a:spcPts val="0"/>
              </a:spcBef>
              <a:spcAft>
                <a:spcPts val="0"/>
              </a:spcAft>
              <a:buClr>
                <a:schemeClr val="dk1"/>
              </a:buClr>
              <a:buSzPts val="1200"/>
              <a:buFont typeface="Arial"/>
              <a:buNone/>
            </a:pPr>
            <a:endParaRPr lang="pl-PL" dirty="0"/>
          </a:p>
          <a:p>
            <a:pPr marL="0" marR="0" lvl="0" indent="0" algn="l" rtl="0">
              <a:lnSpc>
                <a:spcPct val="90000"/>
              </a:lnSpc>
              <a:spcBef>
                <a:spcPts val="0"/>
              </a:spcBef>
              <a:spcAft>
                <a:spcPts val="0"/>
              </a:spcAft>
              <a:buClr>
                <a:schemeClr val="dk1"/>
              </a:buClr>
              <a:buSzPts val="1200"/>
              <a:buFont typeface="Arial"/>
              <a:buNone/>
            </a:pPr>
            <a:endParaRPr lang="pl-PL" dirty="0"/>
          </a:p>
          <a:p>
            <a:pPr marL="0" marR="0" lvl="0" indent="0" algn="l" rtl="0">
              <a:lnSpc>
                <a:spcPct val="90000"/>
              </a:lnSpc>
              <a:spcBef>
                <a:spcPts val="0"/>
              </a:spcBef>
              <a:spcAft>
                <a:spcPts val="0"/>
              </a:spcAft>
              <a:buClr>
                <a:schemeClr val="dk1"/>
              </a:buClr>
              <a:buSzPts val="1200"/>
              <a:buFont typeface="Arial"/>
              <a:buNone/>
            </a:pPr>
            <a:endParaRPr sz="1200" b="0" i="0" u="none" strike="noStrike" cap="none" dirty="0">
              <a:solidFill>
                <a:schemeClr val="dk1"/>
              </a:solidFill>
              <a:latin typeface="Arial"/>
              <a:ea typeface="Arial"/>
              <a:cs typeface="Arial"/>
              <a:sym typeface="Arial"/>
            </a:endParaRPr>
          </a:p>
        </p:txBody>
      </p:sp>
      <p:sp>
        <p:nvSpPr>
          <p:cNvPr id="203" name="Google Shape;203;p21"/>
          <p:cNvSpPr txBox="1">
            <a:spLocks noGrp="1"/>
          </p:cNvSpPr>
          <p:nvPr>
            <p:ph type="dt" idx="10"/>
          </p:nvPr>
        </p:nvSpPr>
        <p:spPr>
          <a:xfrm>
            <a:off x="7937500" y="7006700"/>
            <a:ext cx="1133475" cy="18466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pl-PL" sz="1200" b="0" i="0" u="none" strike="noStrike" cap="none">
                <a:solidFill>
                  <a:schemeClr val="dk1"/>
                </a:solidFill>
                <a:latin typeface="Arial"/>
                <a:ea typeface="Arial"/>
                <a:cs typeface="Arial"/>
                <a:sym typeface="Arial"/>
              </a:rPr>
              <a:t>02.10.2018</a:t>
            </a:r>
            <a:endParaRPr sz="1200" b="0" i="0" u="none" strike="noStrike" cap="none">
              <a:solidFill>
                <a:schemeClr val="dk1"/>
              </a:solidFill>
              <a:latin typeface="Arial"/>
              <a:ea typeface="Arial"/>
              <a:cs typeface="Arial"/>
              <a:sym typeface="Arial"/>
            </a:endParaRPr>
          </a:p>
        </p:txBody>
      </p:sp>
      <p:sp>
        <p:nvSpPr>
          <p:cNvPr id="204" name="Google Shape;204;p21"/>
          <p:cNvSpPr txBox="1">
            <a:spLocks noGrp="1"/>
          </p:cNvSpPr>
          <p:nvPr>
            <p:ph type="body" idx="4294967295"/>
          </p:nvPr>
        </p:nvSpPr>
        <p:spPr>
          <a:xfrm>
            <a:off x="520700" y="6413500"/>
            <a:ext cx="2884488" cy="284163"/>
          </a:xfrm>
          <a:prstGeom prst="rect">
            <a:avLst/>
          </a:prstGeom>
          <a:noFill/>
          <a:ln>
            <a:noFill/>
          </a:ln>
        </p:spPr>
        <p:txBody>
          <a:bodyPr spcFirstLastPara="1" wrap="square" lIns="0" tIns="0" rIns="0" bIns="0" anchor="t" anchorCtr="0">
            <a:noAutofit/>
          </a:bodyPr>
          <a:lstStyle/>
          <a:p>
            <a:pPr marL="0" indent="0">
              <a:spcBef>
                <a:spcPts val="0"/>
              </a:spcBef>
            </a:pPr>
            <a:r>
              <a:rPr lang="pl-PL" sz="1200" b="0" i="1" u="none" strike="noStrike" cap="none" dirty="0">
                <a:solidFill>
                  <a:schemeClr val="dk1"/>
                </a:solidFill>
                <a:latin typeface="Arial"/>
                <a:ea typeface="Arial"/>
                <a:cs typeface="Arial"/>
                <a:sym typeface="Arial"/>
              </a:rPr>
              <a:t>WYKONYWANE W TRAKCIE ZAJĘĆ</a:t>
            </a:r>
          </a:p>
          <a:p>
            <a:pPr marL="0" marR="0" lvl="0" indent="0" algn="l" rtl="0">
              <a:lnSpc>
                <a:spcPct val="90000"/>
              </a:lnSpc>
              <a:spcBef>
                <a:spcPts val="0"/>
              </a:spcBef>
              <a:spcAft>
                <a:spcPts val="0"/>
              </a:spcAft>
              <a:buClr>
                <a:schemeClr val="dk1"/>
              </a:buClr>
              <a:buSzPts val="1200"/>
              <a:buFont typeface="Arial"/>
              <a:buNone/>
            </a:pPr>
            <a:endParaRPr sz="1200" b="0" i="1" u="none" strike="noStrike" cap="none" dirty="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0CD00-C059-D9DC-2C4F-76D765E6AA5F}"/>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4FA4A094-B244-6F67-D8B2-145625462FD2}"/>
              </a:ext>
            </a:extLst>
          </p:cNvPr>
          <p:cNvSpPr>
            <a:spLocks noGrp="1"/>
          </p:cNvSpPr>
          <p:nvPr>
            <p:ph type="title"/>
          </p:nvPr>
        </p:nvSpPr>
        <p:spPr/>
        <p:txBody>
          <a:bodyPr/>
          <a:lstStyle/>
          <a:p>
            <a:r>
              <a:rPr lang="pl-PL" sz="3200" b="1" kern="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Standardowe ACL</a:t>
            </a:r>
            <a:endParaRPr lang="hr-HR" dirty="0"/>
          </a:p>
        </p:txBody>
      </p:sp>
      <p:sp>
        <p:nvSpPr>
          <p:cNvPr id="3" name="Symbol zastępczy tekstu 2">
            <a:extLst>
              <a:ext uri="{FF2B5EF4-FFF2-40B4-BE49-F238E27FC236}">
                <a16:creationId xmlns:a16="http://schemas.microsoft.com/office/drawing/2014/main" id="{4B85A7A9-E453-F1FE-3D2C-7433325F945E}"/>
              </a:ext>
            </a:extLst>
          </p:cNvPr>
          <p:cNvSpPr>
            <a:spLocks noGrp="1"/>
          </p:cNvSpPr>
          <p:nvPr>
            <p:ph type="body" idx="1"/>
          </p:nvPr>
        </p:nvSpPr>
        <p:spPr/>
        <p:txBody>
          <a:bodyPr/>
          <a:lstStyle/>
          <a:p>
            <a:endParaRPr lang="hr-HR"/>
          </a:p>
        </p:txBody>
      </p:sp>
    </p:spTree>
    <p:extLst>
      <p:ext uri="{BB962C8B-B14F-4D97-AF65-F5344CB8AC3E}">
        <p14:creationId xmlns:p14="http://schemas.microsoft.com/office/powerpoint/2010/main" val="22928762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8708706-17C9-A836-C5A2-4B2F176A7AA1}"/>
              </a:ext>
            </a:extLst>
          </p:cNvPr>
          <p:cNvSpPr>
            <a:spLocks noGrp="1"/>
          </p:cNvSpPr>
          <p:nvPr>
            <p:ph type="title"/>
          </p:nvPr>
        </p:nvSpPr>
        <p:spPr/>
        <p:txBody>
          <a:bodyPr/>
          <a:lstStyle/>
          <a:p>
            <a:r>
              <a:rPr lang="pl-PL" sz="1800" b="1" kern="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Standardowe ACL</a:t>
            </a:r>
            <a:br>
              <a:rPr lang="hr-HR" sz="1800" b="1" kern="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br>
            <a:endParaRPr lang="hr-HR" dirty="0"/>
          </a:p>
        </p:txBody>
      </p:sp>
      <p:sp>
        <p:nvSpPr>
          <p:cNvPr id="3" name="Symbol zastępczy tekstu 2">
            <a:extLst>
              <a:ext uri="{FF2B5EF4-FFF2-40B4-BE49-F238E27FC236}">
                <a16:creationId xmlns:a16="http://schemas.microsoft.com/office/drawing/2014/main" id="{C19B3F24-B0B2-58C8-81C9-E1621E0E4733}"/>
              </a:ext>
            </a:extLst>
          </p:cNvPr>
          <p:cNvSpPr>
            <a:spLocks noGrp="1"/>
          </p:cNvSpPr>
          <p:nvPr>
            <p:ph type="body" idx="1"/>
          </p:nvPr>
        </p:nvSpPr>
        <p:spPr/>
        <p:txBody>
          <a:bodyPr/>
          <a:lstStyle/>
          <a:p>
            <a:pPr>
              <a:lnSpc>
                <a:spcPct val="107000"/>
              </a:lnSpc>
              <a:spcAft>
                <a:spcPts val="800"/>
              </a:spcAft>
            </a:pPr>
            <a:r>
              <a:rPr lang="pl-PL" sz="1800" dirty="0">
                <a:effectLst/>
                <a:latin typeface="Calibri" panose="020F0502020204030204" pitchFamily="34" charset="0"/>
                <a:ea typeface="Calibri" panose="020F0502020204030204" pitchFamily="34" charset="0"/>
                <a:cs typeface="Times New Roman" panose="02020603050405020304" pitchFamily="18" charset="0"/>
              </a:rPr>
              <a:t>Cechy </a:t>
            </a:r>
            <a:r>
              <a:rPr lang="pl-PL" sz="1800" b="1" dirty="0">
                <a:effectLst/>
                <a:latin typeface="Calibri" panose="020F0502020204030204" pitchFamily="34" charset="0"/>
                <a:ea typeface="Calibri" panose="020F0502020204030204" pitchFamily="34" charset="0"/>
                <a:cs typeface="Times New Roman" panose="02020603050405020304" pitchFamily="18" charset="0"/>
              </a:rPr>
              <a:t>standardowej</a:t>
            </a:r>
            <a:r>
              <a:rPr lang="pl-PL" sz="1800" dirty="0">
                <a:effectLst/>
                <a:latin typeface="Calibri" panose="020F0502020204030204" pitchFamily="34" charset="0"/>
                <a:ea typeface="Calibri" panose="020F0502020204030204" pitchFamily="34" charset="0"/>
                <a:cs typeface="Times New Roman" panose="02020603050405020304" pitchFamily="18" charset="0"/>
              </a:rPr>
              <a:t> listy kontroli dostępu (</a:t>
            </a:r>
            <a:r>
              <a:rPr lang="pl-PL" sz="1800" b="1" dirty="0">
                <a:effectLst/>
                <a:latin typeface="Calibri" panose="020F0502020204030204" pitchFamily="34" charset="0"/>
                <a:ea typeface="Calibri" panose="020F0502020204030204" pitchFamily="34" charset="0"/>
                <a:cs typeface="Times New Roman" panose="02020603050405020304" pitchFamily="18" charset="0"/>
              </a:rPr>
              <a:t>standard ACL</a:t>
            </a:r>
            <a:r>
              <a:rPr lang="pl-PL" sz="1800" dirty="0">
                <a:effectLst/>
                <a:latin typeface="Calibri" panose="020F0502020204030204" pitchFamily="34" charset="0"/>
                <a:ea typeface="Calibri" panose="020F0502020204030204" pitchFamily="34" charset="0"/>
                <a:cs typeface="Times New Roman" panose="02020603050405020304" pitchFamily="18" charset="0"/>
              </a:rPr>
              <a:t>):</a:t>
            </a:r>
            <a:endParaRPr lang="hr-H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tabLst>
                <a:tab pos="457200" algn="l"/>
              </a:tabLst>
            </a:pPr>
            <a:r>
              <a:rPr lang="pl-PL" sz="1800" dirty="0">
                <a:effectLst/>
                <a:latin typeface="Calibri" panose="020F0502020204030204" pitchFamily="34" charset="0"/>
                <a:ea typeface="Calibri" panose="020F0502020204030204" pitchFamily="34" charset="0"/>
                <a:cs typeface="Times New Roman" panose="02020603050405020304" pitchFamily="18" charset="0"/>
              </a:rPr>
              <a:t>numery ACL zawierają się w zakresie od </a:t>
            </a:r>
            <a:r>
              <a:rPr lang="pl-PL" sz="1800" b="1" dirty="0">
                <a:effectLst/>
                <a:latin typeface="Calibri" panose="020F0502020204030204" pitchFamily="34" charset="0"/>
                <a:ea typeface="Calibri" panose="020F0502020204030204" pitchFamily="34" charset="0"/>
                <a:cs typeface="Times New Roman" panose="02020603050405020304" pitchFamily="18" charset="0"/>
              </a:rPr>
              <a:t>1 do 99</a:t>
            </a:r>
            <a:r>
              <a:rPr lang="pl-PL" sz="1800" dirty="0">
                <a:effectLst/>
                <a:latin typeface="Calibri" panose="020F0502020204030204" pitchFamily="34" charset="0"/>
                <a:ea typeface="Calibri" panose="020F0502020204030204" pitchFamily="34" charset="0"/>
                <a:cs typeface="Times New Roman" panose="02020603050405020304" pitchFamily="18" charset="0"/>
              </a:rPr>
              <a:t> oraz od </a:t>
            </a:r>
            <a:r>
              <a:rPr lang="pl-PL" sz="1800" b="1" dirty="0">
                <a:effectLst/>
                <a:latin typeface="Calibri" panose="020F0502020204030204" pitchFamily="34" charset="0"/>
                <a:ea typeface="Calibri" panose="020F0502020204030204" pitchFamily="34" charset="0"/>
                <a:cs typeface="Times New Roman" panose="02020603050405020304" pitchFamily="18" charset="0"/>
              </a:rPr>
              <a:t>1300 do 1999</a:t>
            </a:r>
            <a:endParaRPr lang="hr-H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tabLst>
                <a:tab pos="457200" algn="l"/>
              </a:tabLst>
            </a:pPr>
            <a:r>
              <a:rPr lang="pl-PL" sz="1800" dirty="0">
                <a:effectLst/>
                <a:latin typeface="Calibri" panose="020F0502020204030204" pitchFamily="34" charset="0"/>
                <a:ea typeface="Calibri" panose="020F0502020204030204" pitchFamily="34" charset="0"/>
                <a:cs typeface="Times New Roman" panose="02020603050405020304" pitchFamily="18" charset="0"/>
              </a:rPr>
              <a:t>filtruje ruch na podstawie adresu </a:t>
            </a:r>
            <a:r>
              <a:rPr lang="pl-PL" sz="1800" b="1" dirty="0">
                <a:effectLst/>
                <a:latin typeface="Calibri" panose="020F0502020204030204" pitchFamily="34" charset="0"/>
                <a:ea typeface="Calibri" panose="020F0502020204030204" pitchFamily="34" charset="0"/>
                <a:cs typeface="Times New Roman" panose="02020603050405020304" pitchFamily="18" charset="0"/>
              </a:rPr>
              <a:t>źródłowego IP</a:t>
            </a:r>
            <a:r>
              <a:rPr lang="pl-PL" sz="1800" dirty="0">
                <a:effectLst/>
                <a:latin typeface="Calibri" panose="020F0502020204030204" pitchFamily="34" charset="0"/>
                <a:ea typeface="Calibri" panose="020F0502020204030204" pitchFamily="34" charset="0"/>
                <a:cs typeface="Times New Roman" panose="02020603050405020304" pitchFamily="18" charset="0"/>
              </a:rPr>
              <a:t> pakietu</a:t>
            </a:r>
            <a:endParaRPr lang="hr-H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tabLst>
                <a:tab pos="457200" algn="l"/>
              </a:tabLst>
            </a:pPr>
            <a:r>
              <a:rPr lang="pl-PL" sz="1800" dirty="0">
                <a:effectLst/>
                <a:latin typeface="Calibri" panose="020F0502020204030204" pitchFamily="34" charset="0"/>
                <a:ea typeface="Calibri" panose="020F0502020204030204" pitchFamily="34" charset="0"/>
                <a:cs typeface="Times New Roman" panose="02020603050405020304" pitchFamily="18" charset="0"/>
              </a:rPr>
              <a:t>zezwala (</a:t>
            </a:r>
            <a:r>
              <a:rPr lang="pl-PL" sz="1800" b="1" dirty="0" err="1">
                <a:effectLst/>
                <a:latin typeface="Calibri" panose="020F0502020204030204" pitchFamily="34" charset="0"/>
                <a:ea typeface="Calibri" panose="020F0502020204030204" pitchFamily="34" charset="0"/>
                <a:cs typeface="Times New Roman" panose="02020603050405020304" pitchFamily="18" charset="0"/>
              </a:rPr>
              <a:t>permit</a:t>
            </a:r>
            <a:r>
              <a:rPr lang="pl-PL" sz="1800" dirty="0">
                <a:effectLst/>
                <a:latin typeface="Calibri" panose="020F0502020204030204" pitchFamily="34" charset="0"/>
                <a:ea typeface="Calibri" panose="020F0502020204030204" pitchFamily="34" charset="0"/>
                <a:cs typeface="Times New Roman" panose="02020603050405020304" pitchFamily="18" charset="0"/>
              </a:rPr>
              <a:t>) lub blokuje (</a:t>
            </a:r>
            <a:r>
              <a:rPr lang="pl-PL" sz="1800" b="1" dirty="0" err="1">
                <a:effectLst/>
                <a:latin typeface="Calibri" panose="020F0502020204030204" pitchFamily="34" charset="0"/>
                <a:ea typeface="Calibri" panose="020F0502020204030204" pitchFamily="34" charset="0"/>
                <a:cs typeface="Times New Roman" panose="02020603050405020304" pitchFamily="18" charset="0"/>
              </a:rPr>
              <a:t>deny</a:t>
            </a:r>
            <a:r>
              <a:rPr lang="pl-PL" sz="1800" dirty="0">
                <a:effectLst/>
                <a:latin typeface="Calibri" panose="020F0502020204030204" pitchFamily="34" charset="0"/>
                <a:ea typeface="Calibri" panose="020F0502020204030204" pitchFamily="34" charset="0"/>
                <a:cs typeface="Times New Roman" panose="02020603050405020304" pitchFamily="18" charset="0"/>
              </a:rPr>
              <a:t>) na podstawie </a:t>
            </a:r>
            <a:r>
              <a:rPr lang="pl-PL" sz="1800" b="1" dirty="0">
                <a:effectLst/>
                <a:latin typeface="Calibri" panose="020F0502020204030204" pitchFamily="34" charset="0"/>
                <a:ea typeface="Calibri" panose="020F0502020204030204" pitchFamily="34" charset="0"/>
                <a:cs typeface="Times New Roman" panose="02020603050405020304" pitchFamily="18" charset="0"/>
              </a:rPr>
              <a:t>całego protokołu</a:t>
            </a:r>
            <a:r>
              <a:rPr lang="pl-PL" sz="1800" dirty="0">
                <a:effectLst/>
                <a:latin typeface="Calibri" panose="020F0502020204030204" pitchFamily="34" charset="0"/>
                <a:ea typeface="Calibri" panose="020F0502020204030204" pitchFamily="34" charset="0"/>
                <a:cs typeface="Times New Roman" panose="02020603050405020304" pitchFamily="18" charset="0"/>
              </a:rPr>
              <a:t> np. IP</a:t>
            </a:r>
            <a:endParaRPr lang="hr-H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tabLst>
                <a:tab pos="457200" algn="l"/>
              </a:tabLst>
            </a:pPr>
            <a:r>
              <a:rPr lang="pl-PL" sz="1800" dirty="0">
                <a:effectLst/>
                <a:latin typeface="Calibri" panose="020F0502020204030204" pitchFamily="34" charset="0"/>
                <a:ea typeface="Calibri" panose="020F0502020204030204" pitchFamily="34" charset="0"/>
                <a:cs typeface="Times New Roman" panose="02020603050405020304" pitchFamily="18" charset="0"/>
              </a:rPr>
              <a:t>jeśli dany host jest zablokowany przez standardową ACL, to </a:t>
            </a:r>
            <a:r>
              <a:rPr lang="pl-PL" sz="1800" b="1" dirty="0">
                <a:effectLst/>
                <a:latin typeface="Calibri" panose="020F0502020204030204" pitchFamily="34" charset="0"/>
                <a:ea typeface="Calibri" panose="020F0502020204030204" pitchFamily="34" charset="0"/>
                <a:cs typeface="Times New Roman" panose="02020603050405020304" pitchFamily="18" charset="0"/>
              </a:rPr>
              <a:t>wszystkie usługi wychodzące</a:t>
            </a:r>
            <a:r>
              <a:rPr lang="pl-PL" sz="1800" dirty="0">
                <a:effectLst/>
                <a:latin typeface="Calibri" panose="020F0502020204030204" pitchFamily="34" charset="0"/>
                <a:ea typeface="Calibri" panose="020F0502020204030204" pitchFamily="34" charset="0"/>
                <a:cs typeface="Times New Roman" panose="02020603050405020304" pitchFamily="18" charset="0"/>
              </a:rPr>
              <a:t> z tego hosta są zablokowane</a:t>
            </a:r>
            <a:endParaRPr lang="hr-H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hr-HR" dirty="0"/>
          </a:p>
        </p:txBody>
      </p:sp>
    </p:spTree>
    <p:extLst>
      <p:ext uri="{BB962C8B-B14F-4D97-AF65-F5344CB8AC3E}">
        <p14:creationId xmlns:p14="http://schemas.microsoft.com/office/powerpoint/2010/main" val="41511405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92ED64E-AE3A-1E88-2EA3-CF5B6543067D}"/>
              </a:ext>
            </a:extLst>
          </p:cNvPr>
          <p:cNvSpPr>
            <a:spLocks noGrp="1"/>
          </p:cNvSpPr>
          <p:nvPr>
            <p:ph type="title"/>
          </p:nvPr>
        </p:nvSpPr>
        <p:spPr/>
        <p:txBody>
          <a:bodyPr/>
          <a:lstStyle/>
          <a:p>
            <a:r>
              <a:rPr lang="pl-PL" sz="3200" b="1" kern="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Standardowe ACL</a:t>
            </a:r>
            <a:endParaRPr lang="hr-HR" dirty="0"/>
          </a:p>
        </p:txBody>
      </p:sp>
      <p:sp>
        <p:nvSpPr>
          <p:cNvPr id="3" name="Symbol zastępczy tekstu 2">
            <a:extLst>
              <a:ext uri="{FF2B5EF4-FFF2-40B4-BE49-F238E27FC236}">
                <a16:creationId xmlns:a16="http://schemas.microsoft.com/office/drawing/2014/main" id="{4AB912BF-C1B0-2DE6-D554-EE3B165556E2}"/>
              </a:ext>
            </a:extLst>
          </p:cNvPr>
          <p:cNvSpPr>
            <a:spLocks noGrp="1"/>
          </p:cNvSpPr>
          <p:nvPr>
            <p:ph type="body" idx="1"/>
          </p:nvPr>
        </p:nvSpPr>
        <p:spPr/>
        <p:txBody>
          <a:bodyPr/>
          <a:lstStyle/>
          <a:p>
            <a:pPr>
              <a:lnSpc>
                <a:spcPct val="107000"/>
              </a:lnSpc>
              <a:spcAft>
                <a:spcPts val="800"/>
              </a:spcAft>
            </a:pPr>
            <a:r>
              <a:rPr lang="pl-PL" sz="1800" dirty="0">
                <a:effectLst/>
                <a:latin typeface="Calibri" panose="020F0502020204030204" pitchFamily="34" charset="0"/>
                <a:ea typeface="Calibri" panose="020F0502020204030204" pitchFamily="34" charset="0"/>
                <a:cs typeface="Times New Roman" panose="02020603050405020304" pitchFamily="18" charset="0"/>
              </a:rPr>
              <a:t>Składnia polecenia IOS tworzącego </a:t>
            </a:r>
            <a:r>
              <a:rPr lang="pl-PL" sz="1800" b="1" dirty="0">
                <a:effectLst/>
                <a:latin typeface="Calibri" panose="020F0502020204030204" pitchFamily="34" charset="0"/>
                <a:ea typeface="Calibri" panose="020F0502020204030204" pitchFamily="34" charset="0"/>
                <a:cs typeface="Times New Roman" panose="02020603050405020304" pitchFamily="18" charset="0"/>
              </a:rPr>
              <a:t>standardową</a:t>
            </a:r>
            <a:r>
              <a:rPr lang="pl-PL" sz="1800" dirty="0">
                <a:effectLst/>
                <a:latin typeface="Calibri" panose="020F0502020204030204" pitchFamily="34" charset="0"/>
                <a:ea typeface="Calibri" panose="020F0502020204030204" pitchFamily="34" charset="0"/>
                <a:cs typeface="Times New Roman" panose="02020603050405020304" pitchFamily="18" charset="0"/>
              </a:rPr>
              <a:t> listę:</a:t>
            </a:r>
            <a:endParaRPr lang="hr-HR" sz="1800" dirty="0">
              <a:effectLst/>
              <a:latin typeface="Calibri" panose="020F0502020204030204" pitchFamily="34" charset="0"/>
              <a:ea typeface="Calibri" panose="020F0502020204030204" pitchFamily="34" charset="0"/>
              <a:cs typeface="Times New Roman" panose="02020603050405020304" pitchFamily="18" charset="0"/>
            </a:endParaRPr>
          </a:p>
          <a:p>
            <a:pPr>
              <a:spcBef>
                <a:spcPts val="300"/>
              </a:spcBef>
              <a:spcAft>
                <a:spcPts val="300"/>
              </a:spcAft>
            </a:pP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access-list [access-list-number] [</a:t>
            </a:r>
            <a:r>
              <a:rPr lang="en-US" sz="1800" b="1" dirty="0" err="1">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deny|permit</a:t>
            </a: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[source address] [source-wildcard] [log]</a:t>
            </a:r>
            <a:endParaRPr lang="hr-HR" sz="1800" b="1" dirty="0">
              <a:effectLst/>
              <a:latin typeface="Courier New" panose="02070309020205020404" pitchFamily="49" charset="0"/>
              <a:ea typeface="Calibri" panose="020F0502020204030204" pitchFamily="34" charset="0"/>
              <a:cs typeface="Times New Roman" panose="02020603050405020304" pitchFamily="18" charset="0"/>
            </a:endParaRPr>
          </a:p>
          <a:p>
            <a:pPr>
              <a:lnSpc>
                <a:spcPct val="107000"/>
              </a:lnSpc>
              <a:spcAft>
                <a:spcPts val="800"/>
              </a:spcAft>
            </a:pPr>
            <a:r>
              <a:rPr lang="pl-PL" sz="1800" dirty="0">
                <a:effectLst/>
                <a:latin typeface="Calibri" panose="020F0502020204030204" pitchFamily="34" charset="0"/>
                <a:ea typeface="Calibri" panose="020F0502020204030204" pitchFamily="34" charset="0"/>
                <a:cs typeface="Times New Roman" panose="02020603050405020304" pitchFamily="18" charset="0"/>
              </a:rPr>
              <a:t>Składnia polecenia IOS usuwającego </a:t>
            </a:r>
            <a:r>
              <a:rPr lang="pl-PL" sz="1800" b="1" dirty="0">
                <a:effectLst/>
                <a:latin typeface="Calibri" panose="020F0502020204030204" pitchFamily="34" charset="0"/>
                <a:ea typeface="Calibri" panose="020F0502020204030204" pitchFamily="34" charset="0"/>
                <a:cs typeface="Times New Roman" panose="02020603050405020304" pitchFamily="18" charset="0"/>
              </a:rPr>
              <a:t>ACL</a:t>
            </a:r>
            <a:r>
              <a:rPr lang="pl-PL" sz="1800" dirty="0">
                <a:effectLst/>
                <a:latin typeface="Calibri" panose="020F0502020204030204" pitchFamily="34" charset="0"/>
                <a:ea typeface="Calibri" panose="020F0502020204030204" pitchFamily="34" charset="0"/>
                <a:cs typeface="Times New Roman" panose="02020603050405020304" pitchFamily="18" charset="0"/>
              </a:rPr>
              <a:t>:</a:t>
            </a:r>
            <a:endParaRPr lang="hr-HR" sz="1800" dirty="0">
              <a:effectLst/>
              <a:latin typeface="Calibri" panose="020F0502020204030204" pitchFamily="34" charset="0"/>
              <a:ea typeface="Calibri" panose="020F0502020204030204" pitchFamily="34" charset="0"/>
              <a:cs typeface="Times New Roman" panose="02020603050405020304" pitchFamily="18" charset="0"/>
            </a:endParaRPr>
          </a:p>
          <a:p>
            <a:pPr>
              <a:spcBef>
                <a:spcPts val="300"/>
              </a:spcBef>
              <a:spcAft>
                <a:spcPts val="300"/>
              </a:spcAft>
            </a:pP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no access-list   access-list-number</a:t>
            </a:r>
            <a:endParaRPr lang="hr-HR" sz="1800" b="1" dirty="0">
              <a:effectLst/>
              <a:latin typeface="Courier New" panose="02070309020205020404" pitchFamily="49" charset="0"/>
              <a:ea typeface="Calibri" panose="020F0502020204030204" pitchFamily="34" charset="0"/>
              <a:cs typeface="Times New Roman" panose="02020603050405020304" pitchFamily="18" charset="0"/>
            </a:endParaRPr>
          </a:p>
          <a:p>
            <a:pPr>
              <a:lnSpc>
                <a:spcPct val="107000"/>
              </a:lnSpc>
              <a:spcAft>
                <a:spcPts val="800"/>
              </a:spcAft>
            </a:pPr>
            <a:r>
              <a:rPr lang="pl-PL" sz="1800" dirty="0">
                <a:effectLst/>
                <a:latin typeface="Calibri" panose="020F0502020204030204" pitchFamily="34" charset="0"/>
                <a:ea typeface="Times New Roman" panose="02020603050405020304" pitchFamily="18" charset="0"/>
                <a:cs typeface="Times New Roman" panose="02020603050405020304" pitchFamily="18" charset="0"/>
              </a:rPr>
              <a:t>Aby przypisać </a:t>
            </a:r>
            <a:r>
              <a:rPr lang="pl-PL" sz="1800" b="1" dirty="0">
                <a:effectLst/>
                <a:latin typeface="Calibri" panose="020F0502020204030204" pitchFamily="34" charset="0"/>
                <a:ea typeface="Times New Roman" panose="02020603050405020304" pitchFamily="18" charset="0"/>
                <a:cs typeface="Times New Roman" panose="02020603050405020304" pitchFamily="18" charset="0"/>
              </a:rPr>
              <a:t>ACL</a:t>
            </a:r>
            <a:r>
              <a:rPr lang="pl-PL" sz="1800" dirty="0">
                <a:effectLst/>
                <a:latin typeface="Calibri" panose="020F0502020204030204" pitchFamily="34" charset="0"/>
                <a:ea typeface="Times New Roman" panose="02020603050405020304" pitchFamily="18" charset="0"/>
                <a:cs typeface="Times New Roman" panose="02020603050405020304" pitchFamily="18" charset="0"/>
              </a:rPr>
              <a:t> do interfejsu, należy zastosować polecenie </a:t>
            </a:r>
            <a:r>
              <a:rPr lang="pl-PL" sz="1800" b="1" dirty="0" err="1">
                <a:effectLst/>
                <a:latin typeface="Courier New" panose="02070309020205020404" pitchFamily="49" charset="0"/>
                <a:ea typeface="Times New Roman" panose="02020603050405020304" pitchFamily="18" charset="0"/>
                <a:cs typeface="Times New Roman" panose="02020603050405020304" pitchFamily="18" charset="0"/>
              </a:rPr>
              <a:t>ip</a:t>
            </a:r>
            <a:r>
              <a:rPr lang="pl-PL" sz="18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pl-PL" sz="1800" b="1" dirty="0" err="1">
                <a:effectLst/>
                <a:latin typeface="Courier New" panose="02070309020205020404" pitchFamily="49" charset="0"/>
                <a:ea typeface="Times New Roman" panose="02020603050405020304" pitchFamily="18" charset="0"/>
                <a:cs typeface="Times New Roman" panose="02020603050405020304" pitchFamily="18" charset="0"/>
              </a:rPr>
              <a:t>access-group</a:t>
            </a:r>
            <a:r>
              <a:rPr lang="pl-PL" sz="1800" dirty="0">
                <a:effectLst/>
                <a:latin typeface="Calibri" panose="020F0502020204030204" pitchFamily="34" charset="0"/>
                <a:ea typeface="Times New Roman" panose="02020603050405020304" pitchFamily="18" charset="0"/>
                <a:cs typeface="Times New Roman" panose="02020603050405020304" pitchFamily="18" charset="0"/>
              </a:rPr>
              <a:t>. Każdy interfejs może mieć przypisane dwie listy (dla ruchu wchodzącego oraz wychodzącego). Jeśli przypisane są obie listy, muszą być tego samego typu. </a:t>
            </a:r>
            <a:endParaRPr lang="hr-H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pl-PL" sz="1800" dirty="0">
                <a:effectLst/>
                <a:latin typeface="Calibri" panose="020F0502020204030204" pitchFamily="34" charset="0"/>
                <a:ea typeface="Calibri" panose="020F0502020204030204" pitchFamily="34" charset="0"/>
                <a:cs typeface="Times New Roman" panose="02020603050405020304" pitchFamily="18" charset="0"/>
              </a:rPr>
              <a:t>Składnia polecenia IOS przypisującego </a:t>
            </a:r>
            <a:r>
              <a:rPr lang="pl-PL" sz="1800" b="1" dirty="0">
                <a:effectLst/>
                <a:latin typeface="Calibri" panose="020F0502020204030204" pitchFamily="34" charset="0"/>
                <a:ea typeface="Calibri" panose="020F0502020204030204" pitchFamily="34" charset="0"/>
                <a:cs typeface="Times New Roman" panose="02020603050405020304" pitchFamily="18" charset="0"/>
              </a:rPr>
              <a:t>ACL</a:t>
            </a:r>
            <a:r>
              <a:rPr lang="pl-PL" sz="1800" dirty="0">
                <a:effectLst/>
                <a:latin typeface="Calibri" panose="020F0502020204030204" pitchFamily="34" charset="0"/>
                <a:ea typeface="Calibri" panose="020F0502020204030204" pitchFamily="34" charset="0"/>
                <a:cs typeface="Times New Roman" panose="02020603050405020304" pitchFamily="18" charset="0"/>
              </a:rPr>
              <a:t> do interfejsu:</a:t>
            </a:r>
            <a:endParaRPr lang="hr-HR" sz="1800" dirty="0">
              <a:effectLst/>
              <a:latin typeface="Calibri" panose="020F0502020204030204" pitchFamily="34" charset="0"/>
              <a:ea typeface="Calibri" panose="020F0502020204030204" pitchFamily="34" charset="0"/>
              <a:cs typeface="Times New Roman" panose="02020603050405020304" pitchFamily="18" charset="0"/>
            </a:endParaRPr>
          </a:p>
          <a:p>
            <a:pPr>
              <a:spcBef>
                <a:spcPts val="300"/>
              </a:spcBef>
              <a:spcAft>
                <a:spcPts val="300"/>
              </a:spcAft>
            </a:pPr>
            <a:r>
              <a:rPr lang="en-US" sz="1800" b="1" dirty="0" err="1">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ip</a:t>
            </a: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access-group access-list-number {in | out}</a:t>
            </a:r>
            <a:endParaRPr lang="hr-HR" sz="1800" b="1" dirty="0">
              <a:effectLst/>
              <a:latin typeface="Courier New" panose="02070309020205020404" pitchFamily="49" charset="0"/>
              <a:ea typeface="Calibri" panose="020F0502020204030204" pitchFamily="34" charset="0"/>
              <a:cs typeface="Times New Roman" panose="02020603050405020304" pitchFamily="18" charset="0"/>
            </a:endParaRPr>
          </a:p>
          <a:p>
            <a:endParaRPr lang="hr-HR" dirty="0"/>
          </a:p>
        </p:txBody>
      </p:sp>
    </p:spTree>
    <p:extLst>
      <p:ext uri="{BB962C8B-B14F-4D97-AF65-F5344CB8AC3E}">
        <p14:creationId xmlns:p14="http://schemas.microsoft.com/office/powerpoint/2010/main" val="23645283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39BEC-84B9-0340-666D-27023A04B8F0}"/>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CF482B4B-A7DF-7C38-C3E6-FCFA2A97DAF5}"/>
              </a:ext>
            </a:extLst>
          </p:cNvPr>
          <p:cNvSpPr>
            <a:spLocks noGrp="1"/>
          </p:cNvSpPr>
          <p:nvPr>
            <p:ph type="title"/>
          </p:nvPr>
        </p:nvSpPr>
        <p:spPr/>
        <p:txBody>
          <a:bodyPr/>
          <a:lstStyle/>
          <a:p>
            <a:r>
              <a:rPr lang="pl-PL" sz="3200" b="1" kern="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ROZSZERZONE ACL</a:t>
            </a:r>
            <a:endParaRPr lang="hr-HR" dirty="0"/>
          </a:p>
        </p:txBody>
      </p:sp>
      <p:sp>
        <p:nvSpPr>
          <p:cNvPr id="3" name="Symbol zastępczy tekstu 2">
            <a:extLst>
              <a:ext uri="{FF2B5EF4-FFF2-40B4-BE49-F238E27FC236}">
                <a16:creationId xmlns:a16="http://schemas.microsoft.com/office/drawing/2014/main" id="{AB3B92B2-231E-219A-9FF6-A429BC4DA527}"/>
              </a:ext>
            </a:extLst>
          </p:cNvPr>
          <p:cNvSpPr>
            <a:spLocks noGrp="1"/>
          </p:cNvSpPr>
          <p:nvPr>
            <p:ph type="body" idx="1"/>
          </p:nvPr>
        </p:nvSpPr>
        <p:spPr/>
        <p:txBody>
          <a:bodyPr/>
          <a:lstStyle/>
          <a:p>
            <a:endParaRPr lang="hr-HR"/>
          </a:p>
        </p:txBody>
      </p:sp>
    </p:spTree>
    <p:extLst>
      <p:ext uri="{BB962C8B-B14F-4D97-AF65-F5344CB8AC3E}">
        <p14:creationId xmlns:p14="http://schemas.microsoft.com/office/powerpoint/2010/main" val="4122570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6FA46-C120-E1C2-DC41-C7DD7DEEE499}"/>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98227CD5-B14A-5F48-4F1F-17E03D26473D}"/>
              </a:ext>
            </a:extLst>
          </p:cNvPr>
          <p:cNvSpPr>
            <a:spLocks noGrp="1"/>
          </p:cNvSpPr>
          <p:nvPr>
            <p:ph type="title"/>
          </p:nvPr>
        </p:nvSpPr>
        <p:spPr/>
        <p:txBody>
          <a:bodyPr/>
          <a:lstStyle/>
          <a:p>
            <a:r>
              <a:rPr lang="pl-PL" sz="1800" b="1" kern="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Rozszerzone ACL</a:t>
            </a:r>
            <a:br>
              <a:rPr lang="hr-HR" sz="1800" b="1" kern="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br>
            <a:br>
              <a:rPr lang="hr-HR" sz="1800" b="1" kern="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br>
            <a:endParaRPr lang="hr-HR" dirty="0"/>
          </a:p>
        </p:txBody>
      </p:sp>
      <p:sp>
        <p:nvSpPr>
          <p:cNvPr id="3" name="Symbol zastępczy tekstu 2">
            <a:extLst>
              <a:ext uri="{FF2B5EF4-FFF2-40B4-BE49-F238E27FC236}">
                <a16:creationId xmlns:a16="http://schemas.microsoft.com/office/drawing/2014/main" id="{9CB6C218-ECDE-2A65-0230-66B53EDB6272}"/>
              </a:ext>
            </a:extLst>
          </p:cNvPr>
          <p:cNvSpPr>
            <a:spLocks noGrp="1"/>
          </p:cNvSpPr>
          <p:nvPr>
            <p:ph type="body" idx="1"/>
          </p:nvPr>
        </p:nvSpPr>
        <p:spPr/>
        <p:txBody>
          <a:bodyPr/>
          <a:lstStyle/>
          <a:p>
            <a:pPr>
              <a:lnSpc>
                <a:spcPct val="107000"/>
              </a:lnSpc>
              <a:spcAft>
                <a:spcPts val="800"/>
              </a:spcAft>
            </a:pPr>
            <a:r>
              <a:rPr lang="pl-PL" sz="1800" dirty="0">
                <a:effectLst/>
                <a:latin typeface="Calibri" panose="020F0502020204030204" pitchFamily="34" charset="0"/>
                <a:ea typeface="Calibri" panose="020F0502020204030204" pitchFamily="34" charset="0"/>
                <a:cs typeface="Times New Roman" panose="02020603050405020304" pitchFamily="18" charset="0"/>
              </a:rPr>
              <a:t>Cechy </a:t>
            </a:r>
            <a:r>
              <a:rPr lang="pl-PL" sz="1800" b="1" dirty="0">
                <a:effectLst/>
                <a:latin typeface="Calibri" panose="020F0502020204030204" pitchFamily="34" charset="0"/>
                <a:ea typeface="Calibri" panose="020F0502020204030204" pitchFamily="34" charset="0"/>
                <a:cs typeface="Times New Roman" panose="02020603050405020304" pitchFamily="18" charset="0"/>
              </a:rPr>
              <a:t>rozszerzonej</a:t>
            </a:r>
            <a:r>
              <a:rPr lang="pl-PL" sz="1800" dirty="0">
                <a:effectLst/>
                <a:latin typeface="Calibri" panose="020F0502020204030204" pitchFamily="34" charset="0"/>
                <a:ea typeface="Calibri" panose="020F0502020204030204" pitchFamily="34" charset="0"/>
                <a:cs typeface="Times New Roman" panose="02020603050405020304" pitchFamily="18" charset="0"/>
              </a:rPr>
              <a:t> listy kontroli dostępu  (</a:t>
            </a:r>
            <a:r>
              <a:rPr lang="pl-PL" sz="1800" b="1" dirty="0" err="1">
                <a:effectLst/>
                <a:latin typeface="Calibri" panose="020F0502020204030204" pitchFamily="34" charset="0"/>
                <a:ea typeface="Calibri" panose="020F0502020204030204" pitchFamily="34" charset="0"/>
                <a:cs typeface="Times New Roman" panose="02020603050405020304" pitchFamily="18" charset="0"/>
              </a:rPr>
              <a:t>extended</a:t>
            </a:r>
            <a:r>
              <a:rPr lang="pl-PL" sz="1800" b="1" dirty="0">
                <a:effectLst/>
                <a:latin typeface="Calibri" panose="020F0502020204030204" pitchFamily="34" charset="0"/>
                <a:ea typeface="Calibri" panose="020F0502020204030204" pitchFamily="34" charset="0"/>
                <a:cs typeface="Times New Roman" panose="02020603050405020304" pitchFamily="18" charset="0"/>
              </a:rPr>
              <a:t> ACL</a:t>
            </a:r>
            <a:r>
              <a:rPr lang="pl-PL" sz="1800" dirty="0">
                <a:effectLst/>
                <a:latin typeface="Calibri" panose="020F0502020204030204" pitchFamily="34" charset="0"/>
                <a:ea typeface="Calibri" panose="020F0502020204030204" pitchFamily="34" charset="0"/>
                <a:cs typeface="Times New Roman" panose="02020603050405020304" pitchFamily="18" charset="0"/>
              </a:rPr>
              <a:t>):</a:t>
            </a:r>
            <a:endParaRPr lang="hr-H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tabLst>
                <a:tab pos="457200" algn="l"/>
              </a:tabLst>
            </a:pPr>
            <a:r>
              <a:rPr lang="pl-PL" sz="1800" dirty="0">
                <a:effectLst/>
                <a:latin typeface="Calibri" panose="020F0502020204030204" pitchFamily="34" charset="0"/>
                <a:ea typeface="Calibri" panose="020F0502020204030204" pitchFamily="34" charset="0"/>
                <a:cs typeface="Times New Roman" panose="02020603050405020304" pitchFamily="18" charset="0"/>
              </a:rPr>
              <a:t>numery ACL zawierają się w zakresie od </a:t>
            </a:r>
            <a:r>
              <a:rPr lang="pl-PL" sz="1800" b="1" dirty="0">
                <a:effectLst/>
                <a:latin typeface="Calibri" panose="020F0502020204030204" pitchFamily="34" charset="0"/>
                <a:ea typeface="Calibri" panose="020F0502020204030204" pitchFamily="34" charset="0"/>
                <a:cs typeface="Times New Roman" panose="02020603050405020304" pitchFamily="18" charset="0"/>
              </a:rPr>
              <a:t>100 do 199</a:t>
            </a:r>
            <a:r>
              <a:rPr lang="pl-PL" sz="1800" dirty="0">
                <a:effectLst/>
                <a:latin typeface="Calibri" panose="020F0502020204030204" pitchFamily="34" charset="0"/>
                <a:ea typeface="Calibri" panose="020F0502020204030204" pitchFamily="34" charset="0"/>
                <a:cs typeface="Times New Roman" panose="02020603050405020304" pitchFamily="18" charset="0"/>
              </a:rPr>
              <a:t> oraz od </a:t>
            </a:r>
            <a:r>
              <a:rPr lang="pl-PL" sz="1800" b="1" dirty="0">
                <a:effectLst/>
                <a:latin typeface="Calibri" panose="020F0502020204030204" pitchFamily="34" charset="0"/>
                <a:ea typeface="Calibri" panose="020F0502020204030204" pitchFamily="34" charset="0"/>
                <a:cs typeface="Times New Roman" panose="02020603050405020304" pitchFamily="18" charset="0"/>
              </a:rPr>
              <a:t>2000 do 2699</a:t>
            </a:r>
            <a:endParaRPr lang="hr-H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tabLst>
                <a:tab pos="457200" algn="l"/>
              </a:tabLst>
            </a:pPr>
            <a:r>
              <a:rPr lang="pl-PL" sz="1800" dirty="0">
                <a:effectLst/>
                <a:latin typeface="Calibri" panose="020F0502020204030204" pitchFamily="34" charset="0"/>
                <a:ea typeface="Calibri" panose="020F0502020204030204" pitchFamily="34" charset="0"/>
                <a:cs typeface="Times New Roman" panose="02020603050405020304" pitchFamily="18" charset="0"/>
              </a:rPr>
              <a:t>filtruje ruch na podstawie adresu </a:t>
            </a:r>
            <a:r>
              <a:rPr lang="pl-PL" sz="1800" b="1" dirty="0">
                <a:effectLst/>
                <a:latin typeface="Calibri" panose="020F0502020204030204" pitchFamily="34" charset="0"/>
                <a:ea typeface="Calibri" panose="020F0502020204030204" pitchFamily="34" charset="0"/>
                <a:cs typeface="Times New Roman" panose="02020603050405020304" pitchFamily="18" charset="0"/>
              </a:rPr>
              <a:t>źródłowego IP</a:t>
            </a:r>
            <a:r>
              <a:rPr lang="pl-PL" sz="1800" dirty="0">
                <a:effectLst/>
                <a:latin typeface="Calibri" panose="020F0502020204030204" pitchFamily="34" charset="0"/>
                <a:ea typeface="Calibri" panose="020F0502020204030204" pitchFamily="34" charset="0"/>
                <a:cs typeface="Times New Roman" panose="02020603050405020304" pitchFamily="18" charset="0"/>
              </a:rPr>
              <a:t> pakietu oraz na podstawie adresu </a:t>
            </a:r>
            <a:r>
              <a:rPr lang="pl-PL" sz="1800" b="1" dirty="0">
                <a:effectLst/>
                <a:latin typeface="Calibri" panose="020F0502020204030204" pitchFamily="34" charset="0"/>
                <a:ea typeface="Calibri" panose="020F0502020204030204" pitchFamily="34" charset="0"/>
                <a:cs typeface="Times New Roman" panose="02020603050405020304" pitchFamily="18" charset="0"/>
              </a:rPr>
              <a:t>docelowego IP</a:t>
            </a:r>
            <a:endParaRPr lang="hr-H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tabLst>
                <a:tab pos="457200" algn="l"/>
              </a:tabLst>
            </a:pPr>
            <a:r>
              <a:rPr lang="pl-PL" sz="1800" dirty="0">
                <a:effectLst/>
                <a:latin typeface="Calibri" panose="020F0502020204030204" pitchFamily="34" charset="0"/>
                <a:ea typeface="Calibri" panose="020F0502020204030204" pitchFamily="34" charset="0"/>
                <a:cs typeface="Times New Roman" panose="02020603050405020304" pitchFamily="18" charset="0"/>
              </a:rPr>
              <a:t>filtruje ruch na podstawie rodzaju </a:t>
            </a:r>
            <a:r>
              <a:rPr lang="pl-PL" sz="1800" b="1" dirty="0">
                <a:effectLst/>
                <a:latin typeface="Calibri" panose="020F0502020204030204" pitchFamily="34" charset="0"/>
                <a:ea typeface="Calibri" panose="020F0502020204030204" pitchFamily="34" charset="0"/>
                <a:cs typeface="Times New Roman" panose="02020603050405020304" pitchFamily="18" charset="0"/>
              </a:rPr>
              <a:t>protokołu, </a:t>
            </a:r>
            <a:r>
              <a:rPr lang="pl-PL" sz="1800" dirty="0">
                <a:effectLst/>
                <a:latin typeface="Calibri" panose="020F0502020204030204" pitchFamily="34" charset="0"/>
                <a:ea typeface="Calibri" panose="020F0502020204030204" pitchFamily="34" charset="0"/>
                <a:cs typeface="Times New Roman" panose="02020603050405020304" pitchFamily="18" charset="0"/>
              </a:rPr>
              <a:t> numerów </a:t>
            </a:r>
            <a:r>
              <a:rPr lang="pl-PL" sz="1800" b="1" dirty="0">
                <a:effectLst/>
                <a:latin typeface="Calibri" panose="020F0502020204030204" pitchFamily="34" charset="0"/>
                <a:ea typeface="Calibri" panose="020F0502020204030204" pitchFamily="34" charset="0"/>
                <a:cs typeface="Times New Roman" panose="02020603050405020304" pitchFamily="18" charset="0"/>
              </a:rPr>
              <a:t>portów</a:t>
            </a:r>
            <a:endParaRPr lang="hr-H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tabLst>
                <a:tab pos="457200" algn="l"/>
              </a:tabLst>
            </a:pPr>
            <a:r>
              <a:rPr lang="pl-PL" sz="1800" dirty="0">
                <a:effectLst/>
                <a:latin typeface="Calibri" panose="020F0502020204030204" pitchFamily="34" charset="0"/>
                <a:ea typeface="Calibri" panose="020F0502020204030204" pitchFamily="34" charset="0"/>
                <a:cs typeface="Times New Roman" panose="02020603050405020304" pitchFamily="18" charset="0"/>
              </a:rPr>
              <a:t>zezwala (</a:t>
            </a:r>
            <a:r>
              <a:rPr lang="pl-PL" sz="1800" b="1" dirty="0" err="1">
                <a:effectLst/>
                <a:latin typeface="Calibri" panose="020F0502020204030204" pitchFamily="34" charset="0"/>
                <a:ea typeface="Calibri" panose="020F0502020204030204" pitchFamily="34" charset="0"/>
                <a:cs typeface="Times New Roman" panose="02020603050405020304" pitchFamily="18" charset="0"/>
              </a:rPr>
              <a:t>permit</a:t>
            </a:r>
            <a:r>
              <a:rPr lang="pl-PL" sz="1800" dirty="0">
                <a:effectLst/>
                <a:latin typeface="Calibri" panose="020F0502020204030204" pitchFamily="34" charset="0"/>
                <a:ea typeface="Calibri" panose="020F0502020204030204" pitchFamily="34" charset="0"/>
                <a:cs typeface="Times New Roman" panose="02020603050405020304" pitchFamily="18" charset="0"/>
              </a:rPr>
              <a:t>) lub blokuje (</a:t>
            </a:r>
            <a:r>
              <a:rPr lang="pl-PL" sz="1800" b="1" dirty="0" err="1">
                <a:effectLst/>
                <a:latin typeface="Calibri" panose="020F0502020204030204" pitchFamily="34" charset="0"/>
                <a:ea typeface="Calibri" panose="020F0502020204030204" pitchFamily="34" charset="0"/>
                <a:cs typeface="Times New Roman" panose="02020603050405020304" pitchFamily="18" charset="0"/>
              </a:rPr>
              <a:t>deny</a:t>
            </a:r>
            <a:r>
              <a:rPr lang="pl-PL" sz="1800" dirty="0">
                <a:effectLst/>
                <a:latin typeface="Calibri" panose="020F0502020204030204" pitchFamily="34" charset="0"/>
                <a:ea typeface="Calibri" panose="020F0502020204030204" pitchFamily="34" charset="0"/>
                <a:cs typeface="Times New Roman" panose="02020603050405020304" pitchFamily="18" charset="0"/>
              </a:rPr>
              <a:t>) na podstawie </a:t>
            </a:r>
            <a:r>
              <a:rPr lang="pl-PL" sz="1800" b="1" dirty="0">
                <a:effectLst/>
                <a:latin typeface="Calibri" panose="020F0502020204030204" pitchFamily="34" charset="0"/>
                <a:ea typeface="Calibri" panose="020F0502020204030204" pitchFamily="34" charset="0"/>
                <a:cs typeface="Times New Roman" panose="02020603050405020304" pitchFamily="18" charset="0"/>
              </a:rPr>
              <a:t>rodzaju protokołu</a:t>
            </a:r>
            <a:r>
              <a:rPr lang="pl-PL" sz="1800" dirty="0">
                <a:effectLst/>
                <a:latin typeface="Calibri" panose="020F0502020204030204" pitchFamily="34" charset="0"/>
                <a:ea typeface="Calibri" panose="020F0502020204030204" pitchFamily="34" charset="0"/>
                <a:cs typeface="Times New Roman" panose="02020603050405020304" pitchFamily="18" charset="0"/>
              </a:rPr>
              <a:t> np. TCP lub </a:t>
            </a:r>
            <a:r>
              <a:rPr lang="pl-PL" sz="1800" b="1" dirty="0">
                <a:effectLst/>
                <a:latin typeface="Calibri" panose="020F0502020204030204" pitchFamily="34" charset="0"/>
                <a:ea typeface="Calibri" panose="020F0502020204030204" pitchFamily="34" charset="0"/>
                <a:cs typeface="Times New Roman" panose="02020603050405020304" pitchFamily="18" charset="0"/>
              </a:rPr>
              <a:t>rodzaju aplikacji</a:t>
            </a:r>
            <a:r>
              <a:rPr lang="pl-PL" sz="1800" dirty="0">
                <a:effectLst/>
                <a:latin typeface="Calibri" panose="020F0502020204030204" pitchFamily="34" charset="0"/>
                <a:ea typeface="Calibri" panose="020F0502020204030204" pitchFamily="34" charset="0"/>
                <a:cs typeface="Times New Roman" panose="02020603050405020304" pitchFamily="18" charset="0"/>
              </a:rPr>
              <a:t> (numeru portu)</a:t>
            </a:r>
            <a:endParaRPr lang="hr-H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hr-HR" dirty="0"/>
          </a:p>
        </p:txBody>
      </p:sp>
    </p:spTree>
    <p:extLst>
      <p:ext uri="{BB962C8B-B14F-4D97-AF65-F5344CB8AC3E}">
        <p14:creationId xmlns:p14="http://schemas.microsoft.com/office/powerpoint/2010/main" val="1755613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04A16-A58F-4F0E-C3B1-259C296722FD}"/>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66A4790B-F816-C99F-D403-B9FE27154B14}"/>
              </a:ext>
            </a:extLst>
          </p:cNvPr>
          <p:cNvSpPr>
            <a:spLocks noGrp="1"/>
          </p:cNvSpPr>
          <p:nvPr>
            <p:ph type="title"/>
          </p:nvPr>
        </p:nvSpPr>
        <p:spPr/>
        <p:txBody>
          <a:bodyPr/>
          <a:lstStyle/>
          <a:p>
            <a:r>
              <a:rPr lang="pl-PL" sz="3200" b="1" kern="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Rozszerzone ACL</a:t>
            </a:r>
            <a:endParaRPr lang="hr-HR" dirty="0"/>
          </a:p>
        </p:txBody>
      </p:sp>
      <p:sp>
        <p:nvSpPr>
          <p:cNvPr id="3" name="Symbol zastępczy tekstu 2">
            <a:extLst>
              <a:ext uri="{FF2B5EF4-FFF2-40B4-BE49-F238E27FC236}">
                <a16:creationId xmlns:a16="http://schemas.microsoft.com/office/drawing/2014/main" id="{7FE9F397-7D21-FCC8-C848-21BE94D71151}"/>
              </a:ext>
            </a:extLst>
          </p:cNvPr>
          <p:cNvSpPr>
            <a:spLocks noGrp="1"/>
          </p:cNvSpPr>
          <p:nvPr>
            <p:ph type="body" idx="1"/>
          </p:nvPr>
        </p:nvSpPr>
        <p:spPr/>
        <p:txBody>
          <a:bodyPr/>
          <a:lstStyle/>
          <a:p>
            <a:pPr>
              <a:lnSpc>
                <a:spcPct val="107000"/>
              </a:lnSpc>
              <a:spcAft>
                <a:spcPts val="800"/>
              </a:spcAft>
            </a:pPr>
            <a:r>
              <a:rPr lang="pl-PL" sz="1800" dirty="0">
                <a:effectLst/>
                <a:latin typeface="Calibri" panose="020F0502020204030204" pitchFamily="34" charset="0"/>
                <a:ea typeface="Calibri" panose="020F0502020204030204" pitchFamily="34" charset="0"/>
                <a:cs typeface="Times New Roman" panose="02020603050405020304" pitchFamily="18" charset="0"/>
              </a:rPr>
              <a:t>Składnia polecenia IOS tworzącego </a:t>
            </a:r>
            <a:r>
              <a:rPr lang="pl-PL" sz="1800" b="1" dirty="0">
                <a:effectLst/>
                <a:latin typeface="Calibri" panose="020F0502020204030204" pitchFamily="34" charset="0"/>
                <a:ea typeface="Calibri" panose="020F0502020204030204" pitchFamily="34" charset="0"/>
                <a:cs typeface="Times New Roman" panose="02020603050405020304" pitchFamily="18" charset="0"/>
              </a:rPr>
              <a:t>rozszerzoną</a:t>
            </a:r>
            <a:r>
              <a:rPr lang="pl-PL" sz="1800" dirty="0">
                <a:effectLst/>
                <a:latin typeface="Calibri" panose="020F0502020204030204" pitchFamily="34" charset="0"/>
                <a:ea typeface="Calibri" panose="020F0502020204030204" pitchFamily="34" charset="0"/>
                <a:cs typeface="Times New Roman" panose="02020603050405020304" pitchFamily="18" charset="0"/>
              </a:rPr>
              <a:t> listę:</a:t>
            </a:r>
            <a:endParaRPr lang="hr-HR" sz="1800" dirty="0">
              <a:effectLst/>
              <a:latin typeface="Calibri" panose="020F0502020204030204" pitchFamily="34" charset="0"/>
              <a:ea typeface="Calibri" panose="020F0502020204030204" pitchFamily="34" charset="0"/>
              <a:cs typeface="Times New Roman" panose="02020603050405020304" pitchFamily="18" charset="0"/>
            </a:endParaRPr>
          </a:p>
          <a:p>
            <a:pPr>
              <a:spcBef>
                <a:spcPts val="300"/>
              </a:spcBef>
              <a:spcAft>
                <a:spcPts val="300"/>
              </a:spcAft>
            </a:pP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access-list access-list-number {deny | permit protocol {source-address [source-mask] {destination-address [destination-mask]} operator service</a:t>
            </a:r>
            <a:endParaRPr lang="hr-HR" sz="1800" b="1" dirty="0">
              <a:effectLst/>
              <a:latin typeface="Courier New" panose="02070309020205020404" pitchFamily="49" charset="0"/>
              <a:ea typeface="Calibri" panose="020F0502020204030204" pitchFamily="34" charset="0"/>
              <a:cs typeface="Times New Roman" panose="02020603050405020304" pitchFamily="18" charset="0"/>
            </a:endParaRPr>
          </a:p>
          <a:p>
            <a:pPr>
              <a:lnSpc>
                <a:spcPct val="107000"/>
              </a:lnSpc>
              <a:spcAft>
                <a:spcPts val="800"/>
              </a:spcAft>
            </a:pPr>
            <a:r>
              <a:rPr lang="pl-PL" sz="1800" dirty="0">
                <a:effectLst/>
                <a:latin typeface="Calibri" panose="020F0502020204030204" pitchFamily="34" charset="0"/>
                <a:ea typeface="Calibri" panose="020F0502020204030204" pitchFamily="34" charset="0"/>
                <a:cs typeface="Times New Roman" panose="02020603050405020304" pitchFamily="18" charset="0"/>
              </a:rPr>
              <a:t>Różnice między listą standardową i listą rozszerzoną:</a:t>
            </a:r>
            <a:endParaRPr lang="hr-H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15000"/>
              </a:lnSpc>
              <a:spcAft>
                <a:spcPts val="1000"/>
              </a:spcAft>
              <a:buFont typeface="Symbol" panose="05050102010706020507" pitchFamily="18" charset="2"/>
              <a:buChar char=""/>
            </a:pPr>
            <a:r>
              <a:rPr lang="pl-PL" sz="1800" dirty="0">
                <a:effectLst/>
                <a:latin typeface="Times New Roman" panose="02020603050405020304" pitchFamily="18" charset="0"/>
                <a:ea typeface="Times New Roman" panose="02020603050405020304" pitchFamily="18" charset="0"/>
                <a:cs typeface="Times New Roman" panose="02020603050405020304" pitchFamily="18" charset="0"/>
              </a:rPr>
              <a:t>Standardowa lista zezwala lub blokuje na podstawie adresu źródłowego IP.</a:t>
            </a:r>
            <a:endParaRPr lang="hr-HR"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r>
              <a:rPr lang="pl-PL" sz="1800" dirty="0">
                <a:effectLst/>
                <a:latin typeface="Calibri" panose="020F0502020204030204" pitchFamily="34" charset="0"/>
                <a:ea typeface="Calibri" panose="020F0502020204030204" pitchFamily="34" charset="0"/>
                <a:cs typeface="Times New Roman" panose="02020603050405020304" pitchFamily="18" charset="0"/>
              </a:rPr>
              <a:t>Rozszerzona lista zezwala lub blokuje dostęp bazując na adresach źródłowych IP, docelowych adresach</a:t>
            </a:r>
            <a:endParaRPr lang="hr-HR" dirty="0"/>
          </a:p>
        </p:txBody>
      </p:sp>
    </p:spTree>
    <p:extLst>
      <p:ext uri="{BB962C8B-B14F-4D97-AF65-F5344CB8AC3E}">
        <p14:creationId xmlns:p14="http://schemas.microsoft.com/office/powerpoint/2010/main" val="2743654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791AB-9C79-17C9-86A7-4C00B20C9F31}"/>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24B00FD1-FBD7-645B-2755-E85AF0E52EA3}"/>
              </a:ext>
            </a:extLst>
          </p:cNvPr>
          <p:cNvSpPr>
            <a:spLocks noGrp="1"/>
          </p:cNvSpPr>
          <p:nvPr>
            <p:ph type="title"/>
          </p:nvPr>
        </p:nvSpPr>
        <p:spPr/>
        <p:txBody>
          <a:bodyPr/>
          <a:lstStyle/>
          <a:p>
            <a:r>
              <a:rPr lang="pl-PL" sz="1800" b="1" kern="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Nazywane ACL</a:t>
            </a:r>
            <a:br>
              <a:rPr lang="hr-HR" sz="1800" b="1" kern="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br>
            <a:endParaRPr lang="hr-HR" dirty="0"/>
          </a:p>
        </p:txBody>
      </p:sp>
      <p:sp>
        <p:nvSpPr>
          <p:cNvPr id="3" name="Symbol zastępczy tekstu 2">
            <a:extLst>
              <a:ext uri="{FF2B5EF4-FFF2-40B4-BE49-F238E27FC236}">
                <a16:creationId xmlns:a16="http://schemas.microsoft.com/office/drawing/2014/main" id="{7C764844-6D23-B8B9-831D-CE8D8E202F85}"/>
              </a:ext>
            </a:extLst>
          </p:cNvPr>
          <p:cNvSpPr>
            <a:spLocks noGrp="1"/>
          </p:cNvSpPr>
          <p:nvPr>
            <p:ph type="body" idx="1"/>
          </p:nvPr>
        </p:nvSpPr>
        <p:spPr/>
        <p:txBody>
          <a:bodyPr/>
          <a:lstStyle/>
          <a:p>
            <a:pPr>
              <a:lnSpc>
                <a:spcPct val="107000"/>
              </a:lnSpc>
              <a:spcAft>
                <a:spcPts val="800"/>
              </a:spcAft>
            </a:pPr>
            <a:r>
              <a:rPr lang="pl-PL" sz="1800" dirty="0">
                <a:effectLst/>
                <a:latin typeface="Calibri" panose="020F0502020204030204" pitchFamily="34" charset="0"/>
                <a:ea typeface="Calibri" panose="020F0502020204030204" pitchFamily="34" charset="0"/>
                <a:cs typeface="Times New Roman" panose="02020603050405020304" pitchFamily="18" charset="0"/>
              </a:rPr>
              <a:t>Właściwości </a:t>
            </a:r>
            <a:r>
              <a:rPr lang="pl-PL" sz="1800" b="1" dirty="0">
                <a:effectLst/>
                <a:latin typeface="Calibri" panose="020F0502020204030204" pitchFamily="34" charset="0"/>
                <a:ea typeface="Calibri" panose="020F0502020204030204" pitchFamily="34" charset="0"/>
                <a:cs typeface="Times New Roman" panose="02020603050405020304" pitchFamily="18" charset="0"/>
              </a:rPr>
              <a:t>nazywanej </a:t>
            </a:r>
            <a:r>
              <a:rPr lang="pl-PL" sz="1800" dirty="0">
                <a:effectLst/>
                <a:latin typeface="Calibri" panose="020F0502020204030204" pitchFamily="34" charset="0"/>
                <a:ea typeface="Calibri" panose="020F0502020204030204" pitchFamily="34" charset="0"/>
                <a:cs typeface="Times New Roman" panose="02020603050405020304" pitchFamily="18" charset="0"/>
              </a:rPr>
              <a:t>listy kontroli dostępu (</a:t>
            </a:r>
            <a:r>
              <a:rPr lang="pl-PL" sz="1800" b="1" dirty="0" err="1">
                <a:effectLst/>
                <a:latin typeface="Calibri" panose="020F0502020204030204" pitchFamily="34" charset="0"/>
                <a:ea typeface="Calibri" panose="020F0502020204030204" pitchFamily="34" charset="0"/>
                <a:cs typeface="Times New Roman" panose="02020603050405020304" pitchFamily="18" charset="0"/>
              </a:rPr>
              <a:t>named</a:t>
            </a:r>
            <a:r>
              <a:rPr lang="pl-PL" sz="1800" b="1" dirty="0">
                <a:effectLst/>
                <a:latin typeface="Calibri" panose="020F0502020204030204" pitchFamily="34" charset="0"/>
                <a:ea typeface="Calibri" panose="020F0502020204030204" pitchFamily="34" charset="0"/>
                <a:cs typeface="Times New Roman" panose="02020603050405020304" pitchFamily="18" charset="0"/>
              </a:rPr>
              <a:t> ACL</a:t>
            </a:r>
            <a:r>
              <a:rPr lang="pl-PL" sz="1800" dirty="0">
                <a:effectLst/>
                <a:latin typeface="Calibri" panose="020F0502020204030204" pitchFamily="34" charset="0"/>
                <a:ea typeface="Calibri" panose="020F0502020204030204" pitchFamily="34" charset="0"/>
                <a:cs typeface="Times New Roman" panose="02020603050405020304" pitchFamily="18" charset="0"/>
              </a:rPr>
              <a:t>):</a:t>
            </a:r>
            <a:endParaRPr lang="hr-H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tabLst>
                <a:tab pos="457200" algn="l"/>
              </a:tabLst>
            </a:pPr>
            <a:r>
              <a:rPr lang="pl-PL" sz="1800" dirty="0">
                <a:effectLst/>
                <a:latin typeface="Calibri" panose="020F0502020204030204" pitchFamily="34" charset="0"/>
                <a:ea typeface="Calibri" panose="020F0502020204030204" pitchFamily="34" charset="0"/>
                <a:cs typeface="Times New Roman" panose="02020603050405020304" pitchFamily="18" charset="0"/>
              </a:rPr>
              <a:t>mogą być </a:t>
            </a:r>
            <a:r>
              <a:rPr lang="pl-PL" sz="1800" b="1" dirty="0">
                <a:effectLst/>
                <a:latin typeface="Calibri" panose="020F0502020204030204" pitchFamily="34" charset="0"/>
                <a:ea typeface="Calibri" panose="020F0502020204030204" pitchFamily="34" charset="0"/>
                <a:cs typeface="Times New Roman" panose="02020603050405020304" pitchFamily="18" charset="0"/>
              </a:rPr>
              <a:t>standardowe lub rozszerzone</a:t>
            </a:r>
            <a:endParaRPr lang="hr-H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tabLst>
                <a:tab pos="457200" algn="l"/>
              </a:tabLst>
            </a:pPr>
            <a:r>
              <a:rPr lang="pl-PL" sz="1800" dirty="0">
                <a:effectLst/>
                <a:latin typeface="Calibri" panose="020F0502020204030204" pitchFamily="34" charset="0"/>
                <a:ea typeface="Calibri" panose="020F0502020204030204" pitchFamily="34" charset="0"/>
                <a:cs typeface="Times New Roman" panose="02020603050405020304" pitchFamily="18" charset="0"/>
              </a:rPr>
              <a:t>ACL jest </a:t>
            </a:r>
            <a:r>
              <a:rPr lang="pl-PL" sz="1800" b="1" dirty="0">
                <a:effectLst/>
                <a:latin typeface="Calibri" panose="020F0502020204030204" pitchFamily="34" charset="0"/>
                <a:ea typeface="Calibri" panose="020F0502020204030204" pitchFamily="34" charset="0"/>
                <a:cs typeface="Times New Roman" panose="02020603050405020304" pitchFamily="18" charset="0"/>
              </a:rPr>
              <a:t>identyfikowana za pomocą nazwy</a:t>
            </a:r>
            <a:r>
              <a:rPr lang="pl-PL" sz="1800" dirty="0">
                <a:effectLst/>
                <a:latin typeface="Calibri" panose="020F0502020204030204" pitchFamily="34" charset="0"/>
                <a:ea typeface="Calibri" panose="020F0502020204030204" pitchFamily="34" charset="0"/>
                <a:cs typeface="Times New Roman" panose="02020603050405020304" pitchFamily="18" charset="0"/>
              </a:rPr>
              <a:t> przypisanej do niej</a:t>
            </a:r>
            <a:endParaRPr lang="hr-H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tabLst>
                <a:tab pos="457200" algn="l"/>
              </a:tabLst>
            </a:pPr>
            <a:r>
              <a:rPr lang="pl-PL" sz="1800" dirty="0">
                <a:effectLst/>
                <a:latin typeface="Calibri" panose="020F0502020204030204" pitchFamily="34" charset="0"/>
                <a:ea typeface="Calibri" panose="020F0502020204030204" pitchFamily="34" charset="0"/>
                <a:cs typeface="Times New Roman" panose="02020603050405020304" pitchFamily="18" charset="0"/>
              </a:rPr>
              <a:t>konfiguracja nazywanych list ACL używa trybu konfiguracji (</a:t>
            </a:r>
            <a:r>
              <a:rPr lang="pl-PL" sz="1800" b="1" dirty="0" err="1">
                <a:effectLst/>
                <a:latin typeface="Calibri" panose="020F0502020204030204" pitchFamily="34" charset="0"/>
                <a:ea typeface="Calibri" panose="020F0502020204030204" pitchFamily="34" charset="0"/>
                <a:cs typeface="Times New Roman" panose="02020603050405020304" pitchFamily="18" charset="0"/>
              </a:rPr>
              <a:t>nacl</a:t>
            </a:r>
            <a:r>
              <a:rPr lang="pl-PL" sz="1800" dirty="0">
                <a:effectLst/>
                <a:latin typeface="Calibri" panose="020F0502020204030204" pitchFamily="34" charset="0"/>
                <a:ea typeface="Calibri" panose="020F0502020204030204" pitchFamily="34" charset="0"/>
                <a:cs typeface="Times New Roman" panose="02020603050405020304" pitchFamily="18" charset="0"/>
              </a:rPr>
              <a:t>)</a:t>
            </a:r>
            <a:endParaRPr lang="hr-H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hr-HR" dirty="0"/>
          </a:p>
        </p:txBody>
      </p:sp>
    </p:spTree>
    <p:extLst>
      <p:ext uri="{BB962C8B-B14F-4D97-AF65-F5344CB8AC3E}">
        <p14:creationId xmlns:p14="http://schemas.microsoft.com/office/powerpoint/2010/main" val="2455307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88EEA-1DAF-723C-866B-9B0EE023EFE1}"/>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9EBC75A0-1501-CD8C-DC0D-2DDA3488BEC1}"/>
              </a:ext>
            </a:extLst>
          </p:cNvPr>
          <p:cNvSpPr>
            <a:spLocks noGrp="1"/>
          </p:cNvSpPr>
          <p:nvPr>
            <p:ph type="title"/>
          </p:nvPr>
        </p:nvSpPr>
        <p:spPr/>
        <p:txBody>
          <a:bodyPr/>
          <a:lstStyle/>
          <a:p>
            <a:r>
              <a:rPr lang="pl-PL" dirty="0"/>
              <a:t>NAZWA ACL</a:t>
            </a:r>
            <a:endParaRPr lang="hr-HR" dirty="0"/>
          </a:p>
        </p:txBody>
      </p:sp>
      <p:sp>
        <p:nvSpPr>
          <p:cNvPr id="3" name="Symbol zastępczy tekstu 2">
            <a:extLst>
              <a:ext uri="{FF2B5EF4-FFF2-40B4-BE49-F238E27FC236}">
                <a16:creationId xmlns:a16="http://schemas.microsoft.com/office/drawing/2014/main" id="{9687C388-75CA-0211-4082-EB1EC6B3AB1B}"/>
              </a:ext>
            </a:extLst>
          </p:cNvPr>
          <p:cNvSpPr>
            <a:spLocks noGrp="1"/>
          </p:cNvSpPr>
          <p:nvPr>
            <p:ph type="body" idx="1"/>
          </p:nvPr>
        </p:nvSpPr>
        <p:spPr/>
        <p:txBody>
          <a:bodyPr/>
          <a:lstStyle/>
          <a:p>
            <a:endParaRPr lang="hr-HR" dirty="0"/>
          </a:p>
        </p:txBody>
      </p:sp>
      <p:sp>
        <p:nvSpPr>
          <p:cNvPr id="5" name="pole tekstowe 4">
            <a:extLst>
              <a:ext uri="{FF2B5EF4-FFF2-40B4-BE49-F238E27FC236}">
                <a16:creationId xmlns:a16="http://schemas.microsoft.com/office/drawing/2014/main" id="{A2ACBE04-3C76-2F8A-E568-17017435931E}"/>
              </a:ext>
            </a:extLst>
          </p:cNvPr>
          <p:cNvSpPr txBox="1"/>
          <p:nvPr/>
        </p:nvSpPr>
        <p:spPr>
          <a:xfrm>
            <a:off x="2672179" y="2823580"/>
            <a:ext cx="5344356" cy="1916615"/>
          </a:xfrm>
          <a:prstGeom prst="rect">
            <a:avLst/>
          </a:prstGeom>
          <a:noFill/>
        </p:spPr>
        <p:txBody>
          <a:bodyPr wrap="square">
            <a:spAutoFit/>
          </a:bodyPr>
          <a:lstStyle/>
          <a:p>
            <a:pPr>
              <a:lnSpc>
                <a:spcPct val="107000"/>
              </a:lnSpc>
              <a:spcAft>
                <a:spcPts val="800"/>
              </a:spcAft>
            </a:pPr>
            <a:r>
              <a:rPr lang="pl-PL" sz="1400" dirty="0">
                <a:effectLst/>
                <a:latin typeface="Calibri" panose="020F0502020204030204" pitchFamily="34" charset="0"/>
                <a:ea typeface="Calibri" panose="020F0502020204030204" pitchFamily="34" charset="0"/>
                <a:cs typeface="Times New Roman" panose="02020603050405020304" pitchFamily="18" charset="0"/>
              </a:rPr>
              <a:t>Nazwa listy powinna być unikalna. Używając dużych liter w nazwach jest łatwiej je znaleźć w routerze. </a:t>
            </a:r>
            <a:endParaRPr lang="hr-HR"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pl-PL" sz="1400" dirty="0">
                <a:effectLst/>
                <a:latin typeface="Calibri" panose="020F0502020204030204" pitchFamily="34" charset="0"/>
                <a:ea typeface="Calibri" panose="020F0502020204030204" pitchFamily="34" charset="0"/>
                <a:cs typeface="Times New Roman" panose="02020603050405020304" pitchFamily="18" charset="0"/>
              </a:rPr>
              <a:t>Składnia polecenia IOS tworzenia listy nazywanej (</a:t>
            </a:r>
            <a:r>
              <a:rPr lang="pl-PL" sz="1400" b="1" dirty="0" err="1">
                <a:effectLst/>
                <a:latin typeface="Calibri" panose="020F0502020204030204" pitchFamily="34" charset="0"/>
                <a:ea typeface="Calibri" panose="020F0502020204030204" pitchFamily="34" charset="0"/>
                <a:cs typeface="Times New Roman" panose="02020603050405020304" pitchFamily="18" charset="0"/>
              </a:rPr>
              <a:t>named</a:t>
            </a:r>
            <a:r>
              <a:rPr lang="pl-PL" sz="1400" b="1" dirty="0">
                <a:effectLst/>
                <a:latin typeface="Calibri" panose="020F0502020204030204" pitchFamily="34" charset="0"/>
                <a:ea typeface="Calibri" panose="020F0502020204030204" pitchFamily="34" charset="0"/>
                <a:cs typeface="Times New Roman" panose="02020603050405020304" pitchFamily="18" charset="0"/>
              </a:rPr>
              <a:t> ACL</a:t>
            </a:r>
            <a:r>
              <a:rPr lang="pl-PL" sz="1400" dirty="0">
                <a:effectLst/>
                <a:latin typeface="Calibri" panose="020F0502020204030204" pitchFamily="34" charset="0"/>
                <a:ea typeface="Calibri" panose="020F0502020204030204" pitchFamily="34" charset="0"/>
                <a:cs typeface="Times New Roman" panose="02020603050405020304" pitchFamily="18" charset="0"/>
              </a:rPr>
              <a:t>):</a:t>
            </a:r>
            <a:endParaRPr lang="hr-HR" sz="1400" dirty="0">
              <a:effectLst/>
              <a:latin typeface="Calibri" panose="020F0502020204030204" pitchFamily="34" charset="0"/>
              <a:ea typeface="Calibri" panose="020F0502020204030204" pitchFamily="34" charset="0"/>
              <a:cs typeface="Times New Roman" panose="02020603050405020304" pitchFamily="18" charset="0"/>
            </a:endParaRPr>
          </a:p>
          <a:p>
            <a:pPr>
              <a:spcBef>
                <a:spcPts val="300"/>
              </a:spcBef>
              <a:spcAft>
                <a:spcPts val="300"/>
              </a:spcAft>
            </a:pPr>
            <a:r>
              <a:rPr lang="en-US" sz="1100" b="1" dirty="0" err="1">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ip</a:t>
            </a:r>
            <a:r>
              <a:rPr lang="en-US" sz="11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access-list {standard | extended} name</a:t>
            </a:r>
            <a:endParaRPr lang="hr-HR" sz="1100" b="1" dirty="0">
              <a:effectLst/>
              <a:latin typeface="Courier New" panose="02070309020205020404" pitchFamily="49" charset="0"/>
              <a:ea typeface="Calibri" panose="020F0502020204030204" pitchFamily="34" charset="0"/>
              <a:cs typeface="Times New Roman" panose="02020603050405020304" pitchFamily="18" charset="0"/>
            </a:endParaRPr>
          </a:p>
          <a:p>
            <a:pPr>
              <a:lnSpc>
                <a:spcPct val="107000"/>
              </a:lnSpc>
              <a:spcAft>
                <a:spcPts val="800"/>
              </a:spcAft>
            </a:pPr>
            <a:r>
              <a:rPr lang="pl-PL" sz="1400" dirty="0">
                <a:effectLst/>
                <a:latin typeface="Calibri" panose="020F0502020204030204" pitchFamily="34" charset="0"/>
                <a:ea typeface="Calibri" panose="020F0502020204030204" pitchFamily="34" charset="0"/>
                <a:cs typeface="Times New Roman" panose="02020603050405020304" pitchFamily="18" charset="0"/>
              </a:rPr>
              <a:t>Po wykonaniu tego polecenia router przechodzi do </a:t>
            </a:r>
            <a:r>
              <a:rPr lang="pl-PL" sz="1400" dirty="0" err="1">
                <a:effectLst/>
                <a:latin typeface="Calibri" panose="020F0502020204030204" pitchFamily="34" charset="0"/>
                <a:ea typeface="Calibri" panose="020F0502020204030204" pitchFamily="34" charset="0"/>
                <a:cs typeface="Times New Roman" panose="02020603050405020304" pitchFamily="18" charset="0"/>
              </a:rPr>
              <a:t>podtrybu</a:t>
            </a:r>
            <a:r>
              <a:rPr lang="pl-PL" sz="1400" dirty="0">
                <a:effectLst/>
                <a:latin typeface="Calibri" panose="020F0502020204030204" pitchFamily="34" charset="0"/>
                <a:ea typeface="Calibri" panose="020F0502020204030204" pitchFamily="34" charset="0"/>
                <a:cs typeface="Times New Roman" panose="02020603050405020304" pitchFamily="18" charset="0"/>
              </a:rPr>
              <a:t> konfiguracji </a:t>
            </a:r>
            <a:r>
              <a:rPr lang="pl-PL" sz="1400" b="1" dirty="0" err="1">
                <a:effectLst/>
                <a:latin typeface="Calibri" panose="020F0502020204030204" pitchFamily="34" charset="0"/>
                <a:ea typeface="Calibri" panose="020F0502020204030204" pitchFamily="34" charset="0"/>
                <a:cs typeface="Times New Roman" panose="02020603050405020304" pitchFamily="18" charset="0"/>
              </a:rPr>
              <a:t>nacl</a:t>
            </a:r>
            <a:r>
              <a:rPr lang="pl-PL" sz="1400" dirty="0">
                <a:effectLst/>
                <a:latin typeface="Calibri" panose="020F0502020204030204" pitchFamily="34" charset="0"/>
                <a:ea typeface="Calibri" panose="020F0502020204030204" pitchFamily="34" charset="0"/>
                <a:cs typeface="Times New Roman" panose="02020603050405020304" pitchFamily="18" charset="0"/>
              </a:rPr>
              <a:t>. W tym </a:t>
            </a:r>
            <a:r>
              <a:rPr lang="pl-PL" sz="1400" dirty="0" err="1">
                <a:effectLst/>
                <a:latin typeface="Calibri" panose="020F0502020204030204" pitchFamily="34" charset="0"/>
                <a:ea typeface="Calibri" panose="020F0502020204030204" pitchFamily="34" charset="0"/>
                <a:cs typeface="Times New Roman" panose="02020603050405020304" pitchFamily="18" charset="0"/>
              </a:rPr>
              <a:t>podtrybie</a:t>
            </a:r>
            <a:r>
              <a:rPr lang="pl-PL" sz="1400" dirty="0">
                <a:effectLst/>
                <a:latin typeface="Calibri" panose="020F0502020204030204" pitchFamily="34" charset="0"/>
                <a:ea typeface="Calibri" panose="020F0502020204030204" pitchFamily="34" charset="0"/>
                <a:cs typeface="Times New Roman" panose="02020603050405020304" pitchFamily="18" charset="0"/>
              </a:rPr>
              <a:t> należy wprowadzać polecenia </a:t>
            </a:r>
            <a:r>
              <a:rPr lang="pl-PL" sz="1400" b="1" dirty="0" err="1">
                <a:effectLst/>
                <a:latin typeface="Calibri" panose="020F0502020204030204" pitchFamily="34" charset="0"/>
                <a:ea typeface="Calibri" panose="020F0502020204030204" pitchFamily="34" charset="0"/>
                <a:cs typeface="Times New Roman" panose="02020603050405020304" pitchFamily="18" charset="0"/>
              </a:rPr>
              <a:t>permit</a:t>
            </a:r>
            <a:r>
              <a:rPr lang="pl-PL" sz="1400" dirty="0">
                <a:effectLst/>
                <a:latin typeface="Calibri" panose="020F0502020204030204" pitchFamily="34" charset="0"/>
                <a:ea typeface="Calibri" panose="020F0502020204030204" pitchFamily="34" charset="0"/>
                <a:cs typeface="Times New Roman" panose="02020603050405020304" pitchFamily="18" charset="0"/>
              </a:rPr>
              <a:t> lub </a:t>
            </a:r>
            <a:r>
              <a:rPr lang="pl-PL" sz="1400" b="1" dirty="0" err="1">
                <a:effectLst/>
                <a:latin typeface="Calibri" panose="020F0502020204030204" pitchFamily="34" charset="0"/>
                <a:ea typeface="Calibri" panose="020F0502020204030204" pitchFamily="34" charset="0"/>
                <a:cs typeface="Times New Roman" panose="02020603050405020304" pitchFamily="18" charset="0"/>
              </a:rPr>
              <a:t>deny</a:t>
            </a:r>
            <a:r>
              <a:rPr lang="pl-PL" sz="1400" dirty="0">
                <a:effectLst/>
                <a:latin typeface="Calibri" panose="020F0502020204030204" pitchFamily="34" charset="0"/>
                <a:ea typeface="Calibri" panose="020F0502020204030204" pitchFamily="34" charset="0"/>
                <a:cs typeface="Times New Roman" panose="02020603050405020304" pitchFamily="18" charset="0"/>
              </a:rPr>
              <a:t>. </a:t>
            </a:r>
            <a:endParaRPr lang="hr-HR"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00242161"/>
      </p:ext>
    </p:extLst>
  </p:cSld>
  <p:clrMapOvr>
    <a:masterClrMapping/>
  </p:clrMapOvr>
</p:sld>
</file>

<file path=ppt/theme/theme1.xml><?xml version="1.0" encoding="utf-8"?>
<a:theme xmlns:a="http://schemas.openxmlformats.org/drawingml/2006/main" name="Office Theme">
  <a:themeElements>
    <a:clrScheme name="WSB OK (rgb)">
      <a:dk1>
        <a:srgbClr val="002C58"/>
      </a:dk1>
      <a:lt1>
        <a:srgbClr val="FFFFFF"/>
      </a:lt1>
      <a:dk2>
        <a:srgbClr val="4DC0E2"/>
      </a:dk2>
      <a:lt2>
        <a:srgbClr val="ACDCEB"/>
      </a:lt2>
      <a:accent1>
        <a:srgbClr val="DC4261"/>
      </a:accent1>
      <a:accent2>
        <a:srgbClr val="002243"/>
      </a:accent2>
      <a:accent3>
        <a:srgbClr val="003D7B"/>
      </a:accent3>
      <a:accent4>
        <a:srgbClr val="005AB3"/>
      </a:accent4>
      <a:accent5>
        <a:srgbClr val="0061C2"/>
      </a:accent5>
      <a:accent6>
        <a:srgbClr val="006BD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f1dfd687-ce92-41e8-800b-11e03cd3205f" xsi:nil="true"/>
    <lcf76f155ced4ddcb4097134ff3c332f xmlns="cc32ea10-24d7-4ab8-908a-92053f695cd3">
      <Terms xmlns="http://schemas.microsoft.com/office/infopath/2007/PartnerControls"/>
    </lcf76f155ced4ddcb4097134ff3c332f>
    <MediaLengthInSeconds xmlns="cc32ea10-24d7-4ab8-908a-92053f695cd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C4838B074BD1B64DBED77476FBBDC7EA" ma:contentTypeVersion="16" ma:contentTypeDescription="Utwórz nowy dokument." ma:contentTypeScope="" ma:versionID="1faa9a61b868f0e42675a6eaccbd43e2">
  <xsd:schema xmlns:xsd="http://www.w3.org/2001/XMLSchema" xmlns:xs="http://www.w3.org/2001/XMLSchema" xmlns:p="http://schemas.microsoft.com/office/2006/metadata/properties" xmlns:ns2="cc32ea10-24d7-4ab8-908a-92053f695cd3" xmlns:ns3="f1dfd687-ce92-41e8-800b-11e03cd3205f" targetNamespace="http://schemas.microsoft.com/office/2006/metadata/properties" ma:root="true" ma:fieldsID="66a0292362dbd25a5142deeef0689148" ns2:_="" ns3:_="">
    <xsd:import namespace="cc32ea10-24d7-4ab8-908a-92053f695cd3"/>
    <xsd:import namespace="f1dfd687-ce92-41e8-800b-11e03cd3205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32ea10-24d7-4ab8-908a-92053f695cd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Tagi obrazów" ma:readOnly="false" ma:fieldId="{5cf76f15-5ced-4ddc-b409-7134ff3c332f}" ma:taxonomyMulti="true" ma:sspId="d134e4b8-377d-442c-b5bd-7a06feb52b36"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f1dfd687-ce92-41e8-800b-11e03cd3205f" elementFormDefault="qualified">
    <xsd:import namespace="http://schemas.microsoft.com/office/2006/documentManagement/types"/>
    <xsd:import namespace="http://schemas.microsoft.com/office/infopath/2007/PartnerControls"/>
    <xsd:element name="SharedWithUsers" ma:index="18" nillable="true" ma:displayName="Udostępniani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Udostępnione dla — szczegóły" ma:internalName="SharedWithDetails" ma:readOnly="true">
      <xsd:simpleType>
        <xsd:restriction base="dms:Note">
          <xsd:maxLength value="255"/>
        </xsd:restriction>
      </xsd:simpleType>
    </xsd:element>
    <xsd:element name="TaxCatchAll" ma:index="23" nillable="true" ma:displayName="Taxonomy Catch All Column" ma:hidden="true" ma:list="{515a6a51-fbed-4be8-95e3-b05eba715707}" ma:internalName="TaxCatchAll" ma:showField="CatchAllData" ma:web="f1dfd687-ce92-41e8-800b-11e03cd3205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27721F2-3FF2-4D2A-88BB-AF0BCAFEAA31}">
  <ds:schemaRefs>
    <ds:schemaRef ds:uri="http://schemas.microsoft.com/office/2006/metadata/properties"/>
    <ds:schemaRef ds:uri="http://schemas.microsoft.com/office/infopath/2007/PartnerControls"/>
    <ds:schemaRef ds:uri="f1dfd687-ce92-41e8-800b-11e03cd3205f"/>
    <ds:schemaRef ds:uri="cc32ea10-24d7-4ab8-908a-92053f695cd3"/>
  </ds:schemaRefs>
</ds:datastoreItem>
</file>

<file path=customXml/itemProps2.xml><?xml version="1.0" encoding="utf-8"?>
<ds:datastoreItem xmlns:ds="http://schemas.openxmlformats.org/officeDocument/2006/customXml" ds:itemID="{898D8022-2741-4431-94F1-7D2F6E0B93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c32ea10-24d7-4ab8-908a-92053f695cd3"/>
    <ds:schemaRef ds:uri="f1dfd687-ce92-41e8-800b-11e03cd320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85157BF-583F-48A4-B39C-8F058835DFA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319</TotalTime>
  <Words>683</Words>
  <Application>Microsoft Office PowerPoint</Application>
  <PresentationFormat>Niestandardowy</PresentationFormat>
  <Paragraphs>71</Paragraphs>
  <Slides>13</Slides>
  <Notes>1</Notes>
  <HiddenSlides>0</HiddenSlides>
  <MMClips>0</MMClips>
  <ScaleCrop>false</ScaleCrop>
  <HeadingPairs>
    <vt:vector size="6" baseType="variant">
      <vt:variant>
        <vt:lpstr>Używane czcionki</vt:lpstr>
      </vt:variant>
      <vt:variant>
        <vt:i4>7</vt:i4>
      </vt:variant>
      <vt:variant>
        <vt:lpstr>Motyw</vt:lpstr>
      </vt:variant>
      <vt:variant>
        <vt:i4>1</vt:i4>
      </vt:variant>
      <vt:variant>
        <vt:lpstr>Tytuły slajdów</vt:lpstr>
      </vt:variant>
      <vt:variant>
        <vt:i4>13</vt:i4>
      </vt:variant>
    </vt:vector>
  </HeadingPairs>
  <TitlesOfParts>
    <vt:vector size="21" baseType="lpstr">
      <vt:lpstr>Arial</vt:lpstr>
      <vt:lpstr>Calibri</vt:lpstr>
      <vt:lpstr>Calibri Light</vt:lpstr>
      <vt:lpstr>Courier New</vt:lpstr>
      <vt:lpstr>Georgia</vt:lpstr>
      <vt:lpstr>Symbol</vt:lpstr>
      <vt:lpstr>Times New Roman</vt:lpstr>
      <vt:lpstr>Office Theme</vt:lpstr>
      <vt:lpstr>Materiał dydaktyczny   Głównym celem stosowania list kontroli dostępu (ang. Access Control List) jest kontrola i ograniczenie ruchu sieciowego, przechodzącego poprzez routery.       Poprzez ich zastosowanie możemy wpłynąć nie tylko na podniesienie poziomu bezpieczeństwa naszej sieci, ale również na poprawę jej wydajności. Kontrolowanie i filtrowanie ruchu sieciowego to bardzo odpowiedzialne zadanie każdego administratora, który decyduje jaki typ ruchu będzie przepuszczany przez router, a jaki blokowany. </vt:lpstr>
      <vt:lpstr>zadania</vt:lpstr>
      <vt:lpstr>ACL</vt:lpstr>
      <vt:lpstr>Moduł 2</vt:lpstr>
      <vt:lpstr>TEMATYKA MODUŁU 2</vt:lpstr>
      <vt:lpstr>Standardowe ACL</vt:lpstr>
      <vt:lpstr>Standardowe ACL </vt:lpstr>
      <vt:lpstr>Standardowe ACL</vt:lpstr>
      <vt:lpstr>ROZSZERZONE ACL</vt:lpstr>
      <vt:lpstr>Rozszerzone ACL  </vt:lpstr>
      <vt:lpstr>Rozszerzone ACL</vt:lpstr>
      <vt:lpstr>Nazywane ACL </vt:lpstr>
      <vt:lpstr>NAZWA ACL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Slajd 1</dc:title>
  <dc:creator>akornowska</dc:creator>
  <cp:lastModifiedBy>Jerzy Kluczewski</cp:lastModifiedBy>
  <cp:revision>17</cp:revision>
  <dcterms:modified xsi:type="dcterms:W3CDTF">2026-09-28T15:45:44Z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0x010100C4838B074BD1B64DBED77476FBBDC7EA</vt:lpwstr>
  </property>
  <property fmtid="{D5CDD505-2E9C-101B-9397-08002B2CF9AE}" pid="3" name="MediaServiceImageTags">
    <vt:lpwstr/>
  </property>
</Properties>
</file>