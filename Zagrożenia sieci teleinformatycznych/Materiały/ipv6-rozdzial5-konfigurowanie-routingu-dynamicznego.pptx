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  <p:sldMasterId id="2147484052" r:id="rId2"/>
    <p:sldMasterId id="2147484088" r:id="rId3"/>
  </p:sldMasterIdLst>
  <p:notesMasterIdLst>
    <p:notesMasterId r:id="rId13"/>
  </p:notesMasterIdLst>
  <p:sldIdLst>
    <p:sldId id="513" r:id="rId4"/>
    <p:sldId id="881" r:id="rId5"/>
    <p:sldId id="882" r:id="rId6"/>
    <p:sldId id="883" r:id="rId7"/>
    <p:sldId id="880" r:id="rId8"/>
    <p:sldId id="884" r:id="rId9"/>
    <p:sldId id="885" r:id="rId10"/>
    <p:sldId id="886" r:id="rId11"/>
    <p:sldId id="887" r:id="rId12"/>
  </p:sldIdLst>
  <p:sldSz cx="9144000" cy="5143500" type="screen16x9"/>
  <p:notesSz cx="6858000" cy="9144000"/>
  <p:custDataLst>
    <p:tags r:id="rId14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7E9EB"/>
    <a:srgbClr val="592A8A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8" autoAdjust="0"/>
    <p:restoredTop sz="84371" autoAdjust="0"/>
  </p:normalViewPr>
  <p:slideViewPr>
    <p:cSldViewPr snapToGrid="0" showGuides="1">
      <p:cViewPr varScale="1">
        <p:scale>
          <a:sx n="76" d="100"/>
          <a:sy n="76" d="100"/>
        </p:scale>
        <p:origin x="114" y="696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2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626482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3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555383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4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4220197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5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4258114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6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542739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7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4280074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8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9791978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9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777349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Materiały pomocnicze dla nauczyciela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pl-PL" dirty="0"/>
              <a:t>Materiały </a:t>
            </a:r>
            <a:r>
              <a:rPr lang="pl-PL" dirty="0" err="1"/>
              <a:t>pomo</a:t>
            </a:r>
            <a:endParaRPr lang="en-US" dirty="0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tx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C0372AD6-69D1-423C-9C52-069BAA95B6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501" y="214186"/>
            <a:ext cx="2285271" cy="50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725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3263D56B-0888-430C-B990-3146506F0C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1" y="75185"/>
            <a:ext cx="1444499" cy="31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6866311" y="4770153"/>
            <a:ext cx="16365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2022 Wydawnictwo informatyczne ITSTART</a:t>
            </a:r>
          </a:p>
        </p:txBody>
      </p:sp>
      <p:pic>
        <p:nvPicPr>
          <p:cNvPr id="3" name="Obraz 2" descr="Obraz zawierający tekst, clipart&#10;&#10;Opis wygenerowany automatycznie">
            <a:extLst>
              <a:ext uri="{FF2B5EF4-FFF2-40B4-BE49-F238E27FC236}">
                <a16:creationId xmlns:a16="http://schemas.microsoft.com/office/drawing/2014/main" id="{15C82B64-3913-47C0-8D1B-D06D2F2DDC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63" y="4752678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15="http://schemas.microsoft.com/office/drawing/2012/chart" xmlns:c="http://schemas.openxmlformats.org/drawingml/2006/chart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pl-PL" dirty="0">
                <a:sym typeface="Arial" pitchFamily="34" charset="0"/>
              </a:rPr>
              <a:t>Tytuł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Wydawnictwo informatyczne ITSTART. Piekary Śląskie.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320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56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54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015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68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652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3729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0860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391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7668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14134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9436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72861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0732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7287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9958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3263D56B-0888-430C-B990-3146506F0C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1" y="75185"/>
            <a:ext cx="1444499" cy="31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37017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>
          <p15:clr>
            <a:srgbClr val="FBAE40"/>
          </p15:clr>
        </p15:guide>
        <p15:guide id="2" pos="360">
          <p15:clr>
            <a:srgbClr val="FBAE40"/>
          </p15:clr>
        </p15:guide>
        <p15:guide id="3" orient="horz" pos="518">
          <p15:clr>
            <a:srgbClr val="FBAE40"/>
          </p15:clr>
        </p15:guide>
        <p15:guide id="4" pos="812">
          <p15:clr>
            <a:srgbClr val="FBAE40"/>
          </p15:clr>
        </p15:guide>
        <p15:guide id="5" pos="31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pl-PL" dirty="0">
                <a:sym typeface="Arial" pitchFamily="34" charset="0"/>
              </a:rPr>
              <a:t>Tytuł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072825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497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2919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876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8842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6390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5662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0579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5247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03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1453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88386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6288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24452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9710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888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504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</a:t>
            </a:r>
            <a:r>
              <a:rPr lang="pl-PL" altLang="en-US" dirty="0"/>
              <a:t>y</a:t>
            </a:r>
            <a:r>
              <a:rPr lang="en-GB" altLang="en-US" dirty="0"/>
              <a:t>t</a:t>
            </a:r>
            <a:r>
              <a:rPr lang="pl-PL" altLang="en-US" dirty="0" err="1"/>
              <a:t>uł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6312365" y="4760160"/>
            <a:ext cx="2203342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600" dirty="0">
                <a:solidFill>
                  <a:srgbClr val="000000"/>
                </a:solidFill>
                <a:latin typeface="+mn-lt"/>
                <a:ea typeface="+mn-ea"/>
                <a:cs typeface="CiscoSans Thin"/>
              </a:rPr>
              <a:t>Wydawnictwo informatyczne ITSTART. Piekary Śląskie 2022</a:t>
            </a:r>
          </a:p>
        </p:txBody>
      </p:sp>
      <p:pic>
        <p:nvPicPr>
          <p:cNvPr id="3" name="Obraz 2" descr="Obraz zawierający tekst, clipart&#10;&#10;Opis wygenerowany automatycznie">
            <a:extLst>
              <a:ext uri="{FF2B5EF4-FFF2-40B4-BE49-F238E27FC236}">
                <a16:creationId xmlns:a16="http://schemas.microsoft.com/office/drawing/2014/main" id="{E5B5301B-6235-4A25-A36C-8EA275ACAD1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29" r:id="rId10"/>
    <p:sldLayoutId id="2147484031" r:id="rId11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36" name="Obraz 35" descr="Obraz zawierający tekst, clipart&#10;&#10;Opis wygenerowany automatycznie">
            <a:extLst>
              <a:ext uri="{FF2B5EF4-FFF2-40B4-BE49-F238E27FC236}">
                <a16:creationId xmlns:a16="http://schemas.microsoft.com/office/drawing/2014/main" id="{AAC7B974-11C0-4587-86D9-0AE7E9B22CD8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69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  <p:sldLayoutId id="2147484066" r:id="rId14"/>
    <p:sldLayoutId id="2147484067" r:id="rId15"/>
    <p:sldLayoutId id="2147484068" r:id="rId16"/>
    <p:sldLayoutId id="2147484069" r:id="rId17"/>
    <p:sldLayoutId id="2147484070" r:id="rId18"/>
  </p:sldLayoutIdLst>
  <p:transition spd="slow">
    <p:wipe/>
  </p:transition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36" name="Obraz 35" descr="Obraz zawierający tekst, clipart&#10;&#10;Opis wygenerowany automatycznie">
            <a:extLst>
              <a:ext uri="{FF2B5EF4-FFF2-40B4-BE49-F238E27FC236}">
                <a16:creationId xmlns:a16="http://schemas.microsoft.com/office/drawing/2014/main" id="{B2296D36-0F82-45C9-A20F-0B5EA813DF71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9" r:id="rId1"/>
    <p:sldLayoutId id="2147484090" r:id="rId2"/>
    <p:sldLayoutId id="2147484091" r:id="rId3"/>
    <p:sldLayoutId id="2147484092" r:id="rId4"/>
    <p:sldLayoutId id="2147484093" r:id="rId5"/>
    <p:sldLayoutId id="2147484094" r:id="rId6"/>
    <p:sldLayoutId id="2147484095" r:id="rId7"/>
    <p:sldLayoutId id="2147484096" r:id="rId8"/>
    <p:sldLayoutId id="2147484097" r:id="rId9"/>
    <p:sldLayoutId id="2147484098" r:id="rId10"/>
    <p:sldLayoutId id="2147484099" r:id="rId11"/>
    <p:sldLayoutId id="2147484100" r:id="rId12"/>
    <p:sldLayoutId id="2147484101" r:id="rId13"/>
    <p:sldLayoutId id="2147484102" r:id="rId14"/>
    <p:sldLayoutId id="2147484103" r:id="rId15"/>
    <p:sldLayoutId id="2147484104" r:id="rId16"/>
  </p:sldLayoutIdLst>
  <p:transition spd="slow">
    <p:wipe/>
  </p:transition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 anchor="b">
            <a:normAutofit/>
          </a:bodyPr>
          <a:lstStyle/>
          <a:p>
            <a:pPr rtl="0"/>
            <a:endParaRPr lang="pl-PL" dirty="0"/>
          </a:p>
          <a:p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280CE95-EC57-C26B-CEE6-1295A117D5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pl-PL" dirty="0"/>
              <a:t>Wydawnictwo informatyczne ITSTART.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329CD50-6EE0-2D6D-39C2-5E1BF9E5A1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pl-PL" dirty="0"/>
              <a:t>2022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rtl="0"/>
            <a:r>
              <a:rPr lang="pl-PL" sz="1400" dirty="0"/>
              <a:t>Materiały pomocnicze dla nauczyciela</a:t>
            </a:r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25765" y="1843914"/>
            <a:ext cx="8604880" cy="1101566"/>
          </a:xfrm>
        </p:spPr>
        <p:txBody>
          <a:bodyPr wrap="square" anchor="b">
            <a:normAutofit/>
          </a:bodyPr>
          <a:lstStyle/>
          <a:p>
            <a:pPr rtl="0"/>
            <a:r>
              <a:rPr lang="pl-PL" dirty="0"/>
              <a:t>KONFIGUROWANIE ROUTINGU DYNAMICZNEGO W IPv6</a:t>
            </a:r>
          </a:p>
        </p:txBody>
      </p:sp>
      <p:sp>
        <p:nvSpPr>
          <p:cNvPr id="9" name="Subtitle 6">
            <a:extLst>
              <a:ext uri="{FF2B5EF4-FFF2-40B4-BE49-F238E27FC236}">
                <a16:creationId xmlns:a16="http://schemas.microsoft.com/office/drawing/2014/main" id="{A5D0D1B7-8AD8-69E1-87C5-5834889AAE00}"/>
              </a:ext>
            </a:extLst>
          </p:cNvPr>
          <p:cNvSpPr>
            <a:spLocks noGrp="1"/>
          </p:cNvSpPr>
          <p:nvPr/>
        </p:nvSpPr>
        <p:spPr>
          <a:xfrm>
            <a:off x="2412447" y="2427685"/>
            <a:ext cx="4319105" cy="288131"/>
          </a:xfrm>
          <a:prstGeom prst="rect">
            <a:avLst/>
          </a:prstGeom>
        </p:spPr>
        <p:txBody>
          <a:bodyPr vert="horz" lIns="91420" tIns="45710" rIns="91420" bIns="45710" rtlCol="0" anchor="b" anchorCtr="0">
            <a:normAutofit/>
          </a:bodyPr>
          <a:lstStyle>
            <a:lvl1pPr marL="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b="0" i="0" kern="1200">
                <a:solidFill>
                  <a:schemeClr val="accent5"/>
                </a:solidFill>
                <a:latin typeface="+mn-lt"/>
                <a:ea typeface="+mn-ea"/>
                <a:cs typeface="CiscoSans"/>
              </a:defRPr>
            </a:lvl1pPr>
            <a:lvl2pPr marL="342856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72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579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441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297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161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02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2882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0" name="Subtitle 6">
            <a:extLst>
              <a:ext uri="{FF2B5EF4-FFF2-40B4-BE49-F238E27FC236}">
                <a16:creationId xmlns:a16="http://schemas.microsoft.com/office/drawing/2014/main" id="{4CBD4BB0-242C-8EC3-15AE-98BC1A0472BF}"/>
              </a:ext>
            </a:extLst>
          </p:cNvPr>
          <p:cNvSpPr>
            <a:spLocks noGrp="1"/>
          </p:cNvSpPr>
          <p:nvPr/>
        </p:nvSpPr>
        <p:spPr>
          <a:xfrm>
            <a:off x="592463" y="3641393"/>
            <a:ext cx="4319105" cy="288131"/>
          </a:xfrm>
          <a:prstGeom prst="rect">
            <a:avLst/>
          </a:prstGeom>
        </p:spPr>
        <p:txBody>
          <a:bodyPr vert="horz" lIns="91420" tIns="45710" rIns="91420" bIns="45710" rtlCol="0" anchor="b" anchorCtr="0">
            <a:normAutofit/>
          </a:bodyPr>
          <a:lstStyle>
            <a:lvl1pPr marL="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b="0" i="0" kern="1200">
                <a:solidFill>
                  <a:schemeClr val="accent5"/>
                </a:solidFill>
                <a:latin typeface="+mn-lt"/>
                <a:ea typeface="+mn-ea"/>
                <a:cs typeface="CiscoSans"/>
              </a:defRPr>
            </a:lvl1pPr>
            <a:lvl2pPr marL="342856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72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579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441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297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161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02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2882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C0BAB8C-3483-2260-674F-4ED565F3162B}"/>
              </a:ext>
            </a:extLst>
          </p:cNvPr>
          <p:cNvSpPr txBox="1">
            <a:spLocks/>
          </p:cNvSpPr>
          <p:nvPr/>
        </p:nvSpPr>
        <p:spPr>
          <a:xfrm>
            <a:off x="469496" y="3713594"/>
            <a:ext cx="4319105" cy="288131"/>
          </a:xfrm>
          <a:prstGeom prst="rect">
            <a:avLst/>
          </a:prstGeom>
        </p:spPr>
        <p:txBody>
          <a:bodyPr vert="horz" lIns="91420" tIns="45710" rIns="91420" bIns="45710" rtlCol="0">
            <a:normAutofit fontScale="85000" lnSpcReduction="20000"/>
          </a:bodyPr>
          <a:lstStyle>
            <a:lvl1pPr marL="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Laboratorium IPV6 – materiał pomocniczy</a:t>
            </a:r>
            <a:endParaRPr lang="pl-PL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 err="1"/>
              <a:t>RIPng</a:t>
            </a:r>
            <a:endParaRPr lang="pl-PL" dirty="0"/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6632864" cy="3643313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Protokół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RIPng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pl-PL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ang.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RIP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generation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jest rozszerzeniem protokołu RIPV2 wspomagającym adresację  IPV6.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RIPng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nie oferuje uwierzytelniania. W celu uzyskania uwierzytelniania należy stosować protokół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IPsec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Posiada te samo ograniczenie dotyczące maksymalnej liczby przeskoków co RIPV2, czyli 15. Do wymiany komunikatów przenoszących informacje o aktualizacji protokołu używa adresu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multicastowego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FF02::9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29767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EIGRPV6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6632864" cy="3643313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Protokół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EIGRPV6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obsługuje routing dynamiczny EIGRP dla sieci IPV4 oraz IPV6 i jest oparty o algorytm DUAL (</a:t>
            </a:r>
            <a:r>
              <a:rPr lang="pl-PL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ang.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Diffusing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Update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Algorithm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Do wymiany komunikatów przenoszących informacje o aktualizacji protokołu używa adresu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multicastowego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FF02::A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Wersja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EIGRPV6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nie odnosi się do szóstej wersji protokołu EIGRP, jest to tylko ulepszona wersja wspierająca protokół IPv6.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Protokół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EIGRPV6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wymaga aby wartość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router-id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została skonfigurowana statycznie bądź przyznana dynamiczne (na podstawie interfejsów sieciowych skonfigurowanych z wykorzystaniem protokołu IPv4).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401815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OSPFV3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Protokół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OSPFV3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obsługuje routing dynamiczny OSPF dla IPV6 i jest oparty o algorytm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Dijkstry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Do wymiany komunikatów przenoszących informacje o aktualizacji protokołu używa adresu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multicastowego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FF02::5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oraz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FF02::6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Protokół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OSPFV3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nie posiada wbudowanej możliwości uwierzytelniania wysyłanych oraz odbieranych komunikatów, ale wspiera protokół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IPsec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Uwierzytelnianie protokołu OSPFv3 za pomocą protokołu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IPsec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wymaga skonfigurowania wartości identyfikatora SPI (</a:t>
            </a:r>
            <a:r>
              <a:rPr lang="pl-PL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ang.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Security Policy Index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oraz klucza składającego się z samych liczb o długości trzydziestu dwóch bitów dla algorytmu MD5 bądź czterdziestu bitów dla algorytmu SHA1. Cisco zaleca konfigurację uwierzytelniania protokołu OSPFv3 za pomocą protokołu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IPsec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z poziomu interfejsu.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204540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WARTOŚCI AD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3897221" cy="36433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RIPNG</a:t>
            </a: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EIGRPV6</a:t>
            </a:r>
          </a:p>
          <a:p>
            <a:pPr marL="342900" lvl="0" indent="-34290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Font typeface="Symbol" panose="05050102010706020507" pitchFamily="18" charset="2"/>
              <a:buChar char=""/>
            </a:pP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OSPFV3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B28FDC7-BF70-4B6C-924A-7B216A34737F}"/>
              </a:ext>
            </a:extLst>
          </p:cNvPr>
          <p:cNvGraphicFramePr>
            <a:graphicFrameLocks noGrp="1"/>
          </p:cNvGraphicFramePr>
          <p:nvPr/>
        </p:nvGraphicFramePr>
        <p:xfrm>
          <a:off x="5063378" y="2239456"/>
          <a:ext cx="3066157" cy="853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2080">
                  <a:extLst>
                    <a:ext uri="{9D8B030D-6E8A-4147-A177-3AD203B41FA5}">
                      <a16:colId xmlns:a16="http://schemas.microsoft.com/office/drawing/2014/main" val="2667605625"/>
                    </a:ext>
                  </a:extLst>
                </a:gridCol>
                <a:gridCol w="1774077">
                  <a:extLst>
                    <a:ext uri="{9D8B030D-6E8A-4147-A177-3AD203B41FA5}">
                      <a16:colId xmlns:a16="http://schemas.microsoft.com/office/drawing/2014/main" val="3724517800"/>
                    </a:ext>
                  </a:extLst>
                </a:gridCol>
              </a:tblGrid>
              <a:tr h="189388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1200"/>
                        </a:spcAft>
                      </a:pPr>
                      <a:r>
                        <a:rPr lang="pl-PL" sz="1400">
                          <a:effectLst/>
                        </a:rPr>
                        <a:t>Protokół</a:t>
                      </a:r>
                      <a:endParaRPr lang="pl-PL" sz="1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1200"/>
                        </a:spcAft>
                      </a:pPr>
                      <a:r>
                        <a:rPr lang="pl-PL" sz="1400">
                          <a:effectLst/>
                        </a:rPr>
                        <a:t>Wartość AD</a:t>
                      </a:r>
                      <a:endParaRPr lang="pl-PL" sz="1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1622144"/>
                  </a:ext>
                </a:extLst>
              </a:tr>
              <a:tr h="189388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1200"/>
                        </a:spcAft>
                      </a:pPr>
                      <a:r>
                        <a:rPr lang="pl-PL" sz="1400">
                          <a:effectLst/>
                        </a:rPr>
                        <a:t>RIPng</a:t>
                      </a:r>
                      <a:endParaRPr lang="pl-PL" sz="1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1200"/>
                        </a:spcAft>
                      </a:pPr>
                      <a:r>
                        <a:rPr lang="pl-PL" sz="1400">
                          <a:effectLst/>
                        </a:rPr>
                        <a:t>120</a:t>
                      </a:r>
                      <a:endParaRPr lang="pl-PL" sz="1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060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1200"/>
                        </a:spcAft>
                      </a:pPr>
                      <a:r>
                        <a:rPr lang="pl-PL" sz="1400">
                          <a:effectLst/>
                        </a:rPr>
                        <a:t>EIGRPV6</a:t>
                      </a:r>
                      <a:endParaRPr lang="pl-PL" sz="1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1200"/>
                        </a:spcAft>
                      </a:pPr>
                      <a:r>
                        <a:rPr lang="pl-PL" sz="1400">
                          <a:effectLst/>
                        </a:rPr>
                        <a:t>90</a:t>
                      </a:r>
                      <a:endParaRPr lang="pl-PL" sz="1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6982536"/>
                  </a:ext>
                </a:extLst>
              </a:tr>
              <a:tr h="189388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1200"/>
                        </a:spcAft>
                      </a:pPr>
                      <a:r>
                        <a:rPr lang="pl-PL" sz="1400">
                          <a:effectLst/>
                        </a:rPr>
                        <a:t>OSPFV3</a:t>
                      </a:r>
                      <a:endParaRPr lang="pl-PL" sz="1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1200"/>
                        </a:spcAft>
                      </a:pPr>
                      <a:r>
                        <a:rPr lang="pl-PL" sz="1400" dirty="0">
                          <a:effectLst/>
                        </a:rPr>
                        <a:t>110</a:t>
                      </a:r>
                      <a:endParaRPr lang="pl-PL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0586466"/>
                  </a:ext>
                </a:extLst>
              </a:tr>
            </a:tbl>
          </a:graphicData>
        </a:graphic>
      </p:graphicFrame>
      <p:sp>
        <p:nvSpPr>
          <p:cNvPr id="6" name="pole tekstowe 5">
            <a:extLst>
              <a:ext uri="{FF2B5EF4-FFF2-40B4-BE49-F238E27FC236}">
                <a16:creationId xmlns:a16="http://schemas.microsoft.com/office/drawing/2014/main" id="{85471C14-6C16-421C-86BF-572E3DDFC8F4}"/>
              </a:ext>
            </a:extLst>
          </p:cNvPr>
          <p:cNvSpPr txBox="1"/>
          <p:nvPr/>
        </p:nvSpPr>
        <p:spPr>
          <a:xfrm>
            <a:off x="4549329" y="663456"/>
            <a:ext cx="4617342" cy="1496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Wartości standardowych odległości administracyjnych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 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l-PL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ang.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dministrative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istance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dla podstawowych protokołów zostały przedstawione w poniższej tabeli.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35499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Metryki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D0E4CF3-2F94-4141-8F95-39F54E99E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793" y="0"/>
            <a:ext cx="6022413" cy="5143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5664826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Podstawowe polecenia dla </a:t>
            </a:r>
            <a:r>
              <a:rPr lang="pl-PL" dirty="0" err="1"/>
              <a:t>RIPng</a:t>
            </a:r>
            <a:endParaRPr lang="pl-PL" dirty="0"/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359996" y="829174"/>
            <a:ext cx="6632864" cy="3643313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unicast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-routing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router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rip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ID-PROCESU-RIP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maximum-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patch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LICZBA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INTERFEJS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enable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rip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ID-PROCESU-RIP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enable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show  ipv6 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route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show  ipv6 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route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rip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show  ipv6 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protocols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show  ipv6 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rip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show  ipv6 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rip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next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-hops</a:t>
            </a: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None/>
            </a:pP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636102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Podstawowe polecenia dla EIGRPV6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359996" y="829174"/>
            <a:ext cx="6632864" cy="364331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unicast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-routing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router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eigrp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ASN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router-id  RID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INTERFEJS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enable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eigrp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ASN</a:t>
            </a: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None/>
            </a:pP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F18F73ED-83CF-49DD-B543-6C9954486A77}"/>
              </a:ext>
            </a:extLst>
          </p:cNvPr>
          <p:cNvSpPr txBox="1"/>
          <p:nvPr/>
        </p:nvSpPr>
        <p:spPr>
          <a:xfrm>
            <a:off x="2032840" y="3891868"/>
            <a:ext cx="3916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RD – Router ID</a:t>
            </a:r>
          </a:p>
          <a:p>
            <a:r>
              <a:rPr lang="pl-PL" dirty="0"/>
              <a:t>ASN – </a:t>
            </a:r>
            <a:r>
              <a:rPr lang="pl-PL" dirty="0" err="1"/>
              <a:t>Autonomous</a:t>
            </a:r>
            <a:r>
              <a:rPr lang="pl-PL" dirty="0"/>
              <a:t> System </a:t>
            </a:r>
            <a:r>
              <a:rPr lang="pl-PL" dirty="0" err="1"/>
              <a:t>Number</a:t>
            </a:r>
            <a:endParaRPr lang="pl-P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648780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Podstawowe polecenia dla OSPFV3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359996" y="829174"/>
            <a:ext cx="6632864" cy="4052664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unicast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-routing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router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ospf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ASN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router-id RID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INTERFEJS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ospfv3 ipv6 ASN 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area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NR-STREFY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enable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show 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ospf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show 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ospf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ASN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show 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ospf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border-routers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show 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ospf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show 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ospf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show 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ospf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neighbor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None/>
            </a:pP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9379008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Neon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Smuga">
  <a:themeElements>
    <a:clrScheme name="Smuga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mug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uga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2_Smuga">
  <a:themeElements>
    <a:clrScheme name="Smuga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mug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uga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12398</TotalTime>
  <Words>472</Words>
  <Application>Microsoft Office PowerPoint</Application>
  <PresentationFormat>Pokaz na ekranie (16:9)</PresentationFormat>
  <Paragraphs>96</Paragraphs>
  <Slides>9</Slides>
  <Notes>9</Notes>
  <HiddenSlides>8</HiddenSlides>
  <MMClips>0</MMClips>
  <ScaleCrop>false</ScaleCrop>
  <HeadingPairs>
    <vt:vector size="6" baseType="variant">
      <vt:variant>
        <vt:lpstr>Używane czcionki</vt:lpstr>
      </vt:variant>
      <vt:variant>
        <vt:i4>8</vt:i4>
      </vt:variant>
      <vt:variant>
        <vt:lpstr>Motyw</vt:lpstr>
      </vt:variant>
      <vt:variant>
        <vt:i4>3</vt:i4>
      </vt:variant>
      <vt:variant>
        <vt:lpstr>Tytuły slajdów</vt:lpstr>
      </vt:variant>
      <vt:variant>
        <vt:i4>9</vt:i4>
      </vt:variant>
    </vt:vector>
  </HeadingPairs>
  <TitlesOfParts>
    <vt:vector size="20" baseType="lpstr">
      <vt:lpstr>Arial</vt:lpstr>
      <vt:lpstr>Calibri</vt:lpstr>
      <vt:lpstr>Century Gothic</vt:lpstr>
      <vt:lpstr>CiscoSans ExtraLight</vt:lpstr>
      <vt:lpstr>Courier New</vt:lpstr>
      <vt:lpstr>Symbol</vt:lpstr>
      <vt:lpstr>Times New Roman</vt:lpstr>
      <vt:lpstr>Wingdings 3</vt:lpstr>
      <vt:lpstr>Default Theme</vt:lpstr>
      <vt:lpstr>Smuga</vt:lpstr>
      <vt:lpstr>2_Smuga</vt:lpstr>
      <vt:lpstr>KONFIGUROWANIE ROUTINGU DYNAMICZNEGO W IPv6</vt:lpstr>
      <vt:lpstr>RIPng</vt:lpstr>
      <vt:lpstr>EIGRPV6</vt:lpstr>
      <vt:lpstr>OSPFV3</vt:lpstr>
      <vt:lpstr>WARTOŚCI AD</vt:lpstr>
      <vt:lpstr>Metryki</vt:lpstr>
      <vt:lpstr>Podstawowe polecenia dla RIPng</vt:lpstr>
      <vt:lpstr>Podstawowe polecenia dla EIGRPV6</vt:lpstr>
      <vt:lpstr>Podstawowe polecenia dla OSPFV3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Jerzy Kluczewski</cp:lastModifiedBy>
  <cp:revision>403</cp:revision>
  <dcterms:created xsi:type="dcterms:W3CDTF">2019-10-18T06:21:22Z</dcterms:created>
  <dcterms:modified xsi:type="dcterms:W3CDTF">2022-11-21T21:15:07Z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