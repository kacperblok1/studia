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>
            <a:extLst>
              <a:ext uri="{FF2B5EF4-FFF2-40B4-BE49-F238E27FC236}">
                <a16:creationId xmlns:a16="http://schemas.microsoft.com/office/drawing/2014/main" id="{FF279753-FD18-33DE-C775-98FC543921B4}"/>
              </a:ext>
            </a:extLst>
          </p:cNvPr>
          <p:cNvSpPr/>
          <p:nvPr/>
        </p:nvSpPr>
        <p:spPr>
          <a:xfrm>
            <a:off x="-1" y="202130"/>
            <a:ext cx="12002703" cy="59093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l-PL" sz="54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Podstawowe założenia</a:t>
            </a:r>
          </a:p>
          <a:p>
            <a:pPr algn="ctr"/>
            <a:endParaRPr lang="pl-PL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pl-PL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 Adres IPv4 składa się z 32 bitów</a:t>
            </a:r>
          </a:p>
          <a:p>
            <a:pPr algn="ctr"/>
            <a:r>
              <a:rPr lang="hr-HR" sz="5400" dirty="0"/>
              <a:t>2. </a:t>
            </a:r>
            <a:r>
              <a:rPr lang="hr-HR" sz="5400" b="1" dirty="0"/>
              <a:t>CZĘŚĆ SIECIOWA</a:t>
            </a:r>
            <a:r>
              <a:rPr lang="hr-HR" sz="5400" dirty="0"/>
              <a:t>+CZĘŚĆ HOSTA</a:t>
            </a:r>
          </a:p>
          <a:p>
            <a:pPr algn="ctr"/>
            <a:r>
              <a:rPr lang="hr-HR" sz="5400" dirty="0"/>
              <a:t>3. </a:t>
            </a:r>
            <a:r>
              <a:rPr lang="hr-HR" sz="5400" b="1" dirty="0"/>
              <a:t>MASKA PODSIECI</a:t>
            </a:r>
            <a:r>
              <a:rPr lang="hr-HR" sz="5400" dirty="0"/>
              <a:t> WYZNACZA </a:t>
            </a:r>
          </a:p>
          <a:p>
            <a:pPr algn="ctr"/>
            <a:r>
              <a:rPr lang="hr-HR" sz="5400" dirty="0"/>
              <a:t>MIEJSCE PODZIAŁU PODSIEĆ+HOST</a:t>
            </a:r>
          </a:p>
          <a:p>
            <a:pPr algn="ctr"/>
            <a:r>
              <a:rPr lang="hr-HR" sz="5400" dirty="0"/>
              <a:t>4. DWA ADRESY SĄ </a:t>
            </a:r>
            <a:r>
              <a:rPr lang="hr-HR" sz="5400" b="1" dirty="0"/>
              <a:t>ZAREZERWOWANE</a:t>
            </a:r>
            <a:endParaRPr lang="pl-PL" sz="5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69358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6209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</a:defRPr>
            </a:pPr>
            <a:r>
              <a:rPr dirty="0"/>
              <a:t>IPv4 CIDR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Kolorowe bity • maski • osie zakresów • przykłady krok po kroku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002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79576" y="16002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17904" y="16002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56232" y="16002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16002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32887" y="16002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1215" y="16002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9544" y="16002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47872" y="16002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16002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16002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2855" y="16002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01183" y="16002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39512" y="16002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16002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16168" y="16002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496" y="16002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92824" y="16002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31152" y="16002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16002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07808" y="16002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46136" y="16002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84464" y="16002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22792" y="16002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0" y="16002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99448" y="16002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37776" y="16002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76104" y="16002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14432" y="16002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652760" y="16002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91088" y="16002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213055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86EBE"/>
                </a:solidFill>
              </a:defRPr>
            </a:pPr>
            <a:r>
              <a:rPr dirty="0"/>
              <a:t>CZĘŚĆ SIECIOWA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86216" y="22860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965F"/>
                </a:solidFill>
              </a:defRPr>
            </a:pPr>
            <a:r>
              <a:rPr dirty="0"/>
              <a:t>CZĘŚĆ HOSTA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0" y="27432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2263F"/>
                </a:solidFill>
              </a:defRPr>
            </a:pPr>
            <a:r>
              <a:t>NIEBIESKI = bity sieci | ZIELONY = bity hosta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365760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0">
                <a:solidFill>
                  <a:srgbClr val="191919"/>
                </a:solidFill>
              </a:defRPr>
            </a:pPr>
            <a:r>
              <a:t>W prezentacji zastosowano 3 sposoby patrzenia na ten sam problem: bity → maska → zakres adresów.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</a:defRPr>
            </a:pPr>
            <a:r>
              <a:t>/30 — tylko 2 bity hosta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Idealny przykład do pokazania małych podsieci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2344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79576" y="12344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17904" y="12344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56232" y="12344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12344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32887" y="12344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1215" y="12344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9544" y="12344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47872" y="12344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12344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12344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2855" y="12344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01183" y="12344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39512" y="12344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12344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16168" y="12344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496" y="12344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92824" y="12344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31152" y="12344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12344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07808" y="12344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46136" y="12344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84464" y="12344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22792" y="12344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0" y="12344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99448" y="12344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37776" y="12344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76104" y="12344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14432" y="12344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652760" y="123444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91088" y="123444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176479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86EBE"/>
                </a:solidFill>
              </a:defRPr>
            </a:pPr>
            <a:r>
              <a:t>CZĘŚĆ SIECIOWA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61319" y="1786199"/>
            <a:ext cx="14081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965F"/>
                </a:solidFill>
              </a:defRPr>
            </a:pPr>
            <a:r>
              <a:rPr dirty="0"/>
              <a:t>CZĘŚĆ HOSTA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2331720"/>
            <a:ext cx="219456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255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304495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Oktet 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2331720"/>
            <a:ext cx="219456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255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304495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Oktet 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26480" y="2331720"/>
            <a:ext cx="219456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255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304495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Oktet 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61120" y="2304288"/>
            <a:ext cx="219456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rPr dirty="0">
                <a:solidFill>
                  <a:srgbClr val="FF0000"/>
                </a:solidFill>
              </a:rPr>
              <a:t>252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304495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Oktet 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365760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2263F"/>
                </a:solidFill>
              </a:defRPr>
            </a:pPr>
            <a:r>
              <a:t>2 bity hosta → 2² = 4 adresy → 2 użyteczne hosty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41879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86EBE"/>
                </a:solidFill>
              </a:defRPr>
            </a:pPr>
            <a:r>
              <a:t>192.168.10.0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12680" y="41879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CD4141"/>
                </a:solidFill>
              </a:defRPr>
            </a:pPr>
            <a:r>
              <a:t>192.168.10.3</a:t>
            </a:r>
          </a:p>
        </p:txBody>
      </p:sp>
      <p:sp>
        <p:nvSpPr>
          <p:cNvPr id="50" name="Oval 49"/>
          <p:cNvSpPr/>
          <p:nvPr/>
        </p:nvSpPr>
        <p:spPr>
          <a:xfrm>
            <a:off x="566928" y="4425696"/>
            <a:ext cx="274320" cy="274320"/>
          </a:xfrm>
          <a:prstGeom prst="ellipse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7504" y="4828032"/>
            <a:ext cx="171951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86EBE"/>
                </a:solidFill>
              </a:defRPr>
            </a:pPr>
            <a:r>
              <a:rPr dirty="0"/>
              <a:t>192.168.10.0</a:t>
            </a:r>
            <a:r>
              <a:rPr lang="pl-PL" dirty="0"/>
              <a:t> PODSIEC</a:t>
            </a:r>
            <a:endParaRPr dirty="0"/>
          </a:p>
        </p:txBody>
      </p:sp>
      <p:sp>
        <p:nvSpPr>
          <p:cNvPr id="52" name="Oval 51"/>
          <p:cNvSpPr/>
          <p:nvPr/>
        </p:nvSpPr>
        <p:spPr>
          <a:xfrm>
            <a:off x="11265407" y="4425696"/>
            <a:ext cx="274320" cy="274320"/>
          </a:xfrm>
          <a:prstGeom prst="ellipse">
            <a:avLst/>
          </a:prstGeom>
          <a:solidFill>
            <a:srgbClr val="CD41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842305" y="4864608"/>
            <a:ext cx="108395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CD4141"/>
                </a:solidFill>
              </a:defRPr>
            </a:pPr>
            <a:r>
              <a:rPr dirty="0"/>
              <a:t>192.168.10.3</a:t>
            </a:r>
            <a:endParaRPr lang="pl-PL" dirty="0"/>
          </a:p>
          <a:p>
            <a:pPr algn="ctr">
              <a:defRPr sz="1300" b="1">
                <a:solidFill>
                  <a:srgbClr val="CD4141"/>
                </a:solidFill>
              </a:defRPr>
            </a:pPr>
            <a:r>
              <a:rPr lang="pl-PL" dirty="0"/>
              <a:t>BROADCAST</a:t>
            </a:r>
            <a:endParaRPr dirty="0"/>
          </a:p>
        </p:txBody>
      </p:sp>
      <p:sp>
        <p:nvSpPr>
          <p:cNvPr id="54" name="TextBox 53"/>
          <p:cNvSpPr txBox="1"/>
          <p:nvPr/>
        </p:nvSpPr>
        <p:spPr>
          <a:xfrm>
            <a:off x="4187952" y="447721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D965F"/>
                </a:solidFill>
              </a:defRPr>
            </a:pPr>
            <a:r>
              <a:rPr dirty="0"/>
              <a:t>HOSTY: .1 – .2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305756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</a:defRPr>
            </a:pPr>
            <a:r>
              <a:rPr dirty="0"/>
              <a:t>/29</a:t>
            </a:r>
            <a:r>
              <a:rPr lang="pl-PL" dirty="0"/>
              <a:t> – 3 BITY HOSTA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Każda kolejna podsieć zaczyna się co 8 adresów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09728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79576" y="109728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17904" y="109728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56232" y="109728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109728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32887" y="109728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1215" y="109728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9544" y="109728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47872" y="109728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109728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109728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2855" y="109728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01183" y="109728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39512" y="109728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109728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16168" y="109728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496" y="109728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92824" y="109728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31152" y="109728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109728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07808" y="109728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46136" y="109728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84464" y="109728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22792" y="109728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0" y="109728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99448" y="109728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37776" y="109728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76104" y="109728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14432" y="109728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652760" y="109728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91088" y="109728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1627631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86EBE"/>
                </a:solidFill>
              </a:defRPr>
            </a:pPr>
            <a:r>
              <a:t>CZĘŚĆ SIECIOWA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77272" y="1645920"/>
            <a:ext cx="14081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965F"/>
                </a:solidFill>
              </a:defRPr>
            </a:pPr>
            <a:r>
              <a:rPr dirty="0"/>
              <a:t>CZĘŚĆ HOSTA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2194560"/>
            <a:ext cx="219456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255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2907791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Oktet 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2194560"/>
            <a:ext cx="219456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255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2907791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Oktet 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26480" y="2194560"/>
            <a:ext cx="219456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255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2907791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Oktet 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69680" y="2194560"/>
            <a:ext cx="219456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rPr dirty="0">
                <a:solidFill>
                  <a:srgbClr val="FF0000"/>
                </a:solidFill>
              </a:rPr>
              <a:t>248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2907791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Oktet 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352044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2263F"/>
                </a:solidFill>
              </a:defRPr>
            </a:pPr>
            <a:r>
              <a:t>3 bity hosta → 2³ = 8 adresów → 6 użytecznych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" y="525780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91919"/>
                </a:solidFill>
              </a:defRPr>
            </a:pPr>
            <a:r>
              <a:t>192.168.10.8/29 → sieć .8 | hosty .9–.14 | broadcast .15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320344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</a:defRPr>
            </a:pPr>
            <a:r>
              <a:rPr dirty="0"/>
              <a:t>/28 — </a:t>
            </a:r>
            <a:r>
              <a:rPr lang="pl-PL" dirty="0"/>
              <a:t>4 BITY HOSTA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502920" y="105156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05156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79576" y="105156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17904" y="105156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56232" y="105156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105156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32887" y="105156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71215" y="105156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9544" y="105156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47872" y="105156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105156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528" y="105156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62855" y="105156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01183" y="105156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39512" y="105156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77840" y="105156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16168" y="105156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4496" y="105156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92824" y="105156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31152" y="105156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9480" y="105156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07808" y="105156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46136" y="105156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84464" y="105156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22792" y="105156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105156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99448" y="105156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37776" y="105156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76104" y="105156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14432" y="105156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652760" y="105156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91088" y="105156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158191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86EBE"/>
                </a:solidFill>
              </a:defRPr>
            </a:pPr>
            <a:r>
              <a:t>CZĘŚĆ SIECIOWA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4051" y="152704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965F"/>
                </a:solidFill>
              </a:defRPr>
            </a:pPr>
            <a:r>
              <a:rPr dirty="0"/>
              <a:t>CZĘŚĆ HOSTA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2148840"/>
            <a:ext cx="219456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255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28620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Oktet 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83280" y="2148840"/>
            <a:ext cx="219456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255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28620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Oktet 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0" y="2148840"/>
            <a:ext cx="219456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255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28620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Oktet 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69680" y="2148840"/>
            <a:ext cx="219456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rPr dirty="0">
                <a:solidFill>
                  <a:srgbClr val="FF0000"/>
                </a:solidFill>
              </a:rPr>
              <a:t>240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286207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Oktet 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2263F"/>
                </a:solidFill>
              </a:defRPr>
            </a:pPr>
            <a:r>
              <a:t>4 bity hosta → 2⁴ = 16 adresów → 14 użytecznych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4892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91919"/>
                </a:solidFill>
              </a:defRPr>
            </a:pPr>
            <a:r>
              <a:t>192.168.10.16/28  →  .16 sieć  |  .17–.30 hosty  |  .31 broadcast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35709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</a:defRPr>
            </a:pPr>
            <a:r>
              <a:rPr dirty="0"/>
              <a:t>/27 — </a:t>
            </a:r>
            <a:r>
              <a:rPr lang="pl-PL" dirty="0"/>
              <a:t>5 BITÓW HOSTA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Przykład: 192.168.10.77/27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79576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17904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56232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32887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1215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9544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47872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2855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01183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39512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16168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496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92824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31152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07808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46136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84464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22792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0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99448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37776" y="9144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76104" y="9144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14432" y="9144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652760" y="9144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91088" y="9144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144475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86EBE"/>
                </a:solidFill>
              </a:defRPr>
            </a:pPr>
            <a:r>
              <a:t>CZĘŚĆ SIECIOWA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1517904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965F"/>
                </a:solidFill>
              </a:defRPr>
            </a:pPr>
            <a:r>
              <a:rPr dirty="0"/>
              <a:t>CZĘŚĆ HOSTA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2011680"/>
            <a:ext cx="219456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255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272491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Oktet 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2011680"/>
            <a:ext cx="219456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255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272491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Oktet 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26480" y="2011680"/>
            <a:ext cx="219456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255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272491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Oktet 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69680" y="2011680"/>
            <a:ext cx="219456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rPr dirty="0">
                <a:solidFill>
                  <a:srgbClr val="FF0000"/>
                </a:solidFill>
              </a:rPr>
              <a:t>224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272491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Oktet 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333756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263F"/>
                </a:solidFill>
              </a:defRPr>
            </a:pPr>
            <a:r>
              <a:t>32 − 27 = 5 bitów hosta → 2⁵ = 32 adresy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762676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</a:defRPr>
            </a:pPr>
            <a:r>
              <a:rPr dirty="0"/>
              <a:t>/24 — </a:t>
            </a:r>
            <a:r>
              <a:rPr dirty="0" err="1"/>
              <a:t>pełny</a:t>
            </a:r>
            <a:r>
              <a:rPr dirty="0"/>
              <a:t> </a:t>
            </a:r>
            <a:r>
              <a:rPr dirty="0" err="1"/>
              <a:t>ostatni</a:t>
            </a:r>
            <a:r>
              <a:rPr dirty="0"/>
              <a:t> </a:t>
            </a:r>
            <a:r>
              <a:rPr dirty="0" err="1"/>
              <a:t>oktet</a:t>
            </a:r>
            <a:r>
              <a:rPr dirty="0"/>
              <a:t> </a:t>
            </a:r>
            <a:r>
              <a:rPr dirty="0" err="1"/>
              <a:t>hosta</a:t>
            </a:r>
            <a:r>
              <a:rPr lang="pl-PL" dirty="0"/>
              <a:t> – 8 BITÓW HOSTA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502920" y="10058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0058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79576" y="10058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17904" y="10058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56232" y="10058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10058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32887" y="10058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71215" y="10058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9544" y="10058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47872" y="10058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10058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528" y="10058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62855" y="10058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01183" y="10058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39512" y="10058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77840" y="10058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16168" y="10058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4496" y="10058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92824" y="10058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31152" y="10058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9480" y="10058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07808" y="10058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46136" y="10058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84464" y="100584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22792" y="100584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100584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99448" y="100584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37776" y="100584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76104" y="100584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14432" y="100584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652760" y="100584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91088" y="100584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153619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86EBE"/>
                </a:solidFill>
              </a:defRPr>
            </a:pPr>
            <a:r>
              <a:t>CZĘŚĆ SIECIOWA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86216" y="1602056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965F"/>
                </a:solidFill>
              </a:defRPr>
            </a:pPr>
            <a:r>
              <a:rPr dirty="0"/>
              <a:t>CZĘŚĆ HOSTA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2103120"/>
            <a:ext cx="219456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255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281635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Oktet 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83280" y="2103120"/>
            <a:ext cx="219456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255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281635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Oktet 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0" y="2103120"/>
            <a:ext cx="219456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255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281635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Oktet 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69680" y="2103120"/>
            <a:ext cx="219456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rPr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281635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Oktet 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35204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2263F"/>
                </a:solidFill>
              </a:defRPr>
            </a:pPr>
            <a:r>
              <a:t>8 bitów hosta → 2⁸ = 256 adresów → 254 użyteczne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45720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91919"/>
                </a:solidFill>
              </a:defRPr>
            </a:pPr>
            <a:r>
              <a:t>192.168.10.0  ───────────── HOSTY .1 … .254 ─────────────  192.168.10.255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35709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</a:defRPr>
            </a:pPr>
            <a:r>
              <a:rPr dirty="0"/>
              <a:t>/23 — </a:t>
            </a:r>
            <a:r>
              <a:rPr lang="pl-PL" dirty="0"/>
              <a:t>9 BITÓW HOSTA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Przykład: 172.16.35.100/23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79576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17904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56232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32887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1215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9544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47872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2855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01183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39512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16168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496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92824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31152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07808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46136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84464" y="9144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22792" y="9144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0" y="9144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99448" y="9144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37776" y="9144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76104" y="9144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14432" y="9144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652760" y="9144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91088" y="9144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144475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86EBE"/>
                </a:solidFill>
              </a:defRPr>
            </a:pPr>
            <a:r>
              <a:t>CZĘŚĆ SIECIOWA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47888" y="1536191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965F"/>
                </a:solidFill>
              </a:defRPr>
            </a:pPr>
            <a:r>
              <a:rPr dirty="0"/>
              <a:t>CZĘŚĆ HOSTA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2011680"/>
            <a:ext cx="219456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255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272491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Oktet 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2011680"/>
            <a:ext cx="219456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255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272491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Oktet 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26480" y="2011680"/>
            <a:ext cx="219456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rPr dirty="0">
                <a:solidFill>
                  <a:srgbClr val="FF0000"/>
                </a:solidFill>
              </a:rPr>
              <a:t>254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272491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Oktet 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69680" y="2011680"/>
            <a:ext cx="219456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rPr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272491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Oktet 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34290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2263F"/>
                </a:solidFill>
              </a:defRPr>
            </a:pPr>
            <a:r>
              <a:t>9 bitów hosta → 2^9 = 512 adresów → 510 użytecznych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46177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91919"/>
                </a:solidFill>
              </a:defRPr>
            </a:pPr>
            <a:r>
              <a:t>Wyznaczony blok: 172.16.34.0 – 172.16.35.255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375372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</a:defRPr>
            </a:pPr>
            <a:r>
              <a:rPr dirty="0"/>
              <a:t>/22 — </a:t>
            </a:r>
            <a:r>
              <a:rPr lang="pl-PL" dirty="0"/>
              <a:t>10 BITÓW HOSTA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Przykład: 10.10.14.200/22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79576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17904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56232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32887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1215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9544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47872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2855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01183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39512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16168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496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92824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31152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07808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46136" y="9144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84464" y="9144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22792" y="9144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0" y="9144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99448" y="9144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37776" y="9144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76104" y="9144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14432" y="9144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652760" y="9144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91088" y="9144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144475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86EBE"/>
                </a:solidFill>
              </a:defRPr>
            </a:pPr>
            <a:r>
              <a:t>CZĘŚĆ SIECIOWA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0659" y="148132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965F"/>
                </a:solidFill>
              </a:defRPr>
            </a:pPr>
            <a:r>
              <a:rPr dirty="0"/>
              <a:t>CZĘŚĆ HOSTA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2011680"/>
            <a:ext cx="219456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255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272491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Oktet 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2011680"/>
            <a:ext cx="219456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255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272491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Oktet 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26480" y="2011680"/>
            <a:ext cx="219456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rPr dirty="0">
                <a:solidFill>
                  <a:srgbClr val="FF0000"/>
                </a:solidFill>
              </a:rPr>
              <a:t>252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272491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Oktet 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69680" y="2011680"/>
            <a:ext cx="219456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rPr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272491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Oktet 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34290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2263F"/>
                </a:solidFill>
              </a:defRPr>
            </a:pPr>
            <a:r>
              <a:t>10 bitów hosta → 2^10 = 1024 adresów → 1022 użytecznych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46177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91919"/>
                </a:solidFill>
              </a:defRPr>
            </a:pPr>
            <a:r>
              <a:t>Wyznaczony blok: 10.10.12.0 – 10.10.15.255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375372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</a:defRPr>
            </a:pPr>
            <a:r>
              <a:rPr dirty="0"/>
              <a:t>/21 — </a:t>
            </a:r>
            <a:r>
              <a:rPr lang="pl-PL" dirty="0"/>
              <a:t>11 BITÓW HOSTA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Przykład: 10.20.14.200/21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79576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17904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56232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32887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1215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9544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47872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2855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01183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39512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16168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496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92824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31152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91440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07808" y="9144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46136" y="9144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84464" y="9144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22792" y="9144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0" y="9144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99448" y="9144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37776" y="9144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76104" y="9144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14432" y="9144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652760" y="9144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91088" y="91440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144475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86EBE"/>
                </a:solidFill>
              </a:defRPr>
            </a:pPr>
            <a:r>
              <a:t>CZĘŚĆ SIECIOWA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7808" y="1513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965F"/>
                </a:solidFill>
              </a:defRPr>
            </a:pPr>
            <a:r>
              <a:rPr dirty="0"/>
              <a:t>CZĘŚĆ HOSTA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2011680"/>
            <a:ext cx="219456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255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272491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Oktet 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2011680"/>
            <a:ext cx="219456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255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272491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Oktet 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26480" y="2011680"/>
            <a:ext cx="219456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rPr dirty="0">
                <a:solidFill>
                  <a:srgbClr val="FF0000"/>
                </a:solidFill>
              </a:rPr>
              <a:t>248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272491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Oktet 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69680" y="2011680"/>
            <a:ext cx="219456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rPr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272491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Oktet 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34290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2263F"/>
                </a:solidFill>
              </a:defRPr>
            </a:pPr>
            <a:r>
              <a:t>11 bitów hosta → 2^11 = 2048 adresów → 2046 użytecznych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46177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91919"/>
                </a:solidFill>
              </a:defRPr>
            </a:pPr>
            <a:r>
              <a:t>Wyznaczony blok: 10.20.8.0 – 10.20.15.255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375372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</a:defRPr>
            </a:pPr>
            <a:r>
              <a:rPr dirty="0"/>
              <a:t>/16 — </a:t>
            </a:r>
            <a:r>
              <a:rPr lang="pl-PL" dirty="0"/>
              <a:t>16 BITÓW HOSTA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Duża przestrzeń adresowa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96012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79576" y="96012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17904" y="96012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56232" y="96012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96012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32887" y="96012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1215" y="96012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9544" y="96012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47872" y="96012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96012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96012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2855" y="96012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01183" y="96012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39512" y="96012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960120"/>
            <a:ext cx="301752" cy="411480"/>
          </a:xfrm>
          <a:prstGeom prst="roundRect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16168" y="96012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496" y="96012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92824" y="96012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31152" y="96012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96012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07808" y="96012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46136" y="96012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84464" y="96012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22792" y="96012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0" y="96012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99448" y="96012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37776" y="96012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76104" y="96012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14432" y="96012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652760" y="96012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91088" y="960120"/>
            <a:ext cx="301752" cy="411480"/>
          </a:xfrm>
          <a:prstGeom prst="roundRect">
            <a:avLst/>
          </a:prstGeom>
          <a:solidFill>
            <a:srgbClr val="2D96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149047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86EBE"/>
                </a:solidFill>
              </a:defRPr>
            </a:pPr>
            <a:r>
              <a:t>CZĘŚĆ SIECIOWA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9600" y="152704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965F"/>
                </a:solidFill>
              </a:defRPr>
            </a:pPr>
            <a:r>
              <a:rPr dirty="0"/>
              <a:t>CZĘŚĆ HOSTA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2057400"/>
            <a:ext cx="219456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255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277063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Oktet 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2057400"/>
            <a:ext cx="219456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255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277063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Oktet 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26480" y="2057400"/>
            <a:ext cx="219456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rPr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277063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Oktet 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69680" y="2057400"/>
            <a:ext cx="2194560" cy="658368"/>
          </a:xfrm>
          <a:prstGeom prst="roundRect">
            <a:avLst/>
          </a:prstGeom>
          <a:solidFill>
            <a:srgbClr val="EEF4FA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rPr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277063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Oktet 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34290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2263F"/>
                </a:solidFill>
              </a:defRPr>
            </a:pPr>
            <a:r>
              <a:t>16 bitów hosta → 2¹⁶ = 65 536 adresów → 65 534 użyteczne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48056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91919"/>
                </a:solidFill>
              </a:defRPr>
            </a:pPr>
            <a:r>
              <a:rPr dirty="0"/>
              <a:t>172.16.0.0  ───────────── 172.16.0.1 … 172.16.255.254 ───────────── 172.16.255.255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54480" y="49149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86EBE"/>
                </a:solidFill>
              </a:defRPr>
            </a:pPr>
            <a:r>
              <a:rPr dirty="0" err="1"/>
              <a:t>Sieć</a:t>
            </a:r>
            <a:endParaRPr dirty="0"/>
          </a:p>
        </p:txBody>
      </p:sp>
      <p:sp>
        <p:nvSpPr>
          <p:cNvPr id="49" name="TextBox 48"/>
          <p:cNvSpPr txBox="1"/>
          <p:nvPr/>
        </p:nvSpPr>
        <p:spPr>
          <a:xfrm>
            <a:off x="4846320" y="488905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D965F"/>
                </a:solidFill>
              </a:defRPr>
            </a:pPr>
            <a:r>
              <a:t>Hosty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42800" y="4867776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CD4141"/>
                </a:solidFill>
              </a:defRPr>
            </a:pPr>
            <a:r>
              <a:rPr dirty="0"/>
              <a:t>Broadcast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35742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</a:defRPr>
            </a:pPr>
            <a:r>
              <a:rPr lang="pl-PL" dirty="0"/>
              <a:t>P</a:t>
            </a:r>
            <a:r>
              <a:rPr dirty="0" err="1"/>
              <a:t>refiksy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02920" y="1234440"/>
            <a:ext cx="2697480" cy="457200"/>
          </a:xfrm>
          <a:prstGeom prst="rect">
            <a:avLst/>
          </a:prstGeom>
          <a:solidFill>
            <a:srgbClr val="1226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Prefiks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39" y="1234440"/>
            <a:ext cx="2697480" cy="457200"/>
          </a:xfrm>
          <a:prstGeom prst="rect">
            <a:avLst/>
          </a:prstGeom>
          <a:solidFill>
            <a:srgbClr val="1226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Adresów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59" y="1234440"/>
            <a:ext cx="2697480" cy="457200"/>
          </a:xfrm>
          <a:prstGeom prst="rect">
            <a:avLst/>
          </a:prstGeom>
          <a:solidFill>
            <a:srgbClr val="1226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Hostów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55648"/>
            <a:ext cx="2697480" cy="457200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91919"/>
                </a:solidFill>
              </a:defRPr>
            </a:pPr>
            <a:r>
              <a:t>/30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39" y="1755648"/>
            <a:ext cx="2697480" cy="457200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91919"/>
                </a:solidFill>
              </a:defRPr>
            </a:pPr>
            <a: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59" y="1755648"/>
            <a:ext cx="2697480" cy="457200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91919"/>
                </a:solidFill>
              </a:defRPr>
            </a:pPr>
            <a: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276856"/>
            <a:ext cx="2697480" cy="457200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91919"/>
                </a:solidFill>
              </a:defRPr>
            </a:pPr>
            <a:r>
              <a:t>/29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39" y="2276856"/>
            <a:ext cx="2697480" cy="457200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91919"/>
                </a:solidFill>
              </a:defRPr>
            </a:pPr>
            <a:r>
              <a:t>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59" y="2276856"/>
            <a:ext cx="2697480" cy="457200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91919"/>
                </a:solidFill>
              </a:defRPr>
            </a:pPr>
            <a: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798064"/>
            <a:ext cx="2697480" cy="457200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91919"/>
                </a:solidFill>
              </a:defRPr>
            </a:pPr>
            <a:r>
              <a:t>/28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39" y="2798064"/>
            <a:ext cx="2697480" cy="457200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91919"/>
                </a:solidFill>
              </a:defRPr>
            </a:pPr>
            <a:r>
              <a:t>16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59" y="2798064"/>
            <a:ext cx="2697480" cy="457200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91919"/>
                </a:solidFill>
              </a:defRPr>
            </a:pPr>
            <a:r>
              <a:t>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19272"/>
            <a:ext cx="2697480" cy="457200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91919"/>
                </a:solidFill>
              </a:defRPr>
            </a:pPr>
            <a:r>
              <a:t>/27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39" y="3319272"/>
            <a:ext cx="2697480" cy="457200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91919"/>
                </a:solidFill>
              </a:defRPr>
            </a:pPr>
            <a:r>
              <a:t>32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59" y="3319272"/>
            <a:ext cx="2697480" cy="457200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91919"/>
                </a:solidFill>
              </a:defRPr>
            </a:pPr>
            <a:r>
              <a:t>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840479"/>
            <a:ext cx="2697480" cy="457200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91919"/>
                </a:solidFill>
              </a:defRPr>
            </a:pPr>
            <a:r>
              <a:t>/24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39" y="3840479"/>
            <a:ext cx="2697480" cy="457200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91919"/>
                </a:solidFill>
              </a:defRPr>
            </a:pPr>
            <a:r>
              <a:t>256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59" y="3840479"/>
            <a:ext cx="2697480" cy="457200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91919"/>
                </a:solidFill>
              </a:defRPr>
            </a:pPr>
            <a:r>
              <a:t>254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361688"/>
            <a:ext cx="2697480" cy="457200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91919"/>
                </a:solidFill>
              </a:defRPr>
            </a:pPr>
            <a:r>
              <a:t>/23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39" y="4361688"/>
            <a:ext cx="2697480" cy="457200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91919"/>
                </a:solidFill>
              </a:defRPr>
            </a:pPr>
            <a:r>
              <a:t>512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59" y="4361688"/>
            <a:ext cx="2697480" cy="457200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91919"/>
                </a:solidFill>
              </a:defRPr>
            </a:pPr>
            <a:r>
              <a:t>510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882896"/>
            <a:ext cx="2697480" cy="457200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91919"/>
                </a:solidFill>
              </a:defRPr>
            </a:pPr>
            <a:r>
              <a:t>/22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39" y="4882896"/>
            <a:ext cx="2697480" cy="457200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91919"/>
                </a:solidFill>
              </a:defRPr>
            </a:pPr>
            <a:r>
              <a:t>1024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59" y="4882896"/>
            <a:ext cx="2697480" cy="457200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91919"/>
                </a:solidFill>
              </a:defRPr>
            </a:pPr>
            <a:r>
              <a:t>1022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404104"/>
            <a:ext cx="2697480" cy="457200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91919"/>
                </a:solidFill>
              </a:defRPr>
            </a:pPr>
            <a:r>
              <a:t>/21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1839" y="5404104"/>
            <a:ext cx="2697480" cy="457200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91919"/>
                </a:solidFill>
              </a:defRPr>
            </a:pPr>
            <a:r>
              <a:t>2048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59" y="5404104"/>
            <a:ext cx="2697480" cy="457200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91919"/>
                </a:solidFill>
              </a:defRPr>
            </a:pPr>
            <a:r>
              <a:t>2046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925312"/>
            <a:ext cx="2697480" cy="457200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91919"/>
                </a:solidFill>
              </a:defRPr>
            </a:pPr>
            <a:r>
              <a:t>/16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91839" y="5925312"/>
            <a:ext cx="2697480" cy="457200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91919"/>
                </a:solidFill>
              </a:defRPr>
            </a:pPr>
            <a:r>
              <a:t>65536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59" y="5925312"/>
            <a:ext cx="2697480" cy="457200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91919"/>
                </a:solidFill>
              </a:defRPr>
            </a:pPr>
            <a:r>
              <a:t>65534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719581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</a:defRPr>
            </a:pPr>
            <a:r>
              <a:rPr dirty="0" err="1"/>
              <a:t>Podsumowanie</a:t>
            </a:r>
            <a:r>
              <a:rPr dirty="0"/>
              <a:t> — </a:t>
            </a:r>
            <a:r>
              <a:rPr dirty="0" err="1"/>
              <a:t>zawsze</a:t>
            </a:r>
            <a:r>
              <a:rPr dirty="0"/>
              <a:t> </a:t>
            </a:r>
            <a:r>
              <a:rPr dirty="0" err="1"/>
              <a:t>wykonuj</a:t>
            </a:r>
            <a:r>
              <a:rPr dirty="0"/>
              <a:t> </a:t>
            </a:r>
            <a:r>
              <a:rPr dirty="0" err="1"/>
              <a:t>te</a:t>
            </a:r>
            <a:r>
              <a:rPr dirty="0"/>
              <a:t> 5 </a:t>
            </a:r>
            <a:r>
              <a:rPr lang="pl-PL" dirty="0"/>
              <a:t>krok</a:t>
            </a:r>
            <a:r>
              <a:rPr dirty="0" err="1"/>
              <a:t>ów</a:t>
            </a:r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822960" y="1280160"/>
            <a:ext cx="502920" cy="502920"/>
          </a:xfrm>
          <a:prstGeom prst="ellipse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307592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91919"/>
                </a:solidFill>
              </a:defRPr>
            </a:pPr>
            <a:r>
              <a:t>① /n → policz bity hosta: 32 − n.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121408"/>
            <a:ext cx="502920" cy="502920"/>
          </a:xfrm>
          <a:prstGeom prst="ellipse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48839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91919"/>
                </a:solidFill>
              </a:defRPr>
            </a:pPr>
            <a:r>
              <a:t>② Bity hosta → liczba adresów: 2^(32−n).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962656"/>
            <a:ext cx="502920" cy="502920"/>
          </a:xfrm>
          <a:prstGeom prst="ellipse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90088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91919"/>
                </a:solidFill>
              </a:defRPr>
            </a:pPr>
            <a:r>
              <a:t>③ Maska → oblicz krok: 256 − wartość maski w częściowym oktecie.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803904"/>
            <a:ext cx="502920" cy="502920"/>
          </a:xfrm>
          <a:prstGeom prst="ellipse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831336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91919"/>
                </a:solidFill>
              </a:defRPr>
            </a:pPr>
            <a:r>
              <a:t>④ Znajdź blok, do którego należy badany adres.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645152"/>
            <a:ext cx="502920" cy="502920"/>
          </a:xfrm>
          <a:prstGeom prst="ellipse">
            <a:avLst/>
          </a:prstGeom>
          <a:solidFill>
            <a:srgbClr val="286E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672584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91919"/>
                </a:solidFill>
              </a:defRPr>
            </a:pPr>
            <a:r>
              <a:t>⑤ Pierwszy = sieć, ostatni = broadcast, środek = hosty.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FD93E68-9ADB-4C29-82B0-8D04F11F7CE1}">
  <we:reference id="wa200010001" version="1.0.0.1" store="pl-PL" storeType="OMEX"/>
  <we:alternateReferences>
    <we:reference id="WA200010001" version="1.0.0.1" store="" storeType="OMEX"/>
  </we:alternateReferences>
  <we:properties>
    <we:property name="claude.fileId" value="&quot;0018d74a-3042-4469-940e-9b82453b523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936</Words>
  <Application>Microsoft Office PowerPoint</Application>
  <PresentationFormat>Panoramiczny</PresentationFormat>
  <Paragraphs>506</Paragraphs>
  <Slides>13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Jerzy Kluczewski</cp:lastModifiedBy>
  <cp:revision>4</cp:revision>
  <dcterms:created xsi:type="dcterms:W3CDTF">2013-01-27T09:14:16Z</dcterms:created>
  <dcterms:modified xsi:type="dcterms:W3CDTF">2026-09-10T08:15:16Z</dcterms:modified>
  <cp:category/>
</cp:coreProperties>
</file>