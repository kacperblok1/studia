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22"/>
  </p:notesMasterIdLst>
  <p:sldIdLst>
    <p:sldId id="256" r:id="rId5"/>
    <p:sldId id="280" r:id="rId6"/>
    <p:sldId id="274" r:id="rId7"/>
    <p:sldId id="281" r:id="rId8"/>
    <p:sldId id="289" r:id="rId9"/>
    <p:sldId id="282" r:id="rId10"/>
    <p:sldId id="283" r:id="rId11"/>
    <p:sldId id="284" r:id="rId12"/>
    <p:sldId id="285" r:id="rId13"/>
    <p:sldId id="286" r:id="rId14"/>
    <p:sldId id="291" r:id="rId15"/>
    <p:sldId id="292" r:id="rId16"/>
    <p:sldId id="293" r:id="rId17"/>
    <p:sldId id="287" r:id="rId18"/>
    <p:sldId id="288" r:id="rId19"/>
    <p:sldId id="279" r:id="rId20"/>
    <p:sldId id="290" r:id="rId21"/>
  </p:sldIdLst>
  <p:sldSz cx="10691813" cy="7559675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lenik Agnieszka" initials="PA" lastIdx="1" clrIdx="0">
    <p:extLst>
      <p:ext uri="{19B8F6BF-5375-455C-9EA6-DF929625EA0E}">
        <p15:presenceInfo xmlns:p15="http://schemas.microsoft.com/office/powerpoint/2012/main" userId="S::Agnieszka.Palenik@mfipr.gov.pl::6a0c958d-6557-4bbd-8aa6-03360055b1e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howGuides="1">
      <p:cViewPr varScale="1">
        <p:scale>
          <a:sx n="101" d="100"/>
          <a:sy n="101" d="100"/>
        </p:scale>
        <p:origin x="570" y="120"/>
      </p:cViewPr>
      <p:guideLst>
        <p:guide orient="horz" pos="2381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EFF2B-0721-7148-92D1-1650B5B78E9F}" type="datetimeFigureOut">
              <a:rPr lang="pl-PL" smtClean="0"/>
              <a:t>03.02.2026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2B4DB-5212-AD42-B2C1-BD19AC94D45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277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DC9E89-49D9-65E6-C6E7-F54920FE4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1FD6544-EB54-B1C0-D76A-E9B2B1138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pl-PL"/>
              <a:t>Kliknij, aby edytować styl wzorca podtytułu</a:t>
            </a:r>
            <a:endParaRPr lang="hr-HR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52AC5C1-9141-5989-3C27-B2F0408A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DCE2125-8659-A3DF-581B-0EF311E9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D1FF72-CC3E-85CF-E785-EF212824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29942076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FB28A5-8C27-AC8B-A71B-2F12FF64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72E042-0EEA-F197-9A89-2C8A2F881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96690B-4F60-FE26-19BD-C2B9B9F4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1C2A181-E4B2-973D-DD7D-16AB5ACBE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E5DFF1D-7724-4B53-0B08-699E68FE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2763983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B1C765-10A6-2451-8090-C5C73BF0B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3" y="1884670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899EBFB-488A-58E9-DE96-703A037AE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3" y="5059034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68F02A-2477-B8E4-2C5D-64CD34B7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167737-7536-5BC2-6ED3-450DCEE07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78C88F-37D2-D09B-7E29-24B18B6A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68775316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D35D29-9EA7-3C1A-81DC-6C001F15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524252-B29D-04F5-4E7B-784B76C5B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E403215-8E57-37B2-CEE3-1F49FC2F0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1555EC0-140F-FF3E-2C99-3EF31916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0346FFE-D5D4-1198-7F56-7F0CAFE1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A2685A7-FB25-F2F4-B3D5-F210E6AF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27075727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BF1EEC-DCC2-D05A-68B3-15EC816B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02483"/>
            <a:ext cx="9221689" cy="146118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04D5CEB-218F-0D70-1155-7AEB90591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CF389C-1985-2748-C758-857E66494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EC2D60B-1F8A-686D-4D18-E32BCA92D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0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9AF5B89E-DBF1-984D-07DB-963E371D4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0" y="2761381"/>
            <a:ext cx="4545413" cy="40615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ABC37B3-53A8-4D2F-41C6-1DDBDB74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21BED5F-D3B7-4142-AB9E-DB0E7BE4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9FEE8D6-B4A8-894A-F06B-370B2114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86857977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AD216C-47A8-84E1-668E-CAF90369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391B4D8-7C38-FA57-3D42-ABE68B9A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84673EB-14A7-9FB0-436D-26542C89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6EBBC49-C93A-5709-44AC-480B7480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1399720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F0FC264-FB34-2A4E-F79D-2BFF839E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99B61B3-1C1A-2CE8-7E6E-7FD7D57A4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B0C2AD6-9919-1F28-0316-D957554E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55773601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26FA8F-8E3D-0AC7-3C60-D7D3F61A1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E1B0F3-E29A-4902-DC19-2114C1DF0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4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3688C8C-F4EF-2A7B-C36B-C7B30B6CA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2FC2C8A-3051-CED0-B841-1AB081C1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5944ABF-8719-F348-EB38-98E11550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4247615-8D14-DFCA-2C32-0C923487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6325949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2F4F2C-F21B-BDD7-2F83-2025F643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789578A-25A5-A1AD-A595-187A67504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4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hr-HR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7C85CA2-5E91-0472-EF40-AE6C9A509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25F8E94-FF13-7F4B-572D-5F324A0F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88DD3C4-7BB6-494A-454E-47122E05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4ACE452-75A9-5C25-96B0-06E31DBE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81547742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FD2EE4-1697-1E06-9F4B-2729A06F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5A55DEB-7871-20EE-F651-1B3D931AC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5A09F73-6647-7B5C-3603-27899613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C4708A-4BE5-0A84-7E7D-1BF552D0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DBAC2CA-DEB1-CF38-FED9-7CE713637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28964836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2257356-53F7-0F09-C765-A6A1D3CA2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2B7657E-6DEE-B3C9-6914-67D6ED3D7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402483"/>
            <a:ext cx="6782619" cy="64064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CBA2C0-5E56-67A7-F49E-9860182C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57B7B79-76B1-09C5-6E45-E476FC9D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9D9D373-DF6A-D280-1374-BAB7087A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184012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- tytuł + zdjęcie + zawartość z paski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5906" y="899836"/>
            <a:ext cx="4320000" cy="108000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5906" y="1979837"/>
            <a:ext cx="4320382" cy="468000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41AAA0E-45E9-08FB-9373-71A084B88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  <p:sp>
        <p:nvSpPr>
          <p:cNvPr id="7" name="Symbol zastępczy obrazu 6">
            <a:extLst>
              <a:ext uri="{FF2B5EF4-FFF2-40B4-BE49-F238E27FC236}">
                <a16:creationId xmlns:a16="http://schemas.microsoft.com/office/drawing/2014/main" id="{E681B9F9-7BA5-2D43-A1BD-8AF5D02506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900113"/>
            <a:ext cx="4986338" cy="5759726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algn="ctr">
              <a:buFont typeface="Arial" panose="020B0604020202020204" pitchFamily="34" charset="0"/>
              <a:buNone/>
              <a:defRPr sz="1000"/>
            </a:lvl1pPr>
          </a:lstStyle>
          <a:p>
            <a:r>
              <a:rPr lang="pl-PL"/>
              <a:t>Kliknij ikonę, aby dodać obraz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45398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4094576-841A-6DD4-A9B1-17FBD48F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3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hr-HR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0DB2032-1C85-6858-32E2-1837B749F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hr-HR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F9D3569-AAC0-0626-ADA3-0E87FA340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3DB9D3E-F2FB-344D-5AE9-EDCA00326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F3150DD-D041-606C-9D0A-B19F4912B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015AA-59F6-416B-87A6-8E3D940284E2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5138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26" r:id="rId12"/>
  </p:sldLayoutIdLst>
  <p:hf hdr="0" ftr="0"/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3" userDrawn="1">
          <p15:clr>
            <a:srgbClr val="F26B43"/>
          </p15:clr>
        </p15:guide>
        <p15:guide id="2" pos="419" userDrawn="1">
          <p15:clr>
            <a:srgbClr val="F26B43"/>
          </p15:clr>
        </p15:guide>
        <p15:guide id="3" pos="646" userDrawn="1">
          <p15:clr>
            <a:srgbClr val="F26B43"/>
          </p15:clr>
        </p15:guide>
        <p15:guide id="4" pos="873" userDrawn="1">
          <p15:clr>
            <a:srgbClr val="F26B43"/>
          </p15:clr>
        </p15:guide>
        <p15:guide id="5" pos="1100" userDrawn="1">
          <p15:clr>
            <a:srgbClr val="F26B43"/>
          </p15:clr>
        </p15:guide>
        <p15:guide id="6" pos="1327" userDrawn="1">
          <p15:clr>
            <a:srgbClr val="F26B43"/>
          </p15:clr>
        </p15:guide>
        <p15:guide id="7" pos="1553" userDrawn="1">
          <p15:clr>
            <a:srgbClr val="F26B43"/>
          </p15:clr>
        </p15:guide>
        <p15:guide id="8" pos="1780" userDrawn="1">
          <p15:clr>
            <a:srgbClr val="F26B43"/>
          </p15:clr>
        </p15:guide>
        <p15:guide id="9" pos="2007" userDrawn="1">
          <p15:clr>
            <a:srgbClr val="F26B43"/>
          </p15:clr>
        </p15:guide>
        <p15:guide id="10" pos="2234" userDrawn="1">
          <p15:clr>
            <a:srgbClr val="F26B43"/>
          </p15:clr>
        </p15:guide>
        <p15:guide id="11" pos="2460" userDrawn="1">
          <p15:clr>
            <a:srgbClr val="F26B43"/>
          </p15:clr>
        </p15:guide>
        <p15:guide id="12" pos="2687" userDrawn="1">
          <p15:clr>
            <a:srgbClr val="F26B43"/>
          </p15:clr>
        </p15:guide>
        <p15:guide id="13" pos="2914" userDrawn="1">
          <p15:clr>
            <a:srgbClr val="F26B43"/>
          </p15:clr>
        </p15:guide>
        <p15:guide id="14" pos="3141" userDrawn="1">
          <p15:clr>
            <a:srgbClr val="F26B43"/>
          </p15:clr>
        </p15:guide>
        <p15:guide id="15" pos="3368" userDrawn="1">
          <p15:clr>
            <a:srgbClr val="F26B43"/>
          </p15:clr>
        </p15:guide>
        <p15:guide id="16" pos="3594" userDrawn="1">
          <p15:clr>
            <a:srgbClr val="F26B43"/>
          </p15:clr>
        </p15:guide>
        <p15:guide id="17" pos="3821" userDrawn="1">
          <p15:clr>
            <a:srgbClr val="F26B43"/>
          </p15:clr>
        </p15:guide>
        <p15:guide id="18" pos="4048" userDrawn="1">
          <p15:clr>
            <a:srgbClr val="F26B43"/>
          </p15:clr>
        </p15:guide>
        <p15:guide id="19" pos="4275" userDrawn="1">
          <p15:clr>
            <a:srgbClr val="F26B43"/>
          </p15:clr>
        </p15:guide>
        <p15:guide id="20" pos="4501" userDrawn="1">
          <p15:clr>
            <a:srgbClr val="F26B43"/>
          </p15:clr>
        </p15:guide>
        <p15:guide id="21" pos="4728" userDrawn="1">
          <p15:clr>
            <a:srgbClr val="F26B43"/>
          </p15:clr>
        </p15:guide>
        <p15:guide id="22" pos="4955" userDrawn="1">
          <p15:clr>
            <a:srgbClr val="F26B43"/>
          </p15:clr>
        </p15:guide>
        <p15:guide id="23" pos="5182" userDrawn="1">
          <p15:clr>
            <a:srgbClr val="F26B43"/>
          </p15:clr>
        </p15:guide>
        <p15:guide id="24" pos="5408" userDrawn="1">
          <p15:clr>
            <a:srgbClr val="F26B43"/>
          </p15:clr>
        </p15:guide>
        <p15:guide id="25" pos="5635" userDrawn="1">
          <p15:clr>
            <a:srgbClr val="F26B43"/>
          </p15:clr>
        </p15:guide>
        <p15:guide id="26" pos="5862" userDrawn="1">
          <p15:clr>
            <a:srgbClr val="F26B43"/>
          </p15:clr>
        </p15:guide>
        <p15:guide id="27" pos="6089" userDrawn="1">
          <p15:clr>
            <a:srgbClr val="F26B43"/>
          </p15:clr>
        </p15:guide>
        <p15:guide id="28" pos="6316" userDrawn="1">
          <p15:clr>
            <a:srgbClr val="F26B43"/>
          </p15:clr>
        </p15:guide>
        <p15:guide id="29" pos="6542" userDrawn="1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340" userDrawn="1">
          <p15:clr>
            <a:srgbClr val="F26B43"/>
          </p15:clr>
        </p15:guide>
        <p15:guide id="32" orient="horz" pos="567" userDrawn="1">
          <p15:clr>
            <a:srgbClr val="F26B43"/>
          </p15:clr>
        </p15:guide>
        <p15:guide id="33" orient="horz" pos="794" userDrawn="1">
          <p15:clr>
            <a:srgbClr val="F26B43"/>
          </p15:clr>
        </p15:guide>
        <p15:guide id="34" orient="horz" pos="1020" userDrawn="1">
          <p15:clr>
            <a:srgbClr val="F26B43"/>
          </p15:clr>
        </p15:guide>
        <p15:guide id="35" orient="horz" pos="1247" userDrawn="1">
          <p15:clr>
            <a:srgbClr val="F26B43"/>
          </p15:clr>
        </p15:guide>
        <p15:guide id="36" orient="horz" pos="1474" userDrawn="1">
          <p15:clr>
            <a:srgbClr val="F26B43"/>
          </p15:clr>
        </p15:guide>
        <p15:guide id="37" orient="horz" pos="1701" userDrawn="1">
          <p15:clr>
            <a:srgbClr val="F26B43"/>
          </p15:clr>
        </p15:guide>
        <p15:guide id="38" orient="horz" pos="1927" userDrawn="1">
          <p15:clr>
            <a:srgbClr val="F26B43"/>
          </p15:clr>
        </p15:guide>
        <p15:guide id="39" orient="horz" pos="2154" userDrawn="1">
          <p15:clr>
            <a:srgbClr val="F26B43"/>
          </p15:clr>
        </p15:guide>
        <p15:guide id="40" orient="horz" pos="2381" userDrawn="1">
          <p15:clr>
            <a:srgbClr val="F26B43"/>
          </p15:clr>
        </p15:guide>
        <p15:guide id="41" orient="horz" pos="2608" userDrawn="1">
          <p15:clr>
            <a:srgbClr val="F26B43"/>
          </p15:clr>
        </p15:guide>
        <p15:guide id="42" orient="horz" pos="2835" userDrawn="1">
          <p15:clr>
            <a:srgbClr val="F26B43"/>
          </p15:clr>
        </p15:guide>
        <p15:guide id="43" orient="horz" pos="3061" userDrawn="1">
          <p15:clr>
            <a:srgbClr val="F26B43"/>
          </p15:clr>
        </p15:guide>
        <p15:guide id="44" orient="horz" pos="3288" userDrawn="1">
          <p15:clr>
            <a:srgbClr val="F26B43"/>
          </p15:clr>
        </p15:guide>
        <p15:guide id="45" orient="horz" pos="3515" userDrawn="1">
          <p15:clr>
            <a:srgbClr val="F26B43"/>
          </p15:clr>
        </p15:guide>
        <p15:guide id="46" orient="horz" pos="3742" userDrawn="1">
          <p15:clr>
            <a:srgbClr val="F26B43"/>
          </p15:clr>
        </p15:guide>
        <p15:guide id="47" orient="horz" pos="3968" userDrawn="1">
          <p15:clr>
            <a:srgbClr val="F26B43"/>
          </p15:clr>
        </p15:guide>
        <p15:guide id="48" orient="horz" pos="4195" userDrawn="1">
          <p15:clr>
            <a:srgbClr val="F26B43"/>
          </p15:clr>
        </p15:guide>
        <p15:guide id="49" orient="horz" pos="4422" userDrawn="1">
          <p15:clr>
            <a:srgbClr val="F26B43"/>
          </p15:clr>
        </p15:guide>
        <p15:guide id="50" orient="horz" pos="46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1811" cy="75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0691812" cy="48640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070" y="608435"/>
            <a:ext cx="9645671" cy="50910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2726208F-D6F7-1381-5132-3B60A6BFE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6" y="1425665"/>
            <a:ext cx="8018859" cy="3609631"/>
          </a:xfrm>
        </p:spPr>
        <p:txBody>
          <a:bodyPr anchor="ctr">
            <a:normAutofit/>
          </a:bodyPr>
          <a:lstStyle/>
          <a:p>
            <a:pPr lvl="0"/>
            <a:r>
              <a:rPr lang="pl-PL" sz="6600"/>
              <a:t>SKRYPTY KONFIGURACYJNE W SYSTEMIE CISCO IOS</a:t>
            </a:r>
            <a:endParaRPr lang="hr-HR" sz="6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3070" y="7004888"/>
            <a:ext cx="9646688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1A395D3-35E7-4FC6-9F13-A51704F8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62" y="7156492"/>
            <a:ext cx="2405657" cy="40248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83385F5-A64F-428D-9CAC-5D502640F501}" type="datetime1">
              <a:rPr lang="pl-PL" smtClean="0"/>
              <a:pPr>
                <a:spcAft>
                  <a:spcPts val="600"/>
                </a:spcAft>
              </a:pPr>
              <a:t>03.02.2026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168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F8BFF-56FC-8D98-0EFE-4821D7FE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>
            <a:extLst>
              <a:ext uri="{FF2B5EF4-FFF2-40B4-BE49-F238E27FC236}">
                <a16:creationId xmlns:a16="http://schemas.microsoft.com/office/drawing/2014/main" id="{03AADC24-26FB-ABE3-07B0-503F2F4E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5" y="899836"/>
            <a:ext cx="8640381" cy="503737"/>
          </a:xfrm>
        </p:spPr>
        <p:txBody>
          <a:bodyPr>
            <a:normAutofit fontScale="90000"/>
          </a:bodyPr>
          <a:lstStyle/>
          <a:p>
            <a:r>
              <a:rPr lang="pl-PL" dirty="0"/>
              <a:t>Tryb pracy CLI a ładowanie konfiguracji z pliku.</a:t>
            </a:r>
            <a:br>
              <a:rPr lang="pl-PL" dirty="0"/>
            </a:br>
            <a:r>
              <a:rPr lang="pl-PL" dirty="0"/>
              <a:t> </a:t>
            </a:r>
            <a:br>
              <a:rPr lang="pl-PL" dirty="0"/>
            </a:br>
            <a:endParaRPr lang="pl-PL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E11816A-D731-C274-5BF4-83BB2C4C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015AA-59F6-416B-87A6-8E3D940284E2}" type="slidenum">
              <a:rPr lang="pl-PL" smtClean="0"/>
              <a:pPr/>
              <a:t>2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6A2C6D0-05D8-F649-CCFB-2273C705E43E}"/>
              </a:ext>
            </a:extLst>
          </p:cNvPr>
          <p:cNvSpPr txBox="1"/>
          <p:nvPr/>
        </p:nvSpPr>
        <p:spPr>
          <a:xfrm>
            <a:off x="1020290" y="1547589"/>
            <a:ext cx="8640381" cy="2481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 systemie operacyjnym Cisco ISO, w trybie pracy CLI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Command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Line Interface) możemy wpisywać komendy systemu na trzy sposoby:</a:t>
            </a:r>
          </a:p>
          <a:p>
            <a:pPr>
              <a:lnSpc>
                <a:spcPct val="130000"/>
              </a:lnSpc>
              <a:buNone/>
            </a:pPr>
            <a:endParaRPr lang="pl-P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dirty="0"/>
              <a:t>pełną postać komendy np. </a:t>
            </a:r>
            <a:r>
              <a:rPr lang="pl-PL" dirty="0" err="1"/>
              <a:t>interface</a:t>
            </a:r>
            <a:r>
              <a:rPr lang="pl-PL" dirty="0"/>
              <a:t> </a:t>
            </a:r>
            <a:r>
              <a:rPr lang="pl-PL" dirty="0" err="1"/>
              <a:t>address</a:t>
            </a:r>
            <a:r>
              <a:rPr lang="pl-PL" dirty="0"/>
              <a:t> 2001:A:B:C::1/64,</a:t>
            </a:r>
            <a:endParaRPr lang="hr-H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dirty="0"/>
              <a:t>uproszczoną postać komendy np. </a:t>
            </a:r>
            <a:r>
              <a:rPr lang="pl-PL" b="1" dirty="0" err="1"/>
              <a:t>int</a:t>
            </a:r>
            <a:r>
              <a:rPr lang="pl-PL" b="1" dirty="0"/>
              <a:t> </a:t>
            </a:r>
            <a:r>
              <a:rPr lang="pl-PL" b="1" dirty="0" err="1"/>
              <a:t>addr</a:t>
            </a:r>
            <a:r>
              <a:rPr lang="pl-PL" b="1" dirty="0"/>
              <a:t> 2001:A:B:C::1/64</a:t>
            </a:r>
            <a:r>
              <a:rPr lang="pl-PL" dirty="0"/>
              <a:t>,</a:t>
            </a:r>
            <a:endParaRPr lang="hr-H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l-PL" sz="2800" b="1" dirty="0">
                <a:solidFill>
                  <a:srgbClr val="FF0000"/>
                </a:solidFill>
              </a:rPr>
              <a:t>ładować komendy z pliku skryptu konfiguracyjnego. </a:t>
            </a:r>
            <a:endParaRPr lang="hr-HR" sz="2800" b="1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buNone/>
            </a:pPr>
            <a:endParaRPr lang="hr-H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9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12118C9C-56A6-4451-8007-C4E5EE35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5" y="899836"/>
            <a:ext cx="8640381" cy="503737"/>
          </a:xfrm>
        </p:spPr>
        <p:txBody>
          <a:bodyPr>
            <a:normAutofit fontScale="90000"/>
          </a:bodyPr>
          <a:lstStyle/>
          <a:p>
            <a:r>
              <a:rPr lang="pl-PL" dirty="0"/>
              <a:t>Wady i zalety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15552F-3A1D-4DE6-AEF3-01B8E89D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55EEC7B-B8D4-3963-044C-2ED62A8F5101}"/>
              </a:ext>
            </a:extLst>
          </p:cNvPr>
          <p:cNvSpPr txBox="1"/>
          <p:nvPr/>
        </p:nvSpPr>
        <p:spPr>
          <a:xfrm>
            <a:off x="994766" y="1619597"/>
            <a:ext cx="8887643" cy="401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Wada: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Autor pliku musi dobrze znać tryby pracy w IOS oraz poziomy konfiguracyjne IOS.</a:t>
            </a:r>
            <a:endParaRPr lang="hr-H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Wada: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Autor pliku musi bardzo dobrze znać komendy IOS oraz wpisywać je bez błędów.</a:t>
            </a:r>
            <a:endParaRPr lang="hr-H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Zaleta: </a:t>
            </a:r>
            <a:r>
              <a:rPr lang="pl-PL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 wiele szybsza konfiguracja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wynikowa topologii w porównaniu z ręcznym wprowadzaniem komend w CLI, szczególnie w przypadku bardziej złożonych topologii.</a:t>
            </a:r>
          </a:p>
          <a:p>
            <a:pPr>
              <a:lnSpc>
                <a:spcPct val="130000"/>
              </a:lnSpc>
            </a:pP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Zaleta: </a:t>
            </a:r>
            <a:r>
              <a:rPr lang="pl-PL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Prostota wykonania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wykorzystywanie metody „kopiuj i wklej” oraz </a:t>
            </a:r>
            <a:r>
              <a:rPr lang="pl-PL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Notatnika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endParaRPr lang="hr-H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endParaRPr lang="pl-PL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 przykład w przypadku konfiguracji routingu statycznego w 6 routerach za pomocą gotowych plików skryptowych można ją wykonać w czasie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około 20 minut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 ręczna konfiguracja tej samej sieci zajmuje czas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około 1-2 godziny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Uwaga: Czas ten jest oczywiście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zależny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także od wydajności administratora.</a:t>
            </a:r>
            <a:endParaRPr lang="hr-H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9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BD62A-3331-D76B-5B01-660A0591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976A7E42-0085-8770-887B-3499957E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l-PL" sz="1800" b="1" dirty="0"/>
              <a:t>PRZYGOTOWANIE WZORCA PLIKU SKRYPTU KONFIGURACYJNEGO</a:t>
            </a:r>
            <a:endParaRPr lang="hr-HR" sz="1800" b="1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543A05-94DD-5192-223C-2C8825E9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1756CD3-64C5-F062-C072-C59B107CF197}"/>
              </a:ext>
            </a:extLst>
          </p:cNvPr>
          <p:cNvSpPr txBox="1"/>
          <p:nvPr/>
        </p:nvSpPr>
        <p:spPr>
          <a:xfrm>
            <a:off x="3041650" y="6516141"/>
            <a:ext cx="5348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Przykładowa topologia – stan początkowy</a:t>
            </a:r>
            <a:endParaRPr lang="hr-HR" dirty="0"/>
          </a:p>
        </p:txBody>
      </p:sp>
      <p:pic>
        <p:nvPicPr>
          <p:cNvPr id="6" name="Obraz 5" descr="Obraz zawierający tekst, wewnątrz&#10;&#10;Opis wygenerowany automatycznie">
            <a:extLst>
              <a:ext uri="{FF2B5EF4-FFF2-40B4-BE49-F238E27FC236}">
                <a16:creationId xmlns:a16="http://schemas.microsoft.com/office/drawing/2014/main" id="{B190E877-F5A9-F6C6-CEA8-94AB1D72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56" y="1618571"/>
            <a:ext cx="7388880" cy="43225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6567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5BE29-983B-A649-D518-CB72D11B1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26001" y="2038211"/>
            <a:ext cx="3674841" cy="3068549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ytuł 4">
            <a:extLst>
              <a:ext uri="{FF2B5EF4-FFF2-40B4-BE49-F238E27FC236}">
                <a16:creationId xmlns:a16="http://schemas.microsoft.com/office/drawing/2014/main" id="{B958BDEE-4C40-D1AA-7A7B-726BF0BE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21" y="2168546"/>
            <a:ext cx="2305422" cy="280787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WZORZEC</a:t>
            </a:r>
          </a:p>
        </p:txBody>
      </p:sp>
      <p:pic>
        <p:nvPicPr>
          <p:cNvPr id="2" name="Obraz 1" descr="Obraz zawierający tekst&#10;&#10;Opis wygenerowany automatycznie">
            <a:extLst>
              <a:ext uri="{FF2B5EF4-FFF2-40B4-BE49-F238E27FC236}">
                <a16:creationId xmlns:a16="http://schemas.microsoft.com/office/drawing/2014/main" id="{020AE430-1A2B-C2BE-C6B4-14E194889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82" y="1870764"/>
            <a:ext cx="5946356" cy="3815578"/>
          </a:xfrm>
          <a:prstGeom prst="rect">
            <a:avLst/>
          </a:prstGeom>
          <a:noFill/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95FE4625-9B70-4BD9-9035-0E700FBD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6462" y="7006698"/>
            <a:ext cx="451060" cy="4024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B4015AA-59F6-416B-87A6-8E3D940284E2}" type="slidenum">
              <a:rPr lang="en-US" sz="120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Symbol zastępczy daty 3" hidden="1">
            <a:extLst>
              <a:ext uri="{FF2B5EF4-FFF2-40B4-BE49-F238E27FC236}">
                <a16:creationId xmlns:a16="http://schemas.microsoft.com/office/drawing/2014/main" id="{43276708-416B-D7DD-C686-1E53E05A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D857886D-A165-4D54-8DB0-CE6586ECA8EC}" type="datetime1">
              <a:rPr lang="pl-PL" smtClean="0"/>
              <a:pPr>
                <a:spcAft>
                  <a:spcPts val="600"/>
                </a:spcAft>
              </a:pPr>
              <a:t>03.02.2026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55815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BA52-1C9D-FA01-5F19-872CE0A8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B7565977-859C-3D61-6092-F2F3A734A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5" y="899836"/>
            <a:ext cx="8640381" cy="1007793"/>
          </a:xfrm>
        </p:spPr>
        <p:txBody>
          <a:bodyPr>
            <a:normAutofit fontScale="90000"/>
          </a:bodyPr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C8E1EE-2939-D3CB-57D0-D0F5AAC9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A77E0D2-9094-108C-C6AC-D17C788B7FE0}"/>
              </a:ext>
            </a:extLst>
          </p:cNvPr>
          <p:cNvSpPr txBox="1"/>
          <p:nvPr/>
        </p:nvSpPr>
        <p:spPr>
          <a:xfrm>
            <a:off x="953418" y="4006939"/>
            <a:ext cx="252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skrypt-dlaCZAPLINEK.txt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1704E6-D636-254F-AFF6-6E9A81B3BE3A}"/>
              </a:ext>
            </a:extLst>
          </p:cNvPr>
          <p:cNvSpPr txBox="1"/>
          <p:nvPr/>
        </p:nvSpPr>
        <p:spPr>
          <a:xfrm>
            <a:off x="4121770" y="1421616"/>
            <a:ext cx="534828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en</a:t>
            </a:r>
            <a:endParaRPr lang="hr-HR" dirty="0"/>
          </a:p>
          <a:p>
            <a:r>
              <a:rPr lang="hr-HR" dirty="0" err="1"/>
              <a:t>conf</a:t>
            </a:r>
            <a:r>
              <a:rPr lang="hr-HR" dirty="0"/>
              <a:t> t</a:t>
            </a:r>
          </a:p>
          <a:p>
            <a:r>
              <a:rPr lang="hr-HR" dirty="0"/>
              <a:t>! </a:t>
            </a:r>
            <a:r>
              <a:rPr lang="hr-HR" dirty="0" err="1"/>
              <a:t>Konfiguracja</a:t>
            </a:r>
            <a:r>
              <a:rPr lang="hr-HR" dirty="0"/>
              <a:t> </a:t>
            </a:r>
            <a:r>
              <a:rPr lang="hr-HR" dirty="0" err="1"/>
              <a:t>routera</a:t>
            </a:r>
            <a:r>
              <a:rPr lang="hr-HR" dirty="0"/>
              <a:t> CZAPLINEK</a:t>
            </a:r>
          </a:p>
          <a:p>
            <a:r>
              <a:rPr lang="hr-HR" dirty="0" err="1"/>
              <a:t>hostname</a:t>
            </a:r>
            <a:r>
              <a:rPr lang="hr-HR" dirty="0"/>
              <a:t> CZAPLINEK</a:t>
            </a:r>
          </a:p>
          <a:p>
            <a:r>
              <a:rPr lang="hr-HR" dirty="0"/>
              <a:t>ipv6 </a:t>
            </a:r>
            <a:r>
              <a:rPr lang="hr-HR" dirty="0" err="1"/>
              <a:t>unicast-routing</a:t>
            </a:r>
            <a:endParaRPr lang="hr-HR" dirty="0"/>
          </a:p>
          <a:p>
            <a:r>
              <a:rPr lang="hr-HR" dirty="0"/>
              <a:t>interface Serial0/0/0</a:t>
            </a:r>
          </a:p>
          <a:p>
            <a:r>
              <a:rPr lang="hr-HR" dirty="0"/>
              <a:t> 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FE80::5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2001:DB8:5::1/48</a:t>
            </a:r>
          </a:p>
          <a:p>
            <a:r>
              <a:rPr lang="hr-HR" dirty="0"/>
              <a:t> </a:t>
            </a:r>
            <a:r>
              <a:rPr lang="hr-HR" dirty="0" err="1"/>
              <a:t>clock</a:t>
            </a:r>
            <a:r>
              <a:rPr lang="hr-HR" dirty="0"/>
              <a:t> rate 2000000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interface Serial0/0/1</a:t>
            </a:r>
          </a:p>
          <a:p>
            <a:r>
              <a:rPr lang="hr-HR" dirty="0"/>
              <a:t> 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FE80::5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2001:DB8:3::2/48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2001:DB8:3::1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2001:DB8:5::2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2001:DB8:4::2</a:t>
            </a:r>
          </a:p>
          <a:p>
            <a:r>
              <a:rPr lang="hr-HR" dirty="0" err="1"/>
              <a:t>end</a:t>
            </a:r>
            <a:endParaRPr lang="hr-HR" dirty="0"/>
          </a:p>
          <a:p>
            <a:r>
              <a:rPr lang="hr-HR" dirty="0" err="1"/>
              <a:t>write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4323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5E05D-E1E8-494E-D2FB-9432280F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E33B7004-CAF9-FFFF-0179-B20480AE6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F880DCF-E4B9-D107-0B0B-B852B40D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05880A0-C87D-C513-3726-E99E22AE281F}"/>
              </a:ext>
            </a:extLst>
          </p:cNvPr>
          <p:cNvSpPr txBox="1"/>
          <p:nvPr/>
        </p:nvSpPr>
        <p:spPr>
          <a:xfrm>
            <a:off x="953418" y="2155257"/>
            <a:ext cx="2527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skrypt-dlaKOLOBRZEG.txt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0D2311-2AAF-9F75-F9E1-1B8D03747063}"/>
              </a:ext>
            </a:extLst>
          </p:cNvPr>
          <p:cNvSpPr txBox="1"/>
          <p:nvPr/>
        </p:nvSpPr>
        <p:spPr>
          <a:xfrm>
            <a:off x="4390109" y="1266549"/>
            <a:ext cx="53482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en</a:t>
            </a:r>
            <a:endParaRPr lang="hr-HR" dirty="0"/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uprzywilejowany</a:t>
            </a:r>
            <a:endParaRPr lang="hr-HR" dirty="0"/>
          </a:p>
          <a:p>
            <a:r>
              <a:rPr lang="hr-HR" dirty="0" err="1"/>
              <a:t>conf</a:t>
            </a:r>
            <a:r>
              <a:rPr lang="hr-HR" dirty="0"/>
              <a:t> t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</a:t>
            </a:r>
            <a:r>
              <a:rPr lang="hr-HR" dirty="0" err="1"/>
              <a:t>globalnej</a:t>
            </a:r>
            <a:endParaRPr lang="hr-HR" dirty="0"/>
          </a:p>
          <a:p>
            <a:r>
              <a:rPr lang="hr-HR" dirty="0"/>
              <a:t>! </a:t>
            </a:r>
            <a:r>
              <a:rPr lang="hr-HR" dirty="0" err="1"/>
              <a:t>Konfiguracja</a:t>
            </a:r>
            <a:r>
              <a:rPr lang="hr-HR" dirty="0"/>
              <a:t> </a:t>
            </a:r>
            <a:r>
              <a:rPr lang="hr-HR" dirty="0" err="1"/>
              <a:t>routera</a:t>
            </a:r>
            <a:r>
              <a:rPr lang="hr-HR" dirty="0"/>
              <a:t> KOLOBRZEG</a:t>
            </a:r>
          </a:p>
          <a:p>
            <a:r>
              <a:rPr lang="hr-HR" dirty="0" err="1"/>
              <a:t>hostname</a:t>
            </a:r>
            <a:r>
              <a:rPr lang="hr-HR" dirty="0"/>
              <a:t> KOLOBRZEG</a:t>
            </a:r>
          </a:p>
          <a:p>
            <a:r>
              <a:rPr lang="hr-HR" dirty="0"/>
              <a:t>ipv6 </a:t>
            </a:r>
            <a:r>
              <a:rPr lang="hr-HR" dirty="0" err="1"/>
              <a:t>unicast-routing</a:t>
            </a:r>
            <a:endParaRPr lang="hr-HR" dirty="0"/>
          </a:p>
          <a:p>
            <a:r>
              <a:rPr lang="hr-HR" dirty="0"/>
              <a:t>!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interfejsu</a:t>
            </a:r>
          </a:p>
          <a:p>
            <a:r>
              <a:rPr lang="hr-HR" dirty="0"/>
              <a:t>interface GigabitEthernet0/0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FE80::2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2001:DB8:8::1/48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interface GigabitEthernet0/1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FE80::2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2001:DB8:2::2/48</a:t>
            </a:r>
          </a:p>
          <a:p>
            <a:r>
              <a:rPr lang="hr-HR" dirty="0"/>
              <a:t>!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1737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C530-71BD-501D-75DA-789E66E9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709D29B3-1BAD-42D6-9387-19C358DF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9E28735-166F-C0E8-FDC6-6B2A582A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36D5951-36E1-7EC5-5B59-01BD1CBDDD0E}"/>
              </a:ext>
            </a:extLst>
          </p:cNvPr>
          <p:cNvSpPr txBox="1"/>
          <p:nvPr/>
        </p:nvSpPr>
        <p:spPr>
          <a:xfrm>
            <a:off x="4830574" y="1467989"/>
            <a:ext cx="53482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interface Serial0/0/0</a:t>
            </a:r>
          </a:p>
          <a:p>
            <a:r>
              <a:rPr lang="hr-HR" dirty="0"/>
              <a:t> 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FE80::2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2001:DB8:7::1/48</a:t>
            </a:r>
          </a:p>
          <a:p>
            <a:r>
              <a:rPr lang="hr-HR" dirty="0"/>
              <a:t> </a:t>
            </a:r>
            <a:r>
              <a:rPr lang="hr-HR" dirty="0" err="1"/>
              <a:t>clock</a:t>
            </a:r>
            <a:r>
              <a:rPr lang="hr-HR" dirty="0"/>
              <a:t> rate 2000000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</a:t>
            </a:r>
            <a:r>
              <a:rPr lang="hr-HR" dirty="0" err="1"/>
              <a:t>routingu</a:t>
            </a:r>
            <a:r>
              <a:rPr lang="hr-HR" dirty="0"/>
              <a:t> </a:t>
            </a:r>
            <a:r>
              <a:rPr lang="hr-HR" dirty="0" err="1"/>
              <a:t>statycznego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2001:DB8:7::2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2001:DB8:8::2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2001:DB8:7::2</a:t>
            </a:r>
          </a:p>
          <a:p>
            <a:r>
              <a:rPr lang="hr-HR" dirty="0"/>
              <a:t>!</a:t>
            </a:r>
          </a:p>
          <a:p>
            <a:r>
              <a:rPr lang="hr-HR" dirty="0" err="1"/>
              <a:t>end</a:t>
            </a:r>
            <a:endParaRPr lang="hr-HR" dirty="0"/>
          </a:p>
          <a:p>
            <a:r>
              <a:rPr lang="hr-HR" dirty="0" err="1"/>
              <a:t>write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72319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01C7-8F46-1F54-E693-320773DD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9B5DAAC0-88D7-406E-3AC5-C0A3763C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4B709C4-1807-8245-E940-5F292480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0E35C9D-3DED-6448-79DF-F1F56C7516DB}"/>
              </a:ext>
            </a:extLst>
          </p:cNvPr>
          <p:cNvSpPr txBox="1"/>
          <p:nvPr/>
        </p:nvSpPr>
        <p:spPr>
          <a:xfrm>
            <a:off x="881410" y="2015208"/>
            <a:ext cx="245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skrypt-dlaKOSZALIN.txt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B9D92D5-8C0D-DBE3-852F-514C891B2134}"/>
              </a:ext>
            </a:extLst>
          </p:cNvPr>
          <p:cNvSpPr txBox="1"/>
          <p:nvPr/>
        </p:nvSpPr>
        <p:spPr>
          <a:xfrm>
            <a:off x="3905746" y="1266549"/>
            <a:ext cx="534828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en</a:t>
            </a:r>
            <a:endParaRPr lang="hr-HR" dirty="0"/>
          </a:p>
          <a:p>
            <a:r>
              <a:rPr lang="hr-HR" dirty="0" err="1"/>
              <a:t>conf</a:t>
            </a:r>
            <a:r>
              <a:rPr lang="hr-HR" dirty="0"/>
              <a:t> t</a:t>
            </a:r>
          </a:p>
          <a:p>
            <a:r>
              <a:rPr lang="hr-HR" dirty="0"/>
              <a:t>! </a:t>
            </a:r>
            <a:r>
              <a:rPr lang="hr-HR" dirty="0" err="1"/>
              <a:t>Konfiguracja</a:t>
            </a:r>
            <a:r>
              <a:rPr lang="hr-HR" dirty="0"/>
              <a:t> </a:t>
            </a:r>
            <a:r>
              <a:rPr lang="hr-HR" dirty="0" err="1"/>
              <a:t>routera</a:t>
            </a:r>
            <a:r>
              <a:rPr lang="hr-HR" dirty="0"/>
              <a:t> KOSZALIN</a:t>
            </a:r>
          </a:p>
          <a:p>
            <a:r>
              <a:rPr lang="hr-HR" dirty="0" err="1"/>
              <a:t>hostname</a:t>
            </a:r>
            <a:r>
              <a:rPr lang="hr-HR" dirty="0"/>
              <a:t> KOSZALIN</a:t>
            </a:r>
          </a:p>
          <a:p>
            <a:r>
              <a:rPr lang="hr-HR" dirty="0"/>
              <a:t>ipv6 </a:t>
            </a:r>
            <a:r>
              <a:rPr lang="hr-HR" dirty="0" err="1"/>
              <a:t>unicast-routing</a:t>
            </a:r>
            <a:endParaRPr lang="hr-HR" dirty="0"/>
          </a:p>
          <a:p>
            <a:r>
              <a:rPr lang="hr-HR" dirty="0"/>
              <a:t>interface GigabitEthernet0/0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FE80::3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2001:DB8:21::2/48</a:t>
            </a:r>
          </a:p>
          <a:p>
            <a:r>
              <a:rPr lang="hr-HR" dirty="0"/>
              <a:t>interface GigabitEthernet0/1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FE80::3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2001:DB8:6::2/48</a:t>
            </a:r>
          </a:p>
          <a:p>
            <a:r>
              <a:rPr lang="hr-HR" dirty="0"/>
              <a:t>interface Serial0/0/0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FE80::3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2001:DB8:7::2/48</a:t>
            </a:r>
          </a:p>
          <a:p>
            <a:r>
              <a:rPr lang="hr-HR" dirty="0"/>
              <a:t>interface Serial0/0/1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FE80::3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2001:DB8:4::2/48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95303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554A0-195B-B80A-A284-47B1CC1C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0043D064-B182-EB6A-5D3A-E85247FB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7BF2E60-2D6D-75C0-665D-E5084C76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E965DC3-F780-0F4B-3544-69BAC49131EC}"/>
              </a:ext>
            </a:extLst>
          </p:cNvPr>
          <p:cNvSpPr txBox="1"/>
          <p:nvPr/>
        </p:nvSpPr>
        <p:spPr>
          <a:xfrm>
            <a:off x="3977754" y="1439836"/>
            <a:ext cx="53482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</a:t>
            </a:r>
            <a:r>
              <a:rPr lang="hr-HR" dirty="0" err="1"/>
              <a:t>routingu</a:t>
            </a:r>
            <a:r>
              <a:rPr lang="hr-HR" dirty="0"/>
              <a:t> </a:t>
            </a:r>
            <a:r>
              <a:rPr lang="hr-HR" dirty="0" err="1"/>
              <a:t>statycznego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2001:DB8:6::1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2001:DB8:7::1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2001:DB8:4::1</a:t>
            </a:r>
          </a:p>
          <a:p>
            <a:r>
              <a:rPr lang="hr-HR" dirty="0" err="1"/>
              <a:t>end</a:t>
            </a:r>
            <a:endParaRPr lang="hr-HR" dirty="0"/>
          </a:p>
          <a:p>
            <a:r>
              <a:rPr lang="hr-HR" dirty="0" err="1"/>
              <a:t>write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92125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6F46-5A13-5B13-A036-9B13114A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C94ACA57-C891-ED96-E679-D54021F4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5" y="899836"/>
            <a:ext cx="3096245" cy="2729883"/>
          </a:xfrm>
        </p:spPr>
        <p:txBody>
          <a:bodyPr>
            <a:normAutofit fontScale="90000"/>
          </a:bodyPr>
          <a:lstStyle/>
          <a:p>
            <a:r>
              <a:rPr lang="pl-PL" dirty="0"/>
              <a:t>PRZYGOTOWANIE</a:t>
            </a:r>
            <a:br>
              <a:rPr lang="pl-PL" dirty="0"/>
            </a:br>
            <a:r>
              <a:rPr lang="pl-PL" dirty="0"/>
              <a:t> POLECEŃ </a:t>
            </a:r>
            <a:br>
              <a:rPr lang="pl-PL" dirty="0"/>
            </a:br>
            <a:r>
              <a:rPr lang="pl-PL" dirty="0"/>
              <a:t>DLA ROUTINGU </a:t>
            </a:r>
            <a:br>
              <a:rPr lang="pl-PL" dirty="0"/>
            </a:br>
            <a:r>
              <a:rPr lang="pl-PL" dirty="0"/>
              <a:t>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7BA6605-D829-7C29-34BE-4E796454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31C6A0D-0215-0185-AA90-162082E6178F}"/>
              </a:ext>
            </a:extLst>
          </p:cNvPr>
          <p:cNvSpPr txBox="1"/>
          <p:nvPr/>
        </p:nvSpPr>
        <p:spPr>
          <a:xfrm>
            <a:off x="995933" y="3929955"/>
            <a:ext cx="238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skrypt-dlaSZCZECIN.txt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0042EF2-D9D2-410B-ED07-30100D28BD82}"/>
              </a:ext>
            </a:extLst>
          </p:cNvPr>
          <p:cNvSpPr txBox="1"/>
          <p:nvPr/>
        </p:nvSpPr>
        <p:spPr>
          <a:xfrm>
            <a:off x="4265786" y="467469"/>
            <a:ext cx="534828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en</a:t>
            </a:r>
            <a:endParaRPr lang="hr-HR" dirty="0"/>
          </a:p>
          <a:p>
            <a:r>
              <a:rPr lang="hr-HR" dirty="0" err="1"/>
              <a:t>conf</a:t>
            </a:r>
            <a:r>
              <a:rPr lang="hr-HR" dirty="0"/>
              <a:t> t</a:t>
            </a:r>
          </a:p>
          <a:p>
            <a:r>
              <a:rPr lang="hr-HR" dirty="0"/>
              <a:t>! </a:t>
            </a:r>
            <a:r>
              <a:rPr lang="hr-HR" dirty="0" err="1"/>
              <a:t>Konfiguracja</a:t>
            </a:r>
            <a:r>
              <a:rPr lang="hr-HR" dirty="0"/>
              <a:t> </a:t>
            </a:r>
            <a:r>
              <a:rPr lang="hr-HR" dirty="0" err="1"/>
              <a:t>routera</a:t>
            </a:r>
            <a:r>
              <a:rPr lang="hr-HR" dirty="0"/>
              <a:t> SZCZECIN</a:t>
            </a:r>
          </a:p>
          <a:p>
            <a:r>
              <a:rPr lang="hr-HR" dirty="0" err="1"/>
              <a:t>hostname</a:t>
            </a:r>
            <a:r>
              <a:rPr lang="hr-HR" dirty="0"/>
              <a:t> SZCZECIN</a:t>
            </a:r>
          </a:p>
          <a:p>
            <a:r>
              <a:rPr lang="hr-HR" dirty="0"/>
              <a:t>ipv6 </a:t>
            </a:r>
            <a:r>
              <a:rPr lang="hr-HR" dirty="0" err="1"/>
              <a:t>unicast-routing</a:t>
            </a:r>
            <a:endParaRPr lang="hr-HR" dirty="0"/>
          </a:p>
          <a:p>
            <a:r>
              <a:rPr lang="hr-HR" dirty="0"/>
              <a:t>interface GigabitEthernet0/0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FE80::1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2001:DB8:1::2/48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interface GigabitEthernet0/1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FE80::1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2001:DB8:2::1/48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interface Serial0/0/0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FE80::1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 ipv6 </a:t>
            </a:r>
            <a:r>
              <a:rPr lang="hr-HR" dirty="0" err="1"/>
              <a:t>address</a:t>
            </a:r>
            <a:r>
              <a:rPr lang="hr-HR" dirty="0"/>
              <a:t> 2001:DB8:3::1/48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</a:t>
            </a:r>
            <a:r>
              <a:rPr lang="hr-HR" dirty="0" err="1"/>
              <a:t>routingu</a:t>
            </a:r>
            <a:r>
              <a:rPr lang="hr-HR" dirty="0"/>
              <a:t> </a:t>
            </a:r>
            <a:r>
              <a:rPr lang="hr-HR" dirty="0" err="1"/>
              <a:t>statycznego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2001:DB8:2::2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2001:DB8:3::2</a:t>
            </a:r>
          </a:p>
          <a:p>
            <a:r>
              <a:rPr lang="hr-HR" dirty="0" err="1"/>
              <a:t>end</a:t>
            </a:r>
            <a:endParaRPr lang="hr-HR" dirty="0"/>
          </a:p>
          <a:p>
            <a:r>
              <a:rPr lang="hr-HR" dirty="0" err="1"/>
              <a:t>write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63625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B5A7-79B8-BB47-3EB3-C64FFB829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6C797251-C928-FFFC-3A3B-5F931C38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2FCF326-2A5A-44E7-47D0-6E5D2254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4B265A-B9AE-3809-59DA-657B249608AB}"/>
              </a:ext>
            </a:extLst>
          </p:cNvPr>
          <p:cNvSpPr txBox="1"/>
          <p:nvPr/>
        </p:nvSpPr>
        <p:spPr>
          <a:xfrm>
            <a:off x="665386" y="2267669"/>
            <a:ext cx="2592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skrypt-dlaSZCZECINEK.txt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F163459-F777-4F49-AC7E-203E801248EF}"/>
              </a:ext>
            </a:extLst>
          </p:cNvPr>
          <p:cNvSpPr txBox="1"/>
          <p:nvPr/>
        </p:nvSpPr>
        <p:spPr>
          <a:xfrm>
            <a:off x="3833738" y="1691605"/>
            <a:ext cx="53482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en</a:t>
            </a:r>
            <a:endParaRPr lang="hr-HR" dirty="0"/>
          </a:p>
          <a:p>
            <a:r>
              <a:rPr lang="hr-HR" dirty="0" err="1"/>
              <a:t>conf</a:t>
            </a:r>
            <a:r>
              <a:rPr lang="hr-HR" dirty="0"/>
              <a:t> t</a:t>
            </a:r>
          </a:p>
          <a:p>
            <a:r>
              <a:rPr lang="hr-HR" dirty="0"/>
              <a:t>! </a:t>
            </a:r>
            <a:r>
              <a:rPr lang="hr-HR" dirty="0" err="1"/>
              <a:t>Konfiguracja</a:t>
            </a:r>
            <a:r>
              <a:rPr lang="hr-HR" dirty="0"/>
              <a:t> </a:t>
            </a:r>
            <a:r>
              <a:rPr lang="hr-HR" dirty="0" err="1"/>
              <a:t>routera</a:t>
            </a:r>
            <a:r>
              <a:rPr lang="hr-HR" dirty="0"/>
              <a:t> SZCZECINEK</a:t>
            </a:r>
          </a:p>
          <a:p>
            <a:r>
              <a:rPr lang="hr-HR" dirty="0" err="1"/>
              <a:t>hostname</a:t>
            </a:r>
            <a:r>
              <a:rPr lang="hr-HR" dirty="0"/>
              <a:t> SZCZECINEK</a:t>
            </a:r>
          </a:p>
          <a:p>
            <a:r>
              <a:rPr lang="hr-HR" dirty="0"/>
              <a:t>ipv6 </a:t>
            </a:r>
            <a:r>
              <a:rPr lang="hr-HR" dirty="0" err="1"/>
              <a:t>unicast-routing</a:t>
            </a:r>
            <a:endParaRPr lang="hr-HR" dirty="0"/>
          </a:p>
          <a:p>
            <a:r>
              <a:rPr lang="hr-HR" dirty="0"/>
              <a:t>interface Serial0/0/0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FE80::4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2001:DB8:5::2/48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interface Serial0/0/1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FE80::4 link-</a:t>
            </a:r>
            <a:r>
              <a:rPr lang="hr-HR" dirty="0" err="1"/>
              <a:t>local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2001:DB8:4::1/48</a:t>
            </a:r>
          </a:p>
          <a:p>
            <a:r>
              <a:rPr lang="hr-HR" dirty="0" err="1"/>
              <a:t>clock</a:t>
            </a:r>
            <a:r>
              <a:rPr lang="hr-HR" dirty="0"/>
              <a:t> rate 2000000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2001:DB8:5::1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2001:DB8:4::2</a:t>
            </a:r>
          </a:p>
          <a:p>
            <a:r>
              <a:rPr lang="hr-HR" dirty="0" err="1"/>
              <a:t>end</a:t>
            </a:r>
            <a:endParaRPr lang="hr-HR" dirty="0"/>
          </a:p>
          <a:p>
            <a:r>
              <a:rPr lang="hr-HR" dirty="0" err="1"/>
              <a:t>write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04547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F457F-E84D-83C4-2954-EE16A12E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BFEA2030-8856-45FA-9D80-CD2EB07B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6" y="899836"/>
            <a:ext cx="3240260" cy="3384057"/>
          </a:xfrm>
        </p:spPr>
        <p:txBody>
          <a:bodyPr/>
          <a:lstStyle/>
          <a:p>
            <a:r>
              <a:rPr lang="pl-PL" dirty="0"/>
              <a:t>PRZYGOTOWANIE POLECEŃ DLA ROUTINGU STATYCZNEGO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7F6EF32-5B6E-4D52-0CB2-50542399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479F89D-3E8D-B29B-E7F5-ED5EC8DA76E1}"/>
              </a:ext>
            </a:extLst>
          </p:cNvPr>
          <p:cNvSpPr txBox="1"/>
          <p:nvPr/>
        </p:nvSpPr>
        <p:spPr>
          <a:xfrm>
            <a:off x="1025526" y="4931965"/>
            <a:ext cx="2095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/>
              <a:t>skrypt-dlaUSTKA.txt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41A7136-BD6D-DD03-71E0-B30570D3FD67}"/>
              </a:ext>
            </a:extLst>
          </p:cNvPr>
          <p:cNvSpPr txBox="1"/>
          <p:nvPr/>
        </p:nvSpPr>
        <p:spPr>
          <a:xfrm>
            <a:off x="4896447" y="754707"/>
            <a:ext cx="534828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dirty="0" err="1"/>
              <a:t>en</a:t>
            </a:r>
            <a:endParaRPr lang="hr-HR" dirty="0"/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uprzywilejowany</a:t>
            </a:r>
            <a:endParaRPr lang="hr-HR" dirty="0"/>
          </a:p>
          <a:p>
            <a:r>
              <a:rPr lang="hr-HR" dirty="0" err="1"/>
              <a:t>conf</a:t>
            </a:r>
            <a:r>
              <a:rPr lang="hr-HR" dirty="0"/>
              <a:t> t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</a:t>
            </a:r>
            <a:r>
              <a:rPr lang="hr-HR" dirty="0" err="1"/>
              <a:t>globalnej</a:t>
            </a:r>
            <a:endParaRPr lang="hr-HR" dirty="0"/>
          </a:p>
          <a:p>
            <a:r>
              <a:rPr lang="hr-HR" dirty="0"/>
              <a:t>! </a:t>
            </a:r>
            <a:r>
              <a:rPr lang="hr-HR" dirty="0" err="1"/>
              <a:t>Konfiguracja</a:t>
            </a:r>
            <a:r>
              <a:rPr lang="hr-HR" dirty="0"/>
              <a:t> </a:t>
            </a:r>
            <a:r>
              <a:rPr lang="hr-HR" dirty="0" err="1"/>
              <a:t>routera</a:t>
            </a:r>
            <a:r>
              <a:rPr lang="hr-HR" dirty="0"/>
              <a:t> USTKA</a:t>
            </a:r>
          </a:p>
          <a:p>
            <a:r>
              <a:rPr lang="hr-HR" dirty="0" err="1"/>
              <a:t>hostname</a:t>
            </a:r>
            <a:r>
              <a:rPr lang="hr-HR" dirty="0"/>
              <a:t> USTKA</a:t>
            </a:r>
          </a:p>
          <a:p>
            <a:r>
              <a:rPr lang="hr-HR" dirty="0"/>
              <a:t>ipv6 </a:t>
            </a:r>
            <a:r>
              <a:rPr lang="hr-HR" dirty="0" err="1"/>
              <a:t>unicast-routing</a:t>
            </a:r>
            <a:endParaRPr lang="hr-HR" dirty="0"/>
          </a:p>
          <a:p>
            <a:r>
              <a:rPr lang="hr-HR" dirty="0"/>
              <a:t>!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interfejsu</a:t>
            </a:r>
          </a:p>
          <a:p>
            <a:r>
              <a:rPr lang="hr-HR" dirty="0"/>
              <a:t>interface GigabitEthernet0/0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2001:DB8:8::2/48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interface GigabitEthernet0/1</a:t>
            </a:r>
          </a:p>
          <a:p>
            <a:r>
              <a:rPr lang="hr-HR" dirty="0"/>
              <a:t>no </a:t>
            </a:r>
            <a:r>
              <a:rPr lang="hr-HR" dirty="0" err="1"/>
              <a:t>ip</a:t>
            </a:r>
            <a:r>
              <a:rPr lang="hr-HR" dirty="0"/>
              <a:t> </a:t>
            </a:r>
            <a:r>
              <a:rPr lang="hr-HR" dirty="0" err="1"/>
              <a:t>address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address</a:t>
            </a:r>
            <a:r>
              <a:rPr lang="hr-HR" dirty="0"/>
              <a:t> 2001:DB8:6::1/48</a:t>
            </a:r>
          </a:p>
          <a:p>
            <a:r>
              <a:rPr lang="hr-HR" dirty="0"/>
              <a:t>!</a:t>
            </a:r>
          </a:p>
          <a:p>
            <a:r>
              <a:rPr lang="hr-HR" dirty="0"/>
              <a:t>!</a:t>
            </a:r>
            <a:r>
              <a:rPr lang="hr-HR" dirty="0" err="1"/>
              <a:t>tryb</a:t>
            </a:r>
            <a:r>
              <a:rPr lang="hr-HR" dirty="0"/>
              <a:t> </a:t>
            </a:r>
            <a:r>
              <a:rPr lang="hr-HR" dirty="0" err="1"/>
              <a:t>konfiguracji</a:t>
            </a:r>
            <a:r>
              <a:rPr lang="hr-HR" dirty="0"/>
              <a:t> </a:t>
            </a:r>
            <a:r>
              <a:rPr lang="hr-HR" dirty="0" err="1"/>
              <a:t>routingu</a:t>
            </a:r>
            <a:r>
              <a:rPr lang="hr-HR" dirty="0"/>
              <a:t> </a:t>
            </a:r>
            <a:r>
              <a:rPr lang="hr-HR" dirty="0" err="1"/>
              <a:t>statycznego</a:t>
            </a:r>
            <a:endParaRPr lang="hr-HR" dirty="0"/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2001:DB8:21::/48 2001:DB8:6::2</a:t>
            </a:r>
          </a:p>
          <a:p>
            <a:r>
              <a:rPr lang="hr-HR" dirty="0"/>
              <a:t>ipv6 </a:t>
            </a:r>
            <a:r>
              <a:rPr lang="hr-HR" dirty="0" err="1"/>
              <a:t>route</a:t>
            </a:r>
            <a:r>
              <a:rPr lang="hr-HR" dirty="0"/>
              <a:t> 2001:DB8:1::/48 2001:DB8:8::1</a:t>
            </a:r>
          </a:p>
          <a:p>
            <a:r>
              <a:rPr lang="hr-HR" dirty="0"/>
              <a:t>!</a:t>
            </a:r>
          </a:p>
          <a:p>
            <a:r>
              <a:rPr lang="hr-HR" dirty="0" err="1"/>
              <a:t>end</a:t>
            </a:r>
            <a:endParaRPr lang="hr-HR" dirty="0"/>
          </a:p>
          <a:p>
            <a:r>
              <a:rPr lang="hr-HR" dirty="0" err="1"/>
              <a:t>write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08647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773F1-3BAE-C91F-F2F7-93657F81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1812" cy="755967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10691811" cy="1737198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28625" cy="1736654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10691813" cy="1735386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ytuł 4">
            <a:extLst>
              <a:ext uri="{FF2B5EF4-FFF2-40B4-BE49-F238E27FC236}">
                <a16:creationId xmlns:a16="http://schemas.microsoft.com/office/drawing/2014/main" id="{537CB7E4-C18C-3303-58F7-7F7BEAFB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5" y="273415"/>
            <a:ext cx="6194552" cy="12778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URUCHAMIANIE SKRYPTÓW –WARIANT 1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3A5A402-E46A-51CD-355E-43BE92E51B85}"/>
              </a:ext>
            </a:extLst>
          </p:cNvPr>
          <p:cNvSpPr txBox="1"/>
          <p:nvPr/>
        </p:nvSpPr>
        <p:spPr>
          <a:xfrm>
            <a:off x="7517679" y="430819"/>
            <a:ext cx="2835703" cy="962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Metoda „Kopiuj i wklej” w zakładce CLI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Obraz 1" descr="Obraz zawierający strzałka&#10;&#10;Opis wygenerowany automatycznie">
            <a:extLst>
              <a:ext uri="{FF2B5EF4-FFF2-40B4-BE49-F238E27FC236}">
                <a16:creationId xmlns:a16="http://schemas.microsoft.com/office/drawing/2014/main" id="{DE0FF53C-5C16-C46C-E009-EED60FFD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41" y="3516187"/>
            <a:ext cx="9933729" cy="2210253"/>
          </a:xfrm>
          <a:prstGeom prst="rect">
            <a:avLst/>
          </a:prstGeom>
        </p:spPr>
      </p:pic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F0BE7AF-70A9-02AB-C8CD-BA1E4EBA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66501" y="7116174"/>
            <a:ext cx="2405657" cy="402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D857886D-A165-4D54-8DB0-CE6586ECA8EC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2/3/2026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414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4B4A8-4FC7-D74D-879B-B5DD2CAB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1812" cy="755967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10691811" cy="1737198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28625" cy="1736654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10691813" cy="1735386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ytuł 4">
            <a:extLst>
              <a:ext uri="{FF2B5EF4-FFF2-40B4-BE49-F238E27FC236}">
                <a16:creationId xmlns:a16="http://schemas.microsoft.com/office/drawing/2014/main" id="{78F9BA4C-C5CF-14D4-C834-1E8A5FEA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5" y="273415"/>
            <a:ext cx="6194552" cy="12778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URUCHAMIANIE SKRYPTÓW –WARIANT 2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99FDB79-C4FA-F372-6192-0EBDC9490CD6}"/>
              </a:ext>
            </a:extLst>
          </p:cNvPr>
          <p:cNvSpPr txBox="1"/>
          <p:nvPr/>
        </p:nvSpPr>
        <p:spPr>
          <a:xfrm>
            <a:off x="7517679" y="430819"/>
            <a:ext cx="2835703" cy="962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Przycisk „Load” w zakładce „Config”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F74C353A-03C2-B333-6BF0-6A46DBE5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41" y="2839387"/>
            <a:ext cx="9933729" cy="3563853"/>
          </a:xfrm>
          <a:prstGeom prst="rect">
            <a:avLst/>
          </a:prstGeom>
        </p:spPr>
      </p:pic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57F844-FEA0-769F-06A8-29C3EC8D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66501" y="7116174"/>
            <a:ext cx="2405657" cy="402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D857886D-A165-4D54-8DB0-CE6586ECA8EC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2/3/2026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228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387C-013A-A0BE-C693-E854A270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B8874250-710B-F69B-E9FD-2C721F0D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Nie zapomnij o sprawdzeniu i ewentualnym</a:t>
            </a:r>
            <a:br>
              <a:rPr lang="pl-PL" dirty="0"/>
            </a:br>
            <a:r>
              <a:rPr lang="pl-PL" dirty="0"/>
              <a:t>poprawieniu skryptów!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4C9185E-B6E5-C36A-DB7C-CB6DA1DA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8E38C6C-182C-6A5D-4567-4B644F7C1AED}"/>
              </a:ext>
            </a:extLst>
          </p:cNvPr>
          <p:cNvSpPr txBox="1"/>
          <p:nvPr/>
        </p:nvSpPr>
        <p:spPr>
          <a:xfrm>
            <a:off x="2969642" y="3203773"/>
            <a:ext cx="42846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pl-PL" sz="4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Sprawdzenie</a:t>
            </a:r>
            <a:endParaRPr lang="hr-HR" sz="4800" b="1" dirty="0">
              <a:effectLst/>
              <a:highlight>
                <a:srgbClr val="FFFF00"/>
              </a:highlight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150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5EF2-BF3A-7DFE-0133-21C7669A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1082FFA3-490A-EDF1-3E74-0B127B10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525" y="899836"/>
            <a:ext cx="8640381" cy="647753"/>
          </a:xfrm>
        </p:spPr>
        <p:txBody>
          <a:bodyPr>
            <a:normAutofit fontScale="90000"/>
          </a:bodyPr>
          <a:lstStyle/>
          <a:p>
            <a:r>
              <a:rPr lang="pl-PL" dirty="0"/>
              <a:t>STAN PO „WKLEJENIU” POLECEŃ DO ROUTERÓW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0C1DCDE-B194-CF00-D1FF-954F2F84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1588" y="539750"/>
            <a:ext cx="1800225" cy="366713"/>
          </a:xfrm>
          <a:prstGeom prst="rect">
            <a:avLst/>
          </a:prstGeom>
        </p:spPr>
        <p:txBody>
          <a:bodyPr/>
          <a:lstStyle/>
          <a:p>
            <a:fld id="{D857886D-A165-4D54-8DB0-CE6586ECA8EC}" type="datetime1">
              <a:rPr lang="pl-PL" smtClean="0"/>
              <a:t>03.02.2026</a:t>
            </a:fld>
            <a:endParaRPr lang="pl-PL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0C71A14-3AF2-9543-3155-2A92E2343756}"/>
              </a:ext>
            </a:extLst>
          </p:cNvPr>
          <p:cNvSpPr txBox="1"/>
          <p:nvPr/>
        </p:nvSpPr>
        <p:spPr>
          <a:xfrm>
            <a:off x="3555977" y="6650593"/>
            <a:ext cx="5348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Przykładowa topologia – stan końcowy</a:t>
            </a:r>
            <a:endParaRPr lang="hr-HR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113B17F-B816-36B1-B419-F786D843E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506" y="2011388"/>
            <a:ext cx="7560840" cy="44189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2298340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77BFCBD39F3B44996BBF8BCE9FC6B2" ma:contentTypeVersion="13" ma:contentTypeDescription="Utwórz nowy dokument." ma:contentTypeScope="" ma:versionID="c637df38de2dbf23b3f3b8bfd26c1123">
  <xsd:schema xmlns:xsd="http://www.w3.org/2001/XMLSchema" xmlns:xs="http://www.w3.org/2001/XMLSchema" xmlns:p="http://schemas.microsoft.com/office/2006/metadata/properties" xmlns:ns2="0c5571f8-96a6-4f43-8265-8f8cc0f7ac54" xmlns:ns3="46fad15e-f814-49c8-8d0d-db7327d8a406" targetNamespace="http://schemas.microsoft.com/office/2006/metadata/properties" ma:root="true" ma:fieldsID="9623216976162528e775edf36b1851c6" ns2:_="" ns3:_="">
    <xsd:import namespace="0c5571f8-96a6-4f43-8265-8f8cc0f7ac54"/>
    <xsd:import namespace="46fad15e-f814-49c8-8d0d-db7327d8a4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71f8-96a6-4f43-8265-8f8cc0f7ac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Tagi obrazów" ma:readOnly="false" ma:fieldId="{5cf76f15-5ced-4ddc-b409-7134ff3c332f}" ma:taxonomyMulti="true" ma:sspId="d134e4b8-377d-442c-b5bd-7a06feb52b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ad15e-f814-49c8-8d0d-db7327d8a40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7269964-c8aa-4184-a5eb-320246970774}" ma:internalName="TaxCatchAll" ma:showField="CatchAllData" ma:web="46fad15e-f814-49c8-8d0d-db7327d8a4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fad15e-f814-49c8-8d0d-db7327d8a406" xsi:nil="true"/>
    <lcf76f155ced4ddcb4097134ff3c332f xmlns="0c5571f8-96a6-4f43-8265-8f8cc0f7ac5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8F762F-DAA2-4245-9BB7-AE7852DDD8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CBD2E5-0720-4060-B5D2-6EEEDA4476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71f8-96a6-4f43-8265-8f8cc0f7ac54"/>
    <ds:schemaRef ds:uri="46fad15e-f814-49c8-8d0d-db7327d8a4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DC3233-83B7-48FB-8FD1-5C61329437D0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46fad15e-f814-49c8-8d0d-db7327d8a406"/>
    <ds:schemaRef ds:uri="http://purl.org/dc/elements/1.1/"/>
    <ds:schemaRef ds:uri="0c5571f8-96a6-4f43-8265-8f8cc0f7ac54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966</Words>
  <Application>Microsoft Office PowerPoint</Application>
  <PresentationFormat>Niestandardowy</PresentationFormat>
  <Paragraphs>205</Paragraphs>
  <Slides>17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Times New Roman</vt:lpstr>
      <vt:lpstr>Motyw pakietu Office</vt:lpstr>
      <vt:lpstr>SKRYPTY KONFIGURACYJNE W SYSTEMIE CISCO IOS</vt:lpstr>
      <vt:lpstr>Tryb pracy CLI a ładowanie konfiguracji z pliku.   </vt:lpstr>
      <vt:lpstr>Wady i zalety</vt:lpstr>
      <vt:lpstr>PRZYGOTOWANIE WZORCA PLIKU SKRYPTU KONFIGURACYJNEGO</vt:lpstr>
      <vt:lpstr>WZORZEC</vt:lpstr>
      <vt:lpstr>PRZYGOTOWANIE POLECEŃ DLA ROUTINGU STATYCZNEGO</vt:lpstr>
      <vt:lpstr>PRZYGOTOWANIE POLECEŃ DLA ROUTINGU STATYCZNEGO</vt:lpstr>
      <vt:lpstr>PRZYGOTOWANIE POLECEŃ DLA ROUTINGU STATYCZNEGO</vt:lpstr>
      <vt:lpstr>PRZYGOTOWANIE POLECEŃ DLA ROUTINGU STATYCZNEGO</vt:lpstr>
      <vt:lpstr>PRZYGOTOWANIE POLECEŃ DLA ROUTINGU STATYCZNEGO</vt:lpstr>
      <vt:lpstr>PRZYGOTOWANIE  POLECEŃ  DLA ROUTINGU  STATYCZNEGO</vt:lpstr>
      <vt:lpstr>PRZYGOTOWANIE POLECEŃ DLA ROUTINGU STATYCZNEGO</vt:lpstr>
      <vt:lpstr>PRZYGOTOWANIE POLECEŃ DLA ROUTINGU STATYCZNEGO</vt:lpstr>
      <vt:lpstr>URUCHAMIANIE SKRYPTÓW –WARIANT 1</vt:lpstr>
      <vt:lpstr>URUCHAMIANIE SKRYPTÓW –WARIANT 2</vt:lpstr>
      <vt:lpstr>Nie zapomnij o sprawdzeniu i ewentualnym poprawieniu skryptów!</vt:lpstr>
      <vt:lpstr>STAN PO „WKLEJENIU” POLECEŃ DO ROUTERÓW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Sowiński Piotr</dc:creator>
  <cp:lastModifiedBy>Jerzy Kluczewski</cp:lastModifiedBy>
  <cp:revision>19</cp:revision>
  <dcterms:created xsi:type="dcterms:W3CDTF">2022-06-22T09:40:44Z</dcterms:created>
  <dcterms:modified xsi:type="dcterms:W3CDTF">2026-02-03T18:07:55Z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0x010100D477BFCBD39F3B44996BBF8BCE9FC6B2</vt:lpwstr>
  </property>
</Properties>
</file>