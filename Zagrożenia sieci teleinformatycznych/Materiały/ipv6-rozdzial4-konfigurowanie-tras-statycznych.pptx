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  <p:sldMasterId id="2147484052" r:id="rId2"/>
    <p:sldMasterId id="2147484088" r:id="rId3"/>
  </p:sldMasterIdLst>
  <p:notesMasterIdLst>
    <p:notesMasterId r:id="rId19"/>
  </p:notesMasterIdLst>
  <p:sldIdLst>
    <p:sldId id="513" r:id="rId4"/>
    <p:sldId id="880" r:id="rId5"/>
    <p:sldId id="882" r:id="rId6"/>
    <p:sldId id="884" r:id="rId7"/>
    <p:sldId id="885" r:id="rId8"/>
    <p:sldId id="886" r:id="rId9"/>
    <p:sldId id="887" r:id="rId10"/>
    <p:sldId id="888" r:id="rId11"/>
    <p:sldId id="889" r:id="rId12"/>
    <p:sldId id="890" r:id="rId13"/>
    <p:sldId id="891" r:id="rId14"/>
    <p:sldId id="892" r:id="rId15"/>
    <p:sldId id="893" r:id="rId16"/>
    <p:sldId id="894" r:id="rId17"/>
    <p:sldId id="895" r:id="rId18"/>
  </p:sldIdLst>
  <p:sldSz cx="9144000" cy="5143500" type="screen16x9"/>
  <p:notesSz cx="6858000" cy="9144000"/>
  <p:custDataLst>
    <p:tags r:id="rId20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9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7E9EB"/>
    <a:srgbClr val="592A8A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38" autoAdjust="0"/>
    <p:restoredTop sz="84371" autoAdjust="0"/>
  </p:normalViewPr>
  <p:slideViewPr>
    <p:cSldViewPr snapToGrid="0" showGuides="1">
      <p:cViewPr varScale="1">
        <p:scale>
          <a:sx n="76" d="100"/>
          <a:sy n="76" d="100"/>
        </p:scale>
        <p:origin x="114" y="696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commentAuthors" Target="commentAuthor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2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2400274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3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539655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4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18918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5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1782465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6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419919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7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1570824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8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6253945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9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23918093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10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4665052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11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13550702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12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26137554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13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8874775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14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0384824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15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996413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dirty="0"/>
              <a:t>Materiały pomocnicze dla nauczyciela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pl-PL" dirty="0"/>
              <a:t>Materiały </a:t>
            </a:r>
            <a:r>
              <a:rPr lang="pl-PL" dirty="0" err="1"/>
              <a:t>pomo</a:t>
            </a:r>
            <a:endParaRPr lang="en-US" dirty="0"/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tx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Obraz 3" descr="Obraz zawierający tekst, clipart&#10;&#10;Opis wygenerowany automatycznie">
            <a:extLst>
              <a:ext uri="{FF2B5EF4-FFF2-40B4-BE49-F238E27FC236}">
                <a16:creationId xmlns:a16="http://schemas.microsoft.com/office/drawing/2014/main" id="{C0372AD6-69D1-423C-9C52-069BAA95B6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501" y="214186"/>
            <a:ext cx="2285271" cy="50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725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Obraz 3" descr="Obraz zawierający tekst, clipart&#10;&#10;Opis wygenerowany automatycznie">
            <a:extLst>
              <a:ext uri="{FF2B5EF4-FFF2-40B4-BE49-F238E27FC236}">
                <a16:creationId xmlns:a16="http://schemas.microsoft.com/office/drawing/2014/main" id="{3263D56B-0888-430C-B990-3146506F0C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1" y="75185"/>
            <a:ext cx="1444499" cy="31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6866311" y="4770153"/>
            <a:ext cx="16365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2022 Wydawnictwo informatyczne ITSTART</a:t>
            </a:r>
          </a:p>
        </p:txBody>
      </p:sp>
      <p:pic>
        <p:nvPicPr>
          <p:cNvPr id="3" name="Obraz 2" descr="Obraz zawierający tekst, clipart&#10;&#10;Opis wygenerowany automatycznie">
            <a:extLst>
              <a:ext uri="{FF2B5EF4-FFF2-40B4-BE49-F238E27FC236}">
                <a16:creationId xmlns:a16="http://schemas.microsoft.com/office/drawing/2014/main" id="{15C82B64-3913-47C0-8D1B-D06D2F2DDC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6963" y="4752678"/>
            <a:ext cx="691897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="http://schemas.openxmlformats.org/drawingml/2006/chart" xmlns:c15="http://schemas.microsoft.com/office/drawing/2012/chart"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pl-PL" dirty="0">
                <a:sym typeface="Arial" pitchFamily="34" charset="0"/>
              </a:rPr>
              <a:t>Tytuł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Wydawnictwo informatyczne ITSTART. Piekary Śląskie.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320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5563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545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015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268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6529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3729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0860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3910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7668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14134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9436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72861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0732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7287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9958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Obraz 3" descr="Obraz zawierający tekst, clipart&#10;&#10;Opis wygenerowany automatycznie">
            <a:extLst>
              <a:ext uri="{FF2B5EF4-FFF2-40B4-BE49-F238E27FC236}">
                <a16:creationId xmlns:a16="http://schemas.microsoft.com/office/drawing/2014/main" id="{3263D56B-0888-430C-B990-3146506F0C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1" y="75185"/>
            <a:ext cx="1444499" cy="31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37017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>
          <p15:clr>
            <a:srgbClr val="FBAE40"/>
          </p15:clr>
        </p15:guide>
        <p15:guide id="2" pos="360">
          <p15:clr>
            <a:srgbClr val="FBAE40"/>
          </p15:clr>
        </p15:guide>
        <p15:guide id="3" orient="horz" pos="518">
          <p15:clr>
            <a:srgbClr val="FBAE40"/>
          </p15:clr>
        </p15:guide>
        <p15:guide id="4" pos="812">
          <p15:clr>
            <a:srgbClr val="FBAE40"/>
          </p15:clr>
        </p15:guide>
        <p15:guide id="5" pos="31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pl-PL" dirty="0">
                <a:sym typeface="Arial" pitchFamily="34" charset="0"/>
              </a:rPr>
              <a:t>Tytuł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072825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497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2919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876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8842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6390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5662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0579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5247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03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1453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88386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6288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24452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9710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6888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504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1"/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</a:t>
            </a:r>
            <a:r>
              <a:rPr lang="pl-PL" altLang="en-US" dirty="0"/>
              <a:t>y</a:t>
            </a:r>
            <a:r>
              <a:rPr lang="en-GB" altLang="en-US" dirty="0"/>
              <a:t>t</a:t>
            </a:r>
            <a:r>
              <a:rPr lang="pl-PL" altLang="en-US" dirty="0" err="1"/>
              <a:t>uł</a:t>
            </a:r>
            <a:endParaRPr lang="en-GB" alt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6312365" y="4760160"/>
            <a:ext cx="2203342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600" dirty="0">
                <a:solidFill>
                  <a:srgbClr val="000000"/>
                </a:solidFill>
                <a:latin typeface="+mn-lt"/>
                <a:ea typeface="+mn-ea"/>
                <a:cs typeface="CiscoSans Thin"/>
              </a:rPr>
              <a:t>Wydawnictwo informatyczne ITSTART. Piekary Śląskie 2022</a:t>
            </a:r>
          </a:p>
        </p:txBody>
      </p:sp>
      <p:pic>
        <p:nvPicPr>
          <p:cNvPr id="3" name="Obraz 2" descr="Obraz zawierający tekst, clipart&#10;&#10;Opis wygenerowany automatycznie">
            <a:extLst>
              <a:ext uri="{FF2B5EF4-FFF2-40B4-BE49-F238E27FC236}">
                <a16:creationId xmlns:a16="http://schemas.microsoft.com/office/drawing/2014/main" id="{E5B5301B-6235-4A25-A36C-8EA275ACAD1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20801" y="4802187"/>
            <a:ext cx="691897" cy="1524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29" r:id="rId10"/>
    <p:sldLayoutId id="2147484031" r:id="rId11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1"/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36" name="Obraz 35" descr="Obraz zawierający tekst, clipart&#10;&#10;Opis wygenerowany automatycznie">
            <a:extLst>
              <a:ext uri="{FF2B5EF4-FFF2-40B4-BE49-F238E27FC236}">
                <a16:creationId xmlns:a16="http://schemas.microsoft.com/office/drawing/2014/main" id="{AAC7B974-11C0-4587-86D9-0AE7E9B22CD8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20801" y="4802187"/>
            <a:ext cx="691897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769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  <p:sldLayoutId id="2147484054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64" r:id="rId12"/>
    <p:sldLayoutId id="2147484065" r:id="rId13"/>
    <p:sldLayoutId id="2147484066" r:id="rId14"/>
    <p:sldLayoutId id="2147484067" r:id="rId15"/>
    <p:sldLayoutId id="2147484068" r:id="rId16"/>
    <p:sldLayoutId id="2147484069" r:id="rId17"/>
    <p:sldLayoutId id="2147484070" r:id="rId18"/>
  </p:sldLayoutIdLst>
  <p:transition spd="slow">
    <p:wipe/>
  </p:transition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1"/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36" name="Obraz 35" descr="Obraz zawierający tekst, clipart&#10;&#10;Opis wygenerowany automatycznie">
            <a:extLst>
              <a:ext uri="{FF2B5EF4-FFF2-40B4-BE49-F238E27FC236}">
                <a16:creationId xmlns:a16="http://schemas.microsoft.com/office/drawing/2014/main" id="{B2296D36-0F82-45C9-A20F-0B5EA813DF71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20801" y="4802187"/>
            <a:ext cx="691897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1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9" r:id="rId1"/>
    <p:sldLayoutId id="2147484090" r:id="rId2"/>
    <p:sldLayoutId id="2147484091" r:id="rId3"/>
    <p:sldLayoutId id="2147484092" r:id="rId4"/>
    <p:sldLayoutId id="2147484093" r:id="rId5"/>
    <p:sldLayoutId id="2147484094" r:id="rId6"/>
    <p:sldLayoutId id="2147484095" r:id="rId7"/>
    <p:sldLayoutId id="2147484096" r:id="rId8"/>
    <p:sldLayoutId id="2147484097" r:id="rId9"/>
    <p:sldLayoutId id="2147484098" r:id="rId10"/>
    <p:sldLayoutId id="2147484099" r:id="rId11"/>
    <p:sldLayoutId id="2147484100" r:id="rId12"/>
    <p:sldLayoutId id="2147484101" r:id="rId13"/>
    <p:sldLayoutId id="2147484102" r:id="rId14"/>
    <p:sldLayoutId id="2147484103" r:id="rId15"/>
    <p:sldLayoutId id="2147484104" r:id="rId16"/>
  </p:sldLayoutIdLst>
  <p:transition spd="slow">
    <p:wipe/>
  </p:transition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9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0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3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4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5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6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280CE95-EC57-C26B-CEE6-1295A117D5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pl-PL" dirty="0"/>
              <a:t>Wydawnictwo informatyczne ITSTART.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329CD50-6EE0-2D6D-39C2-5E1BF9E5A1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pl-PL" dirty="0"/>
              <a:t>2022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rtl="0"/>
            <a:r>
              <a:rPr lang="pl-PL" sz="1400" dirty="0"/>
              <a:t>Materiały pomocnicze dla nauczyciela</a:t>
            </a:r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25765" y="1843914"/>
            <a:ext cx="8604880" cy="1101566"/>
          </a:xfrm>
        </p:spPr>
        <p:txBody>
          <a:bodyPr wrap="square" anchor="b">
            <a:normAutofit/>
          </a:bodyPr>
          <a:lstStyle/>
          <a:p>
            <a:pPr rtl="0"/>
            <a:r>
              <a:rPr lang="pl-PL" dirty="0"/>
              <a:t>KONFIGUROWANIE TRAS STATYCZNYCH IPv6</a:t>
            </a:r>
          </a:p>
        </p:txBody>
      </p:sp>
      <p:sp>
        <p:nvSpPr>
          <p:cNvPr id="10" name="Subtitle 6">
            <a:extLst>
              <a:ext uri="{FF2B5EF4-FFF2-40B4-BE49-F238E27FC236}">
                <a16:creationId xmlns:a16="http://schemas.microsoft.com/office/drawing/2014/main" id="{FB655CCE-A979-E2B4-41CF-4292EF0AF9DA}"/>
              </a:ext>
            </a:extLst>
          </p:cNvPr>
          <p:cNvSpPr>
            <a:spLocks noGrp="1"/>
          </p:cNvSpPr>
          <p:nvPr/>
        </p:nvSpPr>
        <p:spPr>
          <a:xfrm>
            <a:off x="469496" y="4025456"/>
            <a:ext cx="4319105" cy="288131"/>
          </a:xfrm>
          <a:prstGeom prst="rect">
            <a:avLst/>
          </a:prstGeom>
        </p:spPr>
        <p:txBody>
          <a:bodyPr vert="horz" lIns="91420" tIns="45710" rIns="91420" bIns="45710" rtlCol="0" anchor="b" anchorCtr="0">
            <a:normAutofit fontScale="85000" lnSpcReduction="20000"/>
          </a:bodyPr>
          <a:lstStyle>
            <a:lvl1pPr marL="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b="0" i="0" kern="1200">
                <a:solidFill>
                  <a:schemeClr val="accent5"/>
                </a:solidFill>
                <a:latin typeface="+mn-lt"/>
                <a:ea typeface="+mn-ea"/>
                <a:cs typeface="CiscoSans"/>
              </a:defRPr>
            </a:lvl1pPr>
            <a:lvl2pPr marL="342856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72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579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441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297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161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02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2882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Laboratorium IPV6 – materiał pomocniczy</a:t>
            </a:r>
            <a:endParaRPr lang="pl-PL" sz="1800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RODZAJE TRAS STATYCZNYCH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66700" y="965200"/>
            <a:ext cx="8877300" cy="36433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TRASY ZWYKŁE (STATIC ROUTES)</a:t>
            </a:r>
          </a:p>
          <a:p>
            <a:pPr marL="342900" lvl="0" indent="-34290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TRASY DOMYŚLNE (DEFAULT ROUTES)</a:t>
            </a:r>
          </a:p>
          <a:p>
            <a:pPr marL="342900" lvl="0" indent="-34290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TRASY ZAPASOWE (FLOATING ROUTES)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335752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TRASY MOGĄ BYĆ KONFIGUROWANE ZA POMOCĄ: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66700" y="965200"/>
            <a:ext cx="8877300" cy="36433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interfejsu wyjściowego,</a:t>
            </a:r>
          </a:p>
          <a:p>
            <a:pPr marL="342900" indent="-34290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adresu następnego przeskoku (</a:t>
            </a:r>
            <a:r>
              <a:rPr lang="pl-PL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ang.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next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hop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</a:t>
            </a:r>
          </a:p>
          <a:p>
            <a:pPr marL="342900" lvl="0" indent="-34290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adresu LLA  (</a:t>
            </a:r>
            <a:r>
              <a:rPr lang="pl-PL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ang.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link-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local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address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</a:p>
          <a:p>
            <a:pPr marL="0" indent="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None/>
            </a:pPr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1489207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Interfejs </a:t>
            </a:r>
            <a:r>
              <a:rPr lang="pl-PL" dirty="0" err="1"/>
              <a:t>Loopback</a:t>
            </a:r>
            <a:endParaRPr lang="pl-PL" dirty="0"/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66700" y="984263"/>
            <a:ext cx="8877300" cy="304363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Interfejs typu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Loopback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jest interfejsem wirtualnym, nie wymagającym podłączania do routera nowego urządzenia fizycznego, aby utworzyć nową podsieć.  Może on służyć jako podsieć bezpośrednio przyległa do routera. 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Zakres numeracji interfejsów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Loopback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liczby całkowite od 0 do 2147483647.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Zawsze jest włączony (nie wymaga polecenia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shutdown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Można go wykorzystać do testowania sieci.</a:t>
            </a:r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4125855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Przykład wykorzystania interfejsu </a:t>
            </a:r>
            <a:r>
              <a:rPr lang="pl-PL" dirty="0" err="1"/>
              <a:t>Loopback</a:t>
            </a:r>
            <a:endParaRPr lang="pl-PL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54EDE5EF-E47D-49DC-8918-5F736E6BC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555" y="1653143"/>
            <a:ext cx="7619005" cy="232185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29224656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Przykład wykorzystania interfejsu </a:t>
            </a:r>
            <a:r>
              <a:rPr lang="pl-PL" dirty="0" err="1"/>
              <a:t>Loopback</a:t>
            </a:r>
            <a:endParaRPr lang="pl-PL" dirty="0"/>
          </a:p>
        </p:txBody>
      </p:sp>
      <p:pic>
        <p:nvPicPr>
          <p:cNvPr id="5" name="Obraz 4" descr="Obraz zawierający tekst&#10;&#10;Opis wygenerowany automatycznie">
            <a:extLst>
              <a:ext uri="{FF2B5EF4-FFF2-40B4-BE49-F238E27FC236}">
                <a16:creationId xmlns:a16="http://schemas.microsoft.com/office/drawing/2014/main" id="{C3142962-DAC7-45BA-B975-45C596BD6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1935" y="1081412"/>
            <a:ext cx="7823293" cy="234947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5601429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Przykład trasy statycznej z interfejsem wyjściowym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A3859274-21CC-4523-AB9D-6580022F0D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185" y="1071761"/>
            <a:ext cx="8214545" cy="255561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06244544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Przykład trasy statycznej z GUA jako </a:t>
            </a:r>
            <a:r>
              <a:rPr lang="pl-PL" dirty="0" err="1"/>
              <a:t>next</a:t>
            </a:r>
            <a:r>
              <a:rPr lang="pl-PL" dirty="0"/>
              <a:t> hop</a:t>
            </a:r>
          </a:p>
        </p:txBody>
      </p:sp>
      <p:pic>
        <p:nvPicPr>
          <p:cNvPr id="5" name="Obraz 4" descr="Obraz zawierający tekst&#10;&#10;Opis wygenerowany automatycznie">
            <a:extLst>
              <a:ext uri="{FF2B5EF4-FFF2-40B4-BE49-F238E27FC236}">
                <a16:creationId xmlns:a16="http://schemas.microsoft.com/office/drawing/2014/main" id="{35081247-BA82-4058-8D59-59243DECBA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642" y="1261574"/>
            <a:ext cx="8154063" cy="242625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7969834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Przykład trasy statycznej z LLA jako </a:t>
            </a:r>
            <a:r>
              <a:rPr lang="pl-PL" dirty="0" err="1"/>
              <a:t>next</a:t>
            </a:r>
            <a:r>
              <a:rPr lang="pl-PL" dirty="0"/>
              <a:t> hop</a:t>
            </a:r>
          </a:p>
        </p:txBody>
      </p:sp>
      <p:pic>
        <p:nvPicPr>
          <p:cNvPr id="4" name="Obraz 3" descr="Obraz zawierający tekst&#10;&#10;Opis wygenerowany automatycznie">
            <a:extLst>
              <a:ext uri="{FF2B5EF4-FFF2-40B4-BE49-F238E27FC236}">
                <a16:creationId xmlns:a16="http://schemas.microsoft.com/office/drawing/2014/main" id="{62CC4EDE-8662-47D0-878C-FAD870285F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164" y="1157605"/>
            <a:ext cx="7624550" cy="234885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3467491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Przykład trasy domyślnej z interfejsem wyjściowym</a:t>
            </a:r>
          </a:p>
        </p:txBody>
      </p:sp>
      <p:pic>
        <p:nvPicPr>
          <p:cNvPr id="5" name="Obraz 4" descr="Obraz zawierający tekst&#10;&#10;Opis wygenerowany automatycznie">
            <a:extLst>
              <a:ext uri="{FF2B5EF4-FFF2-40B4-BE49-F238E27FC236}">
                <a16:creationId xmlns:a16="http://schemas.microsoft.com/office/drawing/2014/main" id="{36257D3A-1128-4151-A1BC-96CE00FB3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922" y="1260304"/>
            <a:ext cx="7813637" cy="232928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92433955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Przykład trasy domyślnej z GUA jako </a:t>
            </a:r>
            <a:r>
              <a:rPr lang="pl-PL" dirty="0" err="1"/>
              <a:t>next</a:t>
            </a:r>
            <a:r>
              <a:rPr lang="pl-PL" dirty="0"/>
              <a:t> hop</a:t>
            </a:r>
          </a:p>
        </p:txBody>
      </p:sp>
      <p:pic>
        <p:nvPicPr>
          <p:cNvPr id="4" name="Obraz 3" descr="Obraz zawierający tekst&#10;&#10;Opis wygenerowany automatycznie">
            <a:extLst>
              <a:ext uri="{FF2B5EF4-FFF2-40B4-BE49-F238E27FC236}">
                <a16:creationId xmlns:a16="http://schemas.microsoft.com/office/drawing/2014/main" id="{5879E08A-5CBF-47A9-8812-61EAEBC64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97" y="1515047"/>
            <a:ext cx="7918001" cy="231658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2742789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Przykład trasy domyślnej z LLA jako </a:t>
            </a:r>
            <a:r>
              <a:rPr lang="pl-PL" dirty="0" err="1"/>
              <a:t>next</a:t>
            </a:r>
            <a:r>
              <a:rPr lang="pl-PL" dirty="0"/>
              <a:t> hop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C167DCF-198B-42E3-85D0-14D9F1372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071" y="1081220"/>
            <a:ext cx="8177098" cy="240256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48000796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Przykład trasy zapasowej z interfejsem wyjściowym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B68D9F2E-B454-44AB-9DB3-8C1F4C249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076" y="828771"/>
            <a:ext cx="7393203" cy="42268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10149731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Przykład trasy zapasowej z GUA jako </a:t>
            </a:r>
            <a:r>
              <a:rPr lang="pl-PL" dirty="0" err="1"/>
              <a:t>next</a:t>
            </a:r>
            <a:r>
              <a:rPr lang="pl-PL" dirty="0"/>
              <a:t> hop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4835E237-87FE-45F7-A82F-FCE0B640C4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0" y="757551"/>
            <a:ext cx="7296691" cy="41394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93119284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Przykład trasy zapasowej z LLA jako </a:t>
            </a:r>
            <a:r>
              <a:rPr lang="pl-PL" dirty="0" err="1"/>
              <a:t>next</a:t>
            </a:r>
            <a:r>
              <a:rPr lang="pl-PL" dirty="0"/>
              <a:t> hop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9441B797-AA84-4C51-A13A-8D8136479D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567" y="757551"/>
            <a:ext cx="7411314" cy="41972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19378385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Neon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Smuga">
  <a:themeElements>
    <a:clrScheme name="Smuga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Smug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uga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2_Smuga">
  <a:themeElements>
    <a:clrScheme name="Smuga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Smug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uga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12373</TotalTime>
  <Words>293</Words>
  <Application>Microsoft Office PowerPoint</Application>
  <PresentationFormat>Pokaz na ekranie (16:9)</PresentationFormat>
  <Paragraphs>74</Paragraphs>
  <Slides>15</Slides>
  <Notes>15</Notes>
  <HiddenSlides>14</HiddenSlides>
  <MMClips>0</MMClips>
  <ScaleCrop>false</ScaleCrop>
  <HeadingPairs>
    <vt:vector size="6" baseType="variant">
      <vt:variant>
        <vt:lpstr>Używane czcionki</vt:lpstr>
      </vt:variant>
      <vt:variant>
        <vt:i4>7</vt:i4>
      </vt:variant>
      <vt:variant>
        <vt:lpstr>Motyw</vt:lpstr>
      </vt:variant>
      <vt:variant>
        <vt:i4>3</vt:i4>
      </vt:variant>
      <vt:variant>
        <vt:lpstr>Tytuły slajdów</vt:lpstr>
      </vt:variant>
      <vt:variant>
        <vt:i4>15</vt:i4>
      </vt:variant>
    </vt:vector>
  </HeadingPairs>
  <TitlesOfParts>
    <vt:vector size="25" baseType="lpstr">
      <vt:lpstr>Arial</vt:lpstr>
      <vt:lpstr>Calibri</vt:lpstr>
      <vt:lpstr>Century Gothic</vt:lpstr>
      <vt:lpstr>CiscoSans ExtraLight</vt:lpstr>
      <vt:lpstr>Symbol</vt:lpstr>
      <vt:lpstr>Times New Roman</vt:lpstr>
      <vt:lpstr>Wingdings 3</vt:lpstr>
      <vt:lpstr>Default Theme</vt:lpstr>
      <vt:lpstr>Smuga</vt:lpstr>
      <vt:lpstr>2_Smuga</vt:lpstr>
      <vt:lpstr>KONFIGUROWANIE TRAS STATYCZNYCH IPv6</vt:lpstr>
      <vt:lpstr>RODZAJE TRAS STATYCZNYCH</vt:lpstr>
      <vt:lpstr>TRASY MOGĄ BYĆ KONFIGUROWANE ZA POMOCĄ:</vt:lpstr>
      <vt:lpstr>Interfejs Loopback</vt:lpstr>
      <vt:lpstr>Przykład wykorzystania interfejsu Loopback</vt:lpstr>
      <vt:lpstr>Przykład wykorzystania interfejsu Loopback</vt:lpstr>
      <vt:lpstr>Przykład trasy statycznej z interfejsem wyjściowym</vt:lpstr>
      <vt:lpstr>Przykład trasy statycznej z GUA jako next hop</vt:lpstr>
      <vt:lpstr>Przykład trasy statycznej z LLA jako next hop</vt:lpstr>
      <vt:lpstr>Przykład trasy domyślnej z interfejsem wyjściowym</vt:lpstr>
      <vt:lpstr>Przykład trasy domyślnej z GUA jako next hop</vt:lpstr>
      <vt:lpstr>Przykład trasy domyślnej z LLA jako next hop</vt:lpstr>
      <vt:lpstr>Przykład trasy zapasowej z interfejsem wyjściowym</vt:lpstr>
      <vt:lpstr>Przykład trasy zapasowej z GUA jako next hop</vt:lpstr>
      <vt:lpstr>Przykład trasy zapasowej z LLA jako next hop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Jerzy Kluczewski</cp:lastModifiedBy>
  <cp:revision>401</cp:revision>
  <dcterms:created xsi:type="dcterms:W3CDTF">2019-10-18T06:21:22Z</dcterms:created>
  <dcterms:modified xsi:type="dcterms:W3CDTF">2022-11-21T21:14:52Z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