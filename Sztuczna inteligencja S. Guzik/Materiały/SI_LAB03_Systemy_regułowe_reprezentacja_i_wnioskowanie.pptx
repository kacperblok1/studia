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Dzień dobry. Witam na trzecim laboratorium ze sztucznej inteligencji. Tematem są systemy regułowe, czyli sposób zapisania wiedzy eksperta w postaci reguł jeżeli, to. Zbudujemy małego doradcę, który poleca laptopa, nauczymy go wyjaśniać swoje decyzje, a na koniec dodamy obsługę niepewności tak, jak robił to słynny system MYCIN. Ostatnie czterdzieści minut przeznaczymy na demonstrację waszych projektów.</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ekspertowy rozwiązuje problemy z wąskiej dziedziny tak, jak zrobiłby to specjalista. Diagnozuje, doradza albo klasyfikuje. Najważniejsza zasada brzmi: wiedza jest oddzielona od mechanizmu wnioskowania. Jeśli ekspert doda nową regułę, nie zmieniamy ani jednej linijki kodu silnika. Tak działał MYCIN, który w latach siedemdziesiątych diagnozował zakażenia krwi, i tak działają dziś na przykład systemy oceny zdolności kredytowej w bankach.</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schemacie widać pięć elementów. Baza wiedzy przechowuje reguły, czyli wiedzę ogólną. Pamięć robocza przechowuje fakty o bieżącym przypadku, na przykład o konkretnym kliencie. Silnik wnioskujący łączy jedno z drugim. Moduł wyjaśnień odpowiada na pytania dlaczego i jak, a interfejs rozmawia z użytkownikiem. Moduł wyjaśnień jest bardzo ważny, bo użytkownik musi wiedzieć, skąd wzięła się rekomendacja, zanim jej zaufa.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Wnioskowanie w przód działa w cyklu. Silnik znajduje wszystkie reguły, których warunki są spełnione. To jest zbiór konfliktowy. Z niego wybiera jedną regułę według strategii: priorytetu, specyficzności, czyli liczby warunków, albo świeżości faktów. Odpala ją, dopisuje wniosek do faktów i zaczyna od nowa. Kończy, gdy żadna reguła nie daje już nic nowego. Refrakcja pilnuje, żeby ta sama reguła nie odpalała się w kółko.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przykładzie reguły są obiektami z warunkami, wnioskiem i priorytetem. Klient programuje, używa maszyn wirtualnych, ma duży budżet i dużo podróżuje. Ślad wnioskowania pokazuje, że najpierw odpaliła reguła o trzydziestu dwóch gigabajtach pamięci, potem reguła stacji roboczej, a potem reguły dotyczące wagi i ultrabooka. Poniżej ta sama baza zostaje użyta do wnioskowania wstecz. System zaczyna od pytania, czy polecić stację roboczą, i schodzi w dół, aż dotrze do znanych faktów.</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Wnioskowanie wstecz zaczyna od hipotezy i szuka dowodu. Jeśli jakiegoś faktu brakuje, a żadna reguła go nie wyprowadza, system po prostu pyta użytkownika. Dzięki temu zadaje tylko te pytania, które są potrzebne. To zrobicie w zadaniu trzecim. Kiedy użytkownik zapyta dlaczego, system pokazuje regułę, którą właśnie próbuje udowodnić. To najprostszy, a bardzo skuteczny moduł wyjaśnień.</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prawdziwym świecie ekspert rzadko jest pewny na sto procent. MYCIN wprowadził współczynnik pewności od minus jednego do jednego. Dla koniunkcji przesłanek bierzemy minimum, czyli najsłabsze ogniwo. Wniosek reguły dostaje iloczyn pewności przesłanek i pewności samej reguły. Kiedy kilka reguł wspiera ten sam wniosek, łączymy je wzorem, który zwiększa pewność, ale nigdy nie przekracza jedności.</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przykładzie mamy objawy z pewnościami i cztery reguły. Dwie reguły wspierają grypę i razem dają pewność zero przecinek sześćdziesiąt sześć. Katar jest świadectwem przeciwnym i lekko obniża wynik do zero przecinek sześćdziesiąt cztery. W zadaniu czwartym połączycie współczynniki pewności z doradcą laptopa i posortujecie rekomendacje od najpewniejszej.</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Przejdźmy do zadań. W zadaniu pierwszym rozbudowujecie bazę do co najmniej dwunastu reguł. Dopiszcie reguły dla grafików, montażystów wideo, studentów i osób pracujących zdalnie. Dodajcie też regułę wykluczającą: jeśli ktoś potrzebuje lekkiego laptopa, nie polecamy laptopa gamingowego. Zastanówcie się, jak zapisać negację, skoro warunki reguły to zbiór faktów. Jednym z rozwiązań jest osobny zbiór warunków negatywnych. W zadaniu drugim dodajecie strategię specyficzności i szukacie przypadku, w którym zmienia ona wynik. Zadanie trzecie jest najciekawsze: system sam zadaje pytania tylko wtedy, gdy brakuje mu faktu, a na pytanie dlaczego pokazuje regułę, nad którą właśnie pracuje.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Budując bazę reguł, łatwo popełnić kilka typowych błędów. Pierwszy to reguły sprzeczne, które z tych samych faktów wyprowadzają wykluczające się wnioski. Drugi to reguły nadmiarowe, gdzie jedna jest szczególnym przypadkiem drugiej. Trzeci to pętle, w których fakt A wyprowadza B, a B wyprowadza A. Wnioskowanie wstecz może się wtedy zapętlić, dlatego warto pamiętać, które cele są już w trakcie dowodzenia. Czwarty błąd to luki, czyli klienci, dla których system nie ma żadnej rekomendacji. Dobrą praktyką jest napisanie kilku przypadków testowych z oczekiwanym wynikiem i uruchamianie ich po każdej zmianie bazy.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ostatniej części zajęć każdy zespół pokazuje pierwszy działający moduł projektu i historię commitów. Zwracam uwagę, żeby każdy członek zespołu miał swój wkład widoczny w repozytorium. Na kolejnym laboratorium zajmiemy się logiką rozmytą, która jest jeszcze innym sposobem radzenia sobie z nieprecyzyjną wiedzą. Do zobaczenia.</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0000" y="1700000"/>
            <a:ext cx="10692000" cy="3500000"/>
          </a:xfrm>
          <a:prstGeom prst="rect">
            <a:avLst/>
          </a:prstGeom>
          <a:noFill/>
        </p:spPr>
        <p:txBody>
          <a:bodyPr wrap="square">
            <a:spAutoFit/>
          </a:bodyPr>
          <a:lstStyle/>
          <a:p>
            <a:pPr>
              <a:defRPr sz="2200" b="1">
                <a:solidFill>
                  <a:srgbClr val="F26B21"/>
                </a:solidFill>
              </a:defRPr>
            </a:pPr>
            <a:r>
              <a:t>LABORATORIUM 3</a:t>
            </a:r>
          </a:p>
          <a:p>
            <a:pPr>
              <a:defRPr sz="4400" b="1">
                <a:solidFill>
                  <a:srgbClr val="FFFFFF"/>
                </a:solidFill>
              </a:defRPr>
            </a:pPr>
            <a:r>
              <a:t>Systemy regułowe: reprezentacja i wnioskowanie</a:t>
            </a:r>
          </a:p>
          <a:p>
            <a:pPr>
              <a:defRPr sz="2200" b="0">
                <a:solidFill>
                  <a:srgbClr val="DFE4EE"/>
                </a:solidFill>
              </a:defRPr>
            </a:pPr>
            <a:r>
              <a:t>Sztuczna inteligencja</a:t>
            </a:r>
          </a:p>
          <a:p>
            <a:pPr>
              <a:defRPr sz="1600" b="0">
                <a:solidFill>
                  <a:srgbClr val="B9C1D3"/>
                </a:solidFill>
              </a:defRPr>
            </a:pPr>
            <a:r>
              <a:t>mgr inż. Szymon Guzik · Uniwersytet WSB Merito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Czym jest system ekspertowy?</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Wiedza eksperta zapisana jako reguły</a:t>
            </a:r>
          </a:p>
          <a:p>
            <a:pPr>
              <a:spcAft>
                <a:spcPts val="1000"/>
              </a:spcAft>
              <a:defRPr sz="2200"/>
            </a:pPr>
            <a:r>
              <a:t>• Wiedza oddzielona od silnika</a:t>
            </a:r>
          </a:p>
          <a:p>
            <a:pPr>
              <a:spcAft>
                <a:spcPts val="1000"/>
              </a:spcAft>
              <a:defRPr sz="2200"/>
            </a:pPr>
            <a:r>
              <a:t>• MYCIN, XCON, scoring kredytowy</a:t>
            </a:r>
          </a:p>
        </p:txBody>
      </p:sp>
      <p:pic>
        <p:nvPicPr>
          <p:cNvPr id="6" name="Picture 5" descr="okladka.png"/>
          <p:cNvPicPr>
            <a:picLocks noChangeAspect="1"/>
          </p:cNvPicPr>
          <p:nvPr/>
        </p:nvPicPr>
        <p:blipFill>
          <a:blip r:embed="rId2"/>
          <a:stretch>
            <a:fillRect/>
          </a:stretch>
        </p:blipFill>
        <p:spPr>
          <a:xfrm>
            <a:off x="6096000" y="2299812"/>
            <a:ext cx="5526000" cy="3108375"/>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2/11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Architektura</a:t>
            </a:r>
          </a:p>
        </p:txBody>
      </p:sp>
      <p:pic>
        <p:nvPicPr>
          <p:cNvPr id="5" name="Picture 4" descr="architektura.png"/>
          <p:cNvPicPr>
            <a:picLocks noChangeAspect="1"/>
          </p:cNvPicPr>
          <p:nvPr/>
        </p:nvPicPr>
        <p:blipFill>
          <a:blip r:embed="rId2"/>
          <a:stretch>
            <a:fillRect/>
          </a:stretch>
        </p:blipFill>
        <p:spPr>
          <a:xfrm>
            <a:off x="570000" y="2087521"/>
            <a:ext cx="11052000" cy="3532958"/>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3/11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Cykl rozpoznaj–działaj</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Zbiór konfliktowy = reguły gotowe do odpalenia</a:t>
            </a:r>
          </a:p>
          <a:p>
            <a:pPr>
              <a:spcAft>
                <a:spcPts val="1000"/>
              </a:spcAft>
              <a:defRPr sz="2200"/>
            </a:pPr>
            <a:r>
              <a:t>• Odpalamy jedną regułę na cykl</a:t>
            </a:r>
          </a:p>
          <a:p>
            <a:pPr>
              <a:spcAft>
                <a:spcPts val="1000"/>
              </a:spcAft>
              <a:defRPr sz="2200"/>
            </a:pPr>
            <a:r>
              <a:t>• Priorytet, specyficzność, świeżość, refrakcja</a:t>
            </a:r>
          </a:p>
        </p:txBody>
      </p:sp>
      <p:pic>
        <p:nvPicPr>
          <p:cNvPr id="6" name="Picture 5" descr="cykl.png"/>
          <p:cNvPicPr>
            <a:picLocks noChangeAspect="1"/>
          </p:cNvPicPr>
          <p:nvPr/>
        </p:nvPicPr>
        <p:blipFill>
          <a:blip r:embed="rId2"/>
          <a:stretch>
            <a:fillRect/>
          </a:stretch>
        </p:blipFill>
        <p:spPr>
          <a:xfrm>
            <a:off x="6878084" y="1450000"/>
            <a:ext cx="3961831" cy="4808000"/>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4/11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1: doradca laptopa</a:t>
            </a:r>
          </a:p>
        </p:txBody>
      </p:sp>
      <p:pic>
        <p:nvPicPr>
          <p:cNvPr id="5" name="Picture 4" descr="kod_se.png"/>
          <p:cNvPicPr>
            <a:picLocks noChangeAspect="1"/>
          </p:cNvPicPr>
          <p:nvPr/>
        </p:nvPicPr>
        <p:blipFill>
          <a:blip r:embed="rId2"/>
          <a:stretch>
            <a:fillRect/>
          </a:stretch>
        </p:blipFill>
        <p:spPr>
          <a:xfrm>
            <a:off x="4015882" y="1450000"/>
            <a:ext cx="4160236"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5/11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Wnioskowanie wstecz</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Start od celu (hipotezy)</a:t>
            </a:r>
          </a:p>
          <a:p>
            <a:pPr>
              <a:spcAft>
                <a:spcPts val="1000"/>
              </a:spcAft>
              <a:defRPr sz="2200"/>
            </a:pPr>
            <a:r>
              <a:t>• Szukamy reguły, która go wyprowadza</a:t>
            </a:r>
          </a:p>
          <a:p>
            <a:pPr>
              <a:spcAft>
                <a:spcPts val="1000"/>
              </a:spcAft>
              <a:defRPr sz="2200"/>
            </a:pPr>
            <a:r>
              <a:t>• Brakujący fakt → pytanie do użytkownika</a:t>
            </a:r>
          </a:p>
          <a:p>
            <a:pPr>
              <a:spcAft>
                <a:spcPts val="1000"/>
              </a:spcAft>
              <a:defRPr sz="2200"/>
            </a:pPr>
            <a:r>
              <a:t>• „Dlaczego?” = reguła, którą właśnie dowodzimy</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6/11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Niepewność — współczynnik CF</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CF od −1 (fałsz) do 1 (pewne)</a:t>
            </a:r>
          </a:p>
          <a:p>
            <a:pPr>
              <a:spcAft>
                <a:spcPts val="1000"/>
              </a:spcAft>
              <a:defRPr sz="2200"/>
            </a:pPr>
            <a:r>
              <a:t>• Przesłanki: minimum</a:t>
            </a:r>
          </a:p>
          <a:p>
            <a:pPr>
              <a:spcAft>
                <a:spcPts val="1000"/>
              </a:spcAft>
              <a:defRPr sz="2200"/>
            </a:pPr>
            <a:r>
              <a:t>• Reguła: CF przesłanek × CF reguły</a:t>
            </a:r>
          </a:p>
          <a:p>
            <a:pPr>
              <a:spcAft>
                <a:spcPts val="1000"/>
              </a:spcAft>
              <a:defRPr sz="2200"/>
            </a:pPr>
            <a:r>
              <a:t>• Łączenie kilku świadectw</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7/11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2: diagnoza z CF</a:t>
            </a:r>
          </a:p>
        </p:txBody>
      </p:sp>
      <p:pic>
        <p:nvPicPr>
          <p:cNvPr id="5" name="Picture 4" descr="kod_cf.png"/>
          <p:cNvPicPr>
            <a:picLocks noChangeAspect="1"/>
          </p:cNvPicPr>
          <p:nvPr/>
        </p:nvPicPr>
        <p:blipFill>
          <a:blip r:embed="rId2"/>
          <a:stretch>
            <a:fillRect/>
          </a:stretch>
        </p:blipFill>
        <p:spPr>
          <a:xfrm>
            <a:off x="3053697" y="1450000"/>
            <a:ext cx="6084606"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8/11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Zadania 1–3</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1: baza 12 reguł + reguła wykluczająca</a:t>
            </a:r>
          </a:p>
          <a:p>
            <a:pPr>
              <a:spcAft>
                <a:spcPts val="1000"/>
              </a:spcAft>
              <a:defRPr sz="2200"/>
            </a:pPr>
            <a:r>
              <a:t>• 2: strategia specyficzności</a:t>
            </a:r>
          </a:p>
          <a:p>
            <a:pPr>
              <a:spcAft>
                <a:spcPts val="1000"/>
              </a:spcAft>
              <a:defRPr sz="2200"/>
            </a:pPr>
            <a:r>
              <a:t>• 3: interaktywne wnioskowanie wstecz z pytaniem „dlaczego?”</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9/11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Typowe błędy w bazach reguł</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Reguły sprzeczne — dwa różne wnioski z tych samych faktów</a:t>
            </a:r>
          </a:p>
          <a:p>
            <a:pPr>
              <a:spcAft>
                <a:spcPts val="1000"/>
              </a:spcAft>
              <a:defRPr sz="2200"/>
            </a:pPr>
            <a:r>
              <a:t>• Reguły nadmiarowe — jedna zawiera się w drugiej</a:t>
            </a:r>
          </a:p>
          <a:p>
            <a:pPr>
              <a:spcAft>
                <a:spcPts val="1000"/>
              </a:spcAft>
              <a:defRPr sz="2200"/>
            </a:pPr>
            <a:r>
              <a:t>• Pętle — A → B i B → A</a:t>
            </a:r>
          </a:p>
          <a:p>
            <a:pPr>
              <a:spcAft>
                <a:spcPts val="1000"/>
              </a:spcAft>
              <a:defRPr sz="2200"/>
            </a:pPr>
            <a:r>
              <a:t>• Luki — przypadki bez żadnej rekomendacji</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10/11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Projekt — etap 2</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Pierwszy działający moduł</a:t>
            </a:r>
          </a:p>
          <a:p>
            <a:pPr>
              <a:spcAft>
                <a:spcPts val="1000"/>
              </a:spcAft>
              <a:defRPr sz="2200"/>
            </a:pPr>
            <a:r>
              <a:t>• Commity wszystkich członków zespołu</a:t>
            </a:r>
          </a:p>
          <a:p>
            <a:pPr>
              <a:spcAft>
                <a:spcPts val="1000"/>
              </a:spcAft>
              <a:defRPr sz="2200"/>
            </a:pPr>
            <a:r>
              <a:t>• Plan na laboratoria 4 i 5</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3    11/11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