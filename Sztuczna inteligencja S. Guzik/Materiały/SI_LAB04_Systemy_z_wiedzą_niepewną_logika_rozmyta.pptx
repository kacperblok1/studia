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Dzień dobry. Witam na czwartym laboratorium ze sztucznej inteligencji. Dzisiejszy temat to systemy z wiedzą niepewną, a dokładniej logika rozmyta. Zbudujemy sterownik, który na podstawie temperatury i wilgotności ustala moc wentylatora, a potem każdy z was zaprojektuje własny sterownik, na przykład tempomat albo system podlewania. Ostatnia część zajęć to integracja modułów w waszych projektach.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poprzednich zajęciach mówiliśmy o współczynnikach pewności, czyli o tym, na ile jesteśmy pewni wniosku. Logika rozmyta dotyczy czegoś innego: nieostrych pojęć. Czy dwadzieścia trzy stopnie to ciepło? Trochę tak, trochę nie. Lotfi Zadeh zaproponował w tysiąc dziewięćset sześćdziesiątym piątym roku, żeby element należał do zbioru w pewnym stopniu, od zera do jedności. To pozwala zapisywać wiedzę tak, jak mówi o niej człowiek: jeżeli jest dość gorąco i bardzo wilgotno, włącz wentylator mocniej.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Temperatura staje się zmienną lingwistyczną z trzema wartościami: zimno, komfort i gorąco. Każda wartość ma funkcję przynależności. Na wykresie widzicie trójkąty, które na siebie zachodzą. Dzięki temu dwadzieścia siedem stopni należy częściowo do komfortu i częściowo do gorąca. Ten wykres nie jest rysunkiem z internetu: wygenerował go program z dzisiejszego przykładu, więc możecie od razu sprawdzić, jak zmienia się po zmianie parametrów.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Logika klasyczna zna i, lub oraz nie. Logika rozmyta ma ich odpowiedniki. Koniunkcję najczęściej liczymy jako minimum stopni przynależności, alternatywę jako maksimum, a negację jako jeden minus stopień. Są też inne warianty, na przykład iloczyn zamiast minimum, ale na zajęciach zostaniemy przy najprostszych. Te trzy operacje wystarczą, żeby policzyć, w jakim stopniu spełniona jest każda reguła.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Sterownik Mamdaniego działa w czterech krokach. Najpierw fuzyfikacja: zamieniamy zmierzone liczby na stopnie przynależności. Potem wnioskowanie: każda reguła dostaje stopień odpalenia równy minimum stopni jej przesłanek. Trzeci krok to agregacja: łączymy wnioski wszystkich reguł maksimum. Na końcu defuzyfikacja, czyli zamiana rozmytego wyniku z powrotem na jedną liczbę. Najpopularniejsza metoda to środek ciężkości figury.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Oto cały sterownik w niecałych pięćdziesięciu linijkach czystego Pythona. Funkcja trójkąt liczy przynależność, słowniki opisują zbiory, a lista reguł mówi, co robić. Spójrzcie na wynik dla dwudziestu siedmiu stopni i siedemdziesięciu procent wilgotności. Odpalają dwie reguły naraz: średnia i wysoka moc. Wynik, sześćdziesiąt dwa i pół procent, leży pomiędzy nimi. Gdybyśmy użyli zwykłych instrukcji if, moc przeskakiwałaby skokowo.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zadaniu pierwszym narysujecie powierzchnię sterowania. Dla każdej pary temperatury i wilgotności liczycie moc wentylatora i przedstawiacie wynik jako mapę ciepła. To najlepszy sposób, żeby ocenić sterownik jednym spojrzeniem. Tam, gdzie zobaczycie ostre schodki, zwykle brakuje reguły albo zbiory za słabo na siebie zachodzą. W zadaniu drugim zamienicie trójkąty na trapezy i sprawdzicie, jak zmieni się ta powierzchnia.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Główne zadanie dnia to własny sterownik. Wybieracie tempomat, który na podstawie odległości i różnicy prędkości decyduje o hamowaniu, kalkulator napiwku albo system podlewania ogrodu. Minimum to dwa wejścia po trzy zbiory, jedno wyjście i siedem reguł. Na koniec porównujecie go z wersją napisaną zwykłymi instrukcjami if na pięciu przypadkach testowych i opisujecie różnice w kilku zdaniach.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Kilka praktycznych wskazówek do zadania trzeciego. Po pierwsze, sąsiednie zbiory powinny na siebie zachodzić, zwykle mniej więcej w połowie. Jeśli między nimi jest przerwa, dla niektórych wartości żadna reguła nie odpali i sterownik zwróci zero. Po drugie, sprawdźcie, czy każda kombinacja wartości wejść ma swoją regułę. Przy dwóch wejściach po trzy zbiory to dziewięć kombinacji, które łatwo wypisać w tabeli. Po trzecie, zacznijcie od niewielkiej liczby reguł i stroicie je, patrząc na powierzchnię sterowania. Po czwarte, testujcie wartości graniczne, na przykład zero i maksimum zakresu, bo tam najczęściej kryją się błędy.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Logika rozmyta nie jest tylko ciekawostką akademicką. Od lat dziewięćdziesiątych steruje pralkami, klimatyzatorami i autofokusem w aparatach. Słynnym przykładem jest metro w japońskim Sendai, w którym sterownik rozmyty zapewniał płynne ruszanie i hamowanie. Dziś łączy się ją z sieciami neuronowymi w systemach neuro-rozmytych, które same uczą się funkcji przynależności z danych. W projektach możecie użyć biblioteki scikit-fuzzy.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Ostatnie pięćdziesiąt minut przeznaczamy na projekty. Łączycie moduły w jeden program z prostym interfejsem. Może to być konsola, Streamlit albo Flask. Dopisujecie testy dla dwóch lub trzech najważniejszych funkcji i instrukcję uruchomienia w pliku README. Będę przechodził między zespołami i przeglądał repozytoria. Na kolejnych zajęciach poznamy sieci neuronowe. Do zobaczenia.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1069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26B21"/>
                </a:solidFill>
              </a:defRPr>
            </a:pPr>
            <a:r>
              <a:t>LABORATORIUM 4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Systemy z wiedzą niepewną: logika rozmyta</a:t>
            </a:r>
          </a:p>
          <a:p>
            <a:pPr>
              <a:defRPr sz="2200" b="0">
                <a:solidFill>
                  <a:srgbClr val="DFE4EE"/>
                </a:solidFill>
              </a:defRPr>
            </a:pPr>
            <a:r>
              <a:t>Sztuczna inteligencja</a:t>
            </a:r>
          </a:p>
          <a:p>
            <a:pPr>
              <a:defRPr sz="1600" b="0">
                <a:solidFill>
                  <a:srgbClr val="B9C1D3"/>
                </a:solidFill>
              </a:defRPr>
            </a:pPr>
            <a:r>
              <a:t>mgr inż. Szymon Guzik · Uniwersytet WSB Merito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Nieostre pojęcia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5326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Prawdopodobieństwo — czy zdarzenie zajdzie?</a:t>
            </a:r>
          </a:p>
          <a:p>
            <a:pPr>
              <a:spcAft>
                <a:spcPts val="1000"/>
              </a:spcAft>
              <a:defRPr sz="2200"/>
            </a:pPr>
            <a:r>
              <a:t>• Logika rozmyta — w jakim stopniu pojęcie pasuje?</a:t>
            </a:r>
          </a:p>
          <a:p>
            <a:pPr>
              <a:spcAft>
                <a:spcPts val="1000"/>
              </a:spcAft>
              <a:defRPr sz="2200"/>
            </a:pPr>
            <a:r>
              <a:t>• 23 °C to trochę „komfort”, trochę „ciepło”</a:t>
            </a:r>
          </a:p>
        </p:txBody>
      </p:sp>
      <p:pic>
        <p:nvPicPr>
          <p:cNvPr id="6" name="Picture 5" descr="oklad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9812"/>
            <a:ext cx="5526000" cy="3108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Zbiór rozmyty i przynależność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5326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Zmienna lingwistyczna i jej wartości</a:t>
            </a:r>
          </a:p>
          <a:p>
            <a:pPr>
              <a:spcAft>
                <a:spcPts val="1000"/>
              </a:spcAft>
              <a:defRPr sz="2200"/>
            </a:pPr>
            <a:r>
              <a:t>• Stopień przynależności μ ∈ [0, 1]</a:t>
            </a:r>
          </a:p>
          <a:p>
            <a:pPr>
              <a:spcAft>
                <a:spcPts val="1000"/>
              </a:spcAft>
              <a:defRPr sz="2200"/>
            </a:pPr>
            <a:r>
              <a:t>• Funkcje trójkątne, trapezowe, gaussowskie</a:t>
            </a:r>
          </a:p>
        </p:txBody>
      </p:sp>
      <p:pic>
        <p:nvPicPr>
          <p:cNvPr id="6" name="Picture 5" descr="wyk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73877"/>
            <a:ext cx="5526000" cy="1360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Operacje na zbiorach rozmytych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AND → minimum</a:t>
            </a:r>
          </a:p>
          <a:p>
            <a:pPr>
              <a:spcAft>
                <a:spcPts val="1000"/>
              </a:spcAft>
              <a:defRPr sz="2200"/>
            </a:pPr>
            <a:r>
              <a:t>• OR → maksimum</a:t>
            </a:r>
          </a:p>
          <a:p>
            <a:pPr>
              <a:spcAft>
                <a:spcPts val="1000"/>
              </a:spcAft>
              <a:defRPr sz="2200"/>
            </a:pPr>
            <a:r>
              <a:t>• NOT → 1 − 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Cztery kroki Mamdaniego</a:t>
            </a:r>
          </a:p>
        </p:txBody>
      </p:sp>
      <p:pic>
        <p:nvPicPr>
          <p:cNvPr id="5" name="Picture 4" descr="mamd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00" y="3361923"/>
            <a:ext cx="11052000" cy="984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Przykład: sterownik wentylatora</a:t>
            </a:r>
          </a:p>
        </p:txBody>
      </p:sp>
      <p:pic>
        <p:nvPicPr>
          <p:cNvPr id="5" name="Picture 4" descr="kod_fuzz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821" y="1450000"/>
            <a:ext cx="4004357" cy="48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Powierzchnia sterowania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Wynik dla każdej pary wejść</a:t>
            </a:r>
          </a:p>
          <a:p>
            <a:pPr>
              <a:spcAft>
                <a:spcPts val="1000"/>
              </a:spcAft>
              <a:defRPr sz="2200"/>
            </a:pPr>
            <a:r>
              <a:t>• Mapa ciepła pokazuje płynność</a:t>
            </a:r>
          </a:p>
          <a:p>
            <a:pPr>
              <a:spcAft>
                <a:spcPts val="1000"/>
              </a:spcAft>
              <a:defRPr sz="2200"/>
            </a:pPr>
            <a:r>
              <a:t>• Schodki = za mało reguł lub za wąskie zbiory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Zadanie 3 — własny sterownik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Tempomat, napiwek albo podlewanie</a:t>
            </a:r>
          </a:p>
          <a:p>
            <a:pPr>
              <a:spcAft>
                <a:spcPts val="1000"/>
              </a:spcAft>
              <a:defRPr sz="2200"/>
            </a:pPr>
            <a:r>
              <a:t>• 2 wejścia × 3 zbiory, 1 wyjście, 7 reguł</a:t>
            </a:r>
          </a:p>
          <a:p>
            <a:pPr>
              <a:spcAft>
                <a:spcPts val="1000"/>
              </a:spcAft>
              <a:defRPr sz="2200"/>
            </a:pPr>
            <a:r>
              <a:t>• Porównanie z regułami ostrymi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Jak projektować sterownik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Zbiory sąsiednie zachodzą na siebie</a:t>
            </a:r>
          </a:p>
          <a:p>
            <a:pPr>
              <a:spcAft>
                <a:spcPts val="1000"/>
              </a:spcAft>
              <a:defRPr sz="2200"/>
            </a:pPr>
            <a:r>
              <a:t>• Każda kombinacja wejść ma regułę</a:t>
            </a:r>
          </a:p>
          <a:p>
            <a:pPr>
              <a:spcAft>
                <a:spcPts val="1000"/>
              </a:spcAft>
              <a:defRPr sz="2200"/>
            </a:pPr>
            <a:r>
              <a:t>• Najpierw mało reguł, potem strojenie</a:t>
            </a:r>
          </a:p>
          <a:p>
            <a:pPr>
              <a:spcAft>
                <a:spcPts val="1000"/>
              </a:spcAft>
              <a:defRPr sz="2200"/>
            </a:pPr>
            <a:r>
              <a:t>• Test na przypadkach granicznych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Gdzie spotkacie logikę rozmytą?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Pralki, klimatyzatory, aparaty fotograficzne</a:t>
            </a:r>
          </a:p>
          <a:p>
            <a:pPr>
              <a:spcAft>
                <a:spcPts val="1000"/>
              </a:spcAft>
              <a:defRPr sz="2200"/>
            </a:pPr>
            <a:r>
              <a:t>• Metro w Sendai — płynne hamowanie</a:t>
            </a:r>
          </a:p>
          <a:p>
            <a:pPr>
              <a:spcAft>
                <a:spcPts val="1000"/>
              </a:spcAft>
              <a:defRPr sz="2200"/>
            </a:pPr>
            <a:r>
              <a:t>• Systemy doradcze i scoring ryzyka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Projekt — etap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Jeden program z interfejsem</a:t>
            </a:r>
          </a:p>
          <a:p>
            <a:pPr>
              <a:spcAft>
                <a:spcPts val="1000"/>
              </a:spcAft>
              <a:defRPr sz="2200"/>
            </a:pPr>
            <a:r>
              <a:t>• Testy 2–3 kluczowych funkcji</a:t>
            </a:r>
          </a:p>
          <a:p>
            <a:pPr>
              <a:spcAft>
                <a:spcPts val="1000"/>
              </a:spcAft>
              <a:defRPr sz="2200"/>
            </a:pPr>
            <a:r>
              <a:t>• README z instrukcją uruchomienia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4  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