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Dzień dobry. Witam na piątym laboratorium ze sztucznej inteligencji. Dziś poznamy uczenie maszynowe i sztuczne sieci neuronowe. Najpierw zbudujemy sieć od zera, tylko z biblioteką NumPy, i nauczymy ją funkcji XOR. Potem użyjemy biblioteki scikit-learn, żeby rozpoznawać odręcznie pisane cyfry. Ostatnia godzina zajęć jest przeznaczona na przygotowanie projektów do oddania.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poprzednich zajęciach wiedzę pisaliśmy ręcznie, w postaci reguł. Uczenie maszynowe odwraca ten proces. Pokazujemy programowi przykłady, a on sam dobiera parametry modelu. W uczeniu nadzorowanym każdy przykład ma poprawną odpowiedź, na przykład obrazek i cyfrę, która na nim jest. W nienadzorowanym mamy same dane i szukamy w nich grup. W uczeniu ze wzmocnieniem agent działa w środowisku i dostaje nagrody. Dziś zajmiemy się uczeniem nadzorowanym.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Podstawowym elementem sieci jest neuron. Mnoży każde wejście przez wagę, sumuje wyniki, dodaje przesunięcie, zwane biasem, i przepuszcza sumę przez funkcję aktywacji. Sigmoida zwraca wartości od zera do jedności, tangens hiperboliczny od minus jednego do jednego, a ReLU po prostu obcina wartości ujemne. To właśnie wagi i biasy są parametrami, które sieć dobiera w trakcie uczenia.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Jak sieć się uczy? Liczymy stratę, czyli miarę błędu, na przykład średni błąd kwadratowy. Potem liczymy gradient straty względem każdej wagi. Gradient mówi, w którą stronę zmienić wagę, żeby błąd zmalał. Propagacja wsteczna robi to sprytnie: przenosi błąd od wyjścia do wejścia, warstwa po warstwie, korzystając z reguły łańcuchowej. Współczynnik uczenia określa, jak duży krok robimy. Za mały oznacza wolne uczenie, za duży powoduje skakanie wokół minimum.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Funkcja XOR ma w historii sieci neuronowych szczególne miejsce. W tysiąc dziewięćset sześćdziesiątym dziewiątym roku Minsky i Papert pokazali, że pojedynczy neuron nie potrafi się jej nauczyć, bo punktów nie da się rozdzielić jedną prostą. To na lata zahamowało badania. Rozwiązanie jest proste: jedna warstwa ukryta. Nasza sieć ma dwa wejścia, cztery neurony ukryte i jedno wyjście.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Cały kod mieści się na jednym ekranie. W pętli liczymy przejście w przód, błąd, a potem gradienty dla obu warstw i poprawiamy wagi. Po tysiącu epok błąd spada poniżej zero przecinek zero zero pięć, a sieć poprawnie zwraca zero, jeden, jeden, zero. W zadaniach zmienicie współczynnik uczenia i liczbę neuronów, a potem zamienicie sigmoidę na tangens hiperboliczny i porównacie krzywe uczenia.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praktyce nie piszemy propagacji wstecznej ręcznie. Biblioteka scikit-learn robi to za nas. Wczytujemy zbiór prawie tysiąca ośmiuset obrazków cyfr, dzielimy go na część uczącą i testową, standaryzujemy cechy i uczymy perceptron wielowarstwowy z sześćdziesięcioma czterema neuronami ukrytymi. Na danych testowych, których model nigdy nie widział, dokładność wynosi dziewięćdziesiąt siedem procent.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Dokładność to jedna liczba, a macierz pomyłek pokazuje szczegóły. Wiersze to prawdziwe cyfry, kolumny to odpowiedzi modelu. Wszystko na przekątnej jest poprawne, wszystko poza nią to błędy. Od razu widać, które cyfry model myli najczęściej. W zadaniu czwartym wyświetlicie takie błędnie rozpoznane obrazki i ocenicie, czy człowiek też miałby z nimi kłopot.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Największe niebezpieczeństwo w uczeniu maszynowym to przeuczenie. Model uczy się przykładów na pamięć i świetnie radzi sobie na danych uczących, a słabo na nowych. Dlatego zawsze oceniamy go na danych testowych. Do wyboru architektury używamy walidacji krzyżowej, w której dane dzielimy na pięć części i każda raz służy do testu. Przeuczeniu zapobiega regularyzacja i wczesne zatrzymanie uczenia.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Jak wykorzystać dzisiejsze zajęcia w projektach? Jeśli macie dane w tabeli, na przykład w pliku CSV, klasyfikator z scikit-learn wystarczy w zupełności. Jeśli przewidujecie liczbę, na przykład cenę albo czas, użyjcie wersji regresyjnej. Przy obrazach i tekście nie uczcie sieci od zera, tylko skorzystajcie z gotowego, wytrenowanego modelu i dostosujcie go do swojego problemu. To podejście nazywamy uczeniem transferowym i pozwala uzyskać dobre wyniki na małej ilości danych.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Ostatnia godzina to przygotowanie projektów do oddania. Sprawdźcie listę kontrolną. Projekt musi działać po sklonowaniu repozytorium i wykonaniu instrukcji z pliku README. Musi łączyć co najmniej dwie metody sztucznej inteligencji i mieć testy. Do tego raport i dziesięciominutowa prezentacja. Termin oddania w Moodle to jedenasty stycznia, do północy. Dziś każdy zespół robi próbną, pięciominutową prezentację.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Podsumujmy. Dziś zbudowaliście sieć neuronową od zera, nauczyliście model rozpoznawać cyfry i poznaliście zagrożenie przeuczenia. Zadania, których nie zdążycie skończyć, dokończcie w domu, bo przydadzą się w projektach. Ostatnie zajęcia, dwunastego stycznia, to prezentacje waszych projektów. Powodzenia i do zobaczenia.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1700000"/>
            <a:ext cx="1069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26B21"/>
                </a:solidFill>
              </a:defRPr>
            </a:pPr>
            <a:r>
              <a:t>LABORATORIUM 5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Uczenie maszynowe i sztuczne sieci neuronowe</a:t>
            </a:r>
          </a:p>
          <a:p>
            <a:pPr>
              <a:defRPr sz="2200" b="0">
                <a:solidFill>
                  <a:srgbClr val="DFE4EE"/>
                </a:solidFill>
              </a:defRPr>
            </a:pPr>
            <a:r>
              <a:t>Sztuczna inteligencja</a:t>
            </a:r>
          </a:p>
          <a:p>
            <a:pPr>
              <a:defRPr sz="1600" b="0">
                <a:solidFill>
                  <a:srgbClr val="B9C1D3"/>
                </a:solidFill>
              </a:defRPr>
            </a:pPr>
            <a:r>
              <a:t>mgr inż. Szymon Guzik · Uniwersytet WSB Merito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Uczenie zamiast reguł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5326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Nadzorowane — przykłady z odpowiedziami</a:t>
            </a:r>
          </a:p>
          <a:p>
            <a:pPr>
              <a:spcAft>
                <a:spcPts val="1000"/>
              </a:spcAft>
              <a:defRPr sz="2200"/>
            </a:pPr>
            <a:r>
              <a:t>• Nienadzorowane — szukanie struktury</a:t>
            </a:r>
          </a:p>
          <a:p>
            <a:pPr>
              <a:spcAft>
                <a:spcPts val="1000"/>
              </a:spcAft>
              <a:defRPr sz="2200"/>
            </a:pPr>
            <a:r>
              <a:t>• Ze wzmocnieniem — nagrody za działania</a:t>
            </a:r>
          </a:p>
        </p:txBody>
      </p:sp>
      <p:pic>
        <p:nvPicPr>
          <p:cNvPr id="6" name="Picture 5" descr="oklad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99812"/>
            <a:ext cx="5526000" cy="3108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Neuron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5326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Suma ważona wejść + bias</a:t>
            </a:r>
          </a:p>
          <a:p>
            <a:pPr>
              <a:spcAft>
                <a:spcPts val="1000"/>
              </a:spcAft>
              <a:defRPr sz="2200"/>
            </a:pPr>
            <a:r>
              <a:t>• Funkcja aktywacji — sigmoida, tanh, ReLU</a:t>
            </a:r>
          </a:p>
          <a:p>
            <a:pPr>
              <a:spcAft>
                <a:spcPts val="1000"/>
              </a:spcAft>
              <a:defRPr sz="2200"/>
            </a:pPr>
            <a:r>
              <a:t>• Wagi = to, czego sieć się uczy</a:t>
            </a:r>
          </a:p>
        </p:txBody>
      </p:sp>
      <p:pic>
        <p:nvPicPr>
          <p:cNvPr id="6" name="Picture 5" descr="neu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73868"/>
            <a:ext cx="5526000" cy="2560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Propagacja wsteczna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Strata = jak bardzo się mylimy</a:t>
            </a:r>
          </a:p>
          <a:p>
            <a:pPr>
              <a:spcAft>
                <a:spcPts val="1000"/>
              </a:spcAft>
              <a:defRPr sz="2200"/>
            </a:pPr>
            <a:r>
              <a:t>• Gradient mówi, w którą stronę zmienić wagi</a:t>
            </a:r>
          </a:p>
          <a:p>
            <a:pPr>
              <a:spcAft>
                <a:spcPts val="1000"/>
              </a:spcAft>
              <a:defRPr sz="2200"/>
            </a:pPr>
            <a:r>
              <a:t>• Błąd płynie od wyjścia do wejścia</a:t>
            </a:r>
          </a:p>
          <a:p>
            <a:pPr>
              <a:spcAft>
                <a:spcPts val="1000"/>
              </a:spcAft>
              <a:defRPr sz="2200"/>
            </a:pPr>
            <a:r>
              <a:t>• Współczynnik uczenia = wielkość kroku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Dlaczego XOR?</a:t>
            </a:r>
          </a:p>
        </p:txBody>
      </p:sp>
      <p:pic>
        <p:nvPicPr>
          <p:cNvPr id="5" name="Picture 4" descr="si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260" y="1450000"/>
            <a:ext cx="4795479" cy="48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Przykład 1: XOR w NumPy</a:t>
            </a:r>
          </a:p>
        </p:txBody>
      </p:sp>
      <p:pic>
        <p:nvPicPr>
          <p:cNvPr id="5" name="Picture 4" descr="kod_x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49" y="1450000"/>
            <a:ext cx="7455101" cy="48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Przykład 2: cyfry w scikit-learn</a:t>
            </a:r>
          </a:p>
        </p:txBody>
      </p:sp>
      <p:pic>
        <p:nvPicPr>
          <p:cNvPr id="5" name="Picture 4" descr="kod_cyf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974" y="1450000"/>
            <a:ext cx="6982052" cy="48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Macierz pomyłek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5326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Wiersze — prawdziwa cyfra</a:t>
            </a:r>
          </a:p>
          <a:p>
            <a:pPr>
              <a:spcAft>
                <a:spcPts val="1000"/>
              </a:spcAft>
              <a:defRPr sz="2200"/>
            </a:pPr>
            <a:r>
              <a:t>• Kolumny — odpowiedź modelu</a:t>
            </a:r>
          </a:p>
          <a:p>
            <a:pPr>
              <a:spcAft>
                <a:spcPts val="1000"/>
              </a:spcAft>
              <a:defRPr sz="2200"/>
            </a:pPr>
            <a:r>
              <a:t>• Poza przekątną = błędy</a:t>
            </a:r>
          </a:p>
        </p:txBody>
      </p:sp>
      <p:pic>
        <p:nvPicPr>
          <p:cNvPr id="6" name="Picture 5" descr="macier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600" y="1450000"/>
            <a:ext cx="5288800" cy="480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Przeuczenie i walidacja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Świetnie na uczących, słabo na testowych</a:t>
            </a:r>
          </a:p>
          <a:p>
            <a:pPr>
              <a:spcAft>
                <a:spcPts val="1000"/>
              </a:spcAft>
              <a:defRPr sz="2200"/>
            </a:pPr>
            <a:r>
              <a:t>• Walidacja krzyżowa</a:t>
            </a:r>
          </a:p>
          <a:p>
            <a:pPr>
              <a:spcAft>
                <a:spcPts val="1000"/>
              </a:spcAft>
              <a:defRPr sz="2200"/>
            </a:pPr>
            <a:r>
              <a:t>• Regularyzacja i wczesne zatrzymanie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Sieci neuronowe w waszych projektach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Klasyfikacja danych z CSV — MLPClassifier</a:t>
            </a:r>
          </a:p>
          <a:p>
            <a:pPr>
              <a:spcAft>
                <a:spcPts val="1000"/>
              </a:spcAft>
              <a:defRPr sz="2200"/>
            </a:pPr>
            <a:r>
              <a:t>• Prognozowanie wartości — MLPRegressor</a:t>
            </a:r>
          </a:p>
          <a:p>
            <a:pPr>
              <a:spcAft>
                <a:spcPts val="1000"/>
              </a:spcAft>
              <a:defRPr sz="2200"/>
            </a:pPr>
            <a:r>
              <a:t>• Obrazy i tekst — gotowe modele (transfer learning)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Projekt — lista kontrolna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Działa po git clone + README</a:t>
            </a:r>
          </a:p>
          <a:p>
            <a:pPr>
              <a:spcAft>
                <a:spcPts val="1000"/>
              </a:spcAft>
              <a:defRPr sz="2200"/>
            </a:pPr>
            <a:r>
              <a:t>• Minimum dwie metody SI, testy</a:t>
            </a:r>
          </a:p>
          <a:p>
            <a:pPr>
              <a:spcAft>
                <a:spcPts val="1000"/>
              </a:spcAft>
              <a:defRPr sz="2200"/>
            </a:pPr>
            <a:r>
              <a:t>• Raport 3–5 stron + prezentacja 10 min</a:t>
            </a:r>
          </a:p>
          <a:p>
            <a:pPr>
              <a:spcAft>
                <a:spcPts val="1000"/>
              </a:spcAft>
              <a:defRPr sz="2200"/>
            </a:pPr>
            <a:r>
              <a:t>• Oddanie w Moodle: 11.01.2027, 23:59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Do zobaczenia na prezentacjach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Zadania 1–4 do dokończenia w domu</a:t>
            </a:r>
          </a:p>
          <a:p>
            <a:pPr>
              <a:spcAft>
                <a:spcPts val="1000"/>
              </a:spcAft>
              <a:defRPr sz="2200"/>
            </a:pPr>
            <a:r>
              <a:t>• Próbna prezentacja dziś</a:t>
            </a:r>
          </a:p>
          <a:p>
            <a:pPr>
              <a:spcAft>
                <a:spcPts val="1000"/>
              </a:spcAft>
              <a:defRPr sz="2200"/>
            </a:pPr>
            <a:r>
              <a:t>• Prezentacje finałowe 12.01.2027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5  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