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Dzień dobry. To ostatnie zajęcia ze sztucznej inteligencji i czas na finał semestru, czyli prezentacje waszych projektów. W tym nagraniu podpowiem, jak zbudować dobrą prezentację, jakie są kryteria oceny i jakie pytania mogą paść podczas obrony. Obejrzyjcie je przed zajęciami, a najlepiej przed ostatnią próbą prezentacji w zespole.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Zajęcia zaczniemy od losowania kolejności i sprawdzenia sprzętu. Przyjdźcie z laptopem, na którym projekt już działa, i z przejściówką do projektora. Każdy zespół ma dziesięć minut na prezentację i do pięciu minut na pytania. W połowie zajęć zrobimy przerwę. Na koniec omówię oceny i każdy zespół dostanie krótką informację zwrotną, co było mocną stroną projektu, a co warto poprawić.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Proponuję taką strukturę. Pierwsze trzy minuty to demonstracja działającego programu na prawdziwych danych. Potem dwie minuty na problem i wybrane metody, dwie minuty na wyniki, minuta na wnioski. Zaczynamy od demo, bo działający program przekonuje najbardziej. Przygotujcie też nagranie ekranu z działaniem programu. Jeśli na żywo coś pójdzie nie tak, po prostu je odtwarzacie i nie tracicie czasu.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Podczas demonstracji pokażcie jeden typowy przypadek i jeden brzegowy, na przykład błędne dane wejściowe. To pokazuje, że program jest przemyślany. Nie instalujcie bibliotek na żywo i nie szukajcie plików po dysku. Przygotujcie wszystko wcześniej, a przed zajęciami uruchomcie program na czystym sklonowanym repozytorium, dokładnie tak, jak opisaliście w README.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Najczęstszy błąd w prezentacjach to zdanie „działa dobrze” bez żadnej liczby. Pokażcie konkretne wyniki: jaka jest dokładność klasyfikatora, jak krótką trasę znalazł algorytm genetyczny, w jakim czasie. Najlepiej porównajcie je z prostym rozwiązaniem, na przykład z losowym wyborem albo zwykłymi instrukcjami if. Wtedy widać, ile wnosi sztuczna inteligencja.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Projekt oceniam w skali stu punktów. Najwięcej, po dwadzieścia pięć, dostajecie za działanie programu i za dobór oraz poprawność metod sztucznej inteligencji. Po piętnaście punktów za wyniki z eksperymentami oraz za jakość kodu z testami. Po dziesięć za raport i za samą prezentację z odpowiedziami. Skala ocen jest zgodna z sylabusem: od dziewięćdziesięciu procent ocena bardzo dobra, od pięćdziesięciu dostateczna.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Podczas pytań poproszę was o pokazanie w kodzie miejsca, w którym działa konkretna metoda, i o wyjaśnienie, co się stanie po zmianie parametru. Zapytam, dlaczego wybraliście tę metodę, a nie inną z semestru, i z czym porównujecie wyniki. Każdy członek zespołu powinien umieć wyjaśnić fragment, który napisał. Ocena indywidualna może różnić się od zespołowej, jeśli wkład w projekt był nierówny.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Raport ma od trzech do pięciu stron. Opisujecie w nim problem, wybrane metody i sposób ich połączenia, krótko implementację i sposób uruchomienia, wyniki z tabelą lub wykresem oraz wnioski. Na końcu podajecie źródła. Szablon rozdziałów znajdziecie w instrukcji do dzisiejszych zajęć. Nie przepisujcie teorii z wykładów, skupcie się na waszym rozwiązaniu.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Projekt oddajecie w Moodle do jedenastego stycznia do północy. Wklejacie link do repozytorium, a w repozytorium oznaczacie wersję oddaną tagiem v jeden kropka zero. Dołączacie raport w PDF i prezentację. Dzięki tagowi wiemy obaj, którą wersję oceniam, nawet jeśli po terminie coś jeszcze poprawicie.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Kilka słów o samych slajdach. Na każdym slajdzie powinna być jedna myśl, wyrażona w tytule. Zamiast akapitu tekstu pokażcie wykres albo schemat działania programu. Jeśli pokazujecie kod, wybierzcie kilka najważniejszych linijek i powiększcie je tak, żeby było je widać z końca sali. Stosujcie dużą czcionkę, co najmniej dwadzieścia cztery punkty. Nie czytajcie slajdów, tylko opowiadajcie, co na nich widać. Na ostatnim slajdzie umieśćcie link do repozytorium i skład zespołu, żeby publiczność wiedziała, gdzie szukać szczegółów.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Ustalcie wcześniej, kto co mówi. Najlepiej, żeby każdy członek zespołu przedstawił jedną część prezentacji. Jedna osoba prowadzi demonstrację i obsługuje komputer, żeby pozostali nie musieli przepinać się między laptopami. W czasie pytań odpowiada osoba, która napisała dany fragment kodu. Jeśli ktoś nie zna odpowiedzi, lepiej to powiedzieć wprost i zaproponować, jak sprawdzić rozwiązanie, niż zgadywać. Uczciwa odpowiedź zawsze robi lepsze wrażenie niż pewna siebie, ale błędna.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 koniec trzy rady. Zróbcie próbę generalną na świeżo sklonowanym repozytorium. Nagrajcie demo na wypadek problemów. I zmierzcie czas prezentacji, bo dziesięć minut mija bardzo szybko. Dziękuję za wspólny semestr i do zobaczenia na prezentacjach.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0000" y="1700000"/>
            <a:ext cx="1069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26B21"/>
                </a:solidFill>
              </a:defRPr>
            </a:pPr>
            <a:r>
              <a:t>LABORATORIUM 6</a:t>
            </a:r>
          </a:p>
          <a:p>
            <a:pPr>
              <a:defRPr sz="4400" b="1">
                <a:solidFill>
                  <a:srgbClr val="FFFFFF"/>
                </a:solidFill>
              </a:defRPr>
            </a:pPr>
            <a:r>
              <a:t>Prezentacje i obrona projektów</a:t>
            </a:r>
          </a:p>
          <a:p>
            <a:pPr>
              <a:defRPr sz="2200" b="0">
                <a:solidFill>
                  <a:srgbClr val="DFE4EE"/>
                </a:solidFill>
              </a:defRPr>
            </a:pPr>
            <a:r>
              <a:t>Sztuczna inteligencja</a:t>
            </a:r>
          </a:p>
          <a:p>
            <a:pPr>
              <a:defRPr sz="1600" b="0">
                <a:solidFill>
                  <a:srgbClr val="B9C1D3"/>
                </a:solidFill>
              </a:defRPr>
            </a:pPr>
            <a:r>
              <a:t>mgr inż. Szymon Guzik · Uniwersytet WSB Merito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000"/>
            <a:ext cx="2300000" cy="40000"/>
          </a:xfrm>
          <a:prstGeom prst="rect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0000" y="380000"/>
            <a:ext cx="11052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4213D"/>
                </a:solidFill>
              </a:defRPr>
            </a:pPr>
            <a:r>
              <a:t>Przebieg zajęć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0000" y="1450000"/>
            <a:ext cx="5326000" cy="47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Losowanie kolejności</a:t>
            </a:r>
          </a:p>
          <a:p>
            <a:pPr>
              <a:spcAft>
                <a:spcPts val="1000"/>
              </a:spcAft>
              <a:defRPr sz="2200"/>
            </a:pPr>
            <a:r>
              <a:t>• 10 minut prezentacji + do 5 minut pytań</a:t>
            </a:r>
          </a:p>
          <a:p>
            <a:pPr>
              <a:spcAft>
                <a:spcPts val="1000"/>
              </a:spcAft>
              <a:defRPr sz="2200"/>
            </a:pPr>
            <a:r>
              <a:t>• Na koniec omówienie ocen</a:t>
            </a:r>
          </a:p>
        </p:txBody>
      </p:sp>
      <p:pic>
        <p:nvPicPr>
          <p:cNvPr id="6" name="Picture 5" descr="okladk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299812"/>
            <a:ext cx="5526000" cy="31083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0000" y="6408000"/>
            <a:ext cx="1105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A8196"/>
                </a:solidFill>
              </a:defRPr>
            </a:pPr>
            <a:r>
              <a:t>Sztuczna inteligencja · Laboratorium 6    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000"/>
            <a:ext cx="2300000" cy="40000"/>
          </a:xfrm>
          <a:prstGeom prst="rect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0000" y="380000"/>
            <a:ext cx="11052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4213D"/>
                </a:solidFill>
              </a:defRPr>
            </a:pPr>
            <a:r>
              <a:t>Struktura prezentacji</a:t>
            </a:r>
          </a:p>
        </p:txBody>
      </p:sp>
      <p:pic>
        <p:nvPicPr>
          <p:cNvPr id="5" name="Picture 4" descr="przebie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000" y="2813981"/>
            <a:ext cx="11052000" cy="20800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0000" y="6408000"/>
            <a:ext cx="1105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A8196"/>
                </a:solidFill>
              </a:defRPr>
            </a:pPr>
            <a:r>
              <a:t>Sztuczna inteligencja · Laboratorium 6    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000"/>
            <a:ext cx="2300000" cy="40000"/>
          </a:xfrm>
          <a:prstGeom prst="rect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0000" y="380000"/>
            <a:ext cx="11052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4213D"/>
                </a:solidFill>
              </a:defRPr>
            </a:pPr>
            <a:r>
              <a:t>Demo — dobre praktyki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0000" y="1450000"/>
            <a:ext cx="10852000" cy="47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Typowy przypadek + jeden brzegowy</a:t>
            </a:r>
          </a:p>
          <a:p>
            <a:pPr>
              <a:spcAft>
                <a:spcPts val="1000"/>
              </a:spcAft>
              <a:defRPr sz="2200"/>
            </a:pPr>
            <a:r>
              <a:t>• Wszystko zainstalowane wcześniej</a:t>
            </a:r>
          </a:p>
          <a:p>
            <a:pPr>
              <a:spcAft>
                <a:spcPts val="1000"/>
              </a:spcAft>
              <a:defRPr sz="2200"/>
            </a:pPr>
            <a:r>
              <a:t>• Nagranie ekranu jako plan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0000" y="6408000"/>
            <a:ext cx="1105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A8196"/>
                </a:solidFill>
              </a:defRPr>
            </a:pPr>
            <a:r>
              <a:t>Sztuczna inteligencja · Laboratorium 6    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000"/>
            <a:ext cx="2300000" cy="40000"/>
          </a:xfrm>
          <a:prstGeom prst="rect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0000" y="380000"/>
            <a:ext cx="11052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4213D"/>
                </a:solidFill>
              </a:defRPr>
            </a:pPr>
            <a:r>
              <a:t>Wyniki to liczby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0000" y="1450000"/>
            <a:ext cx="10852000" cy="47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Dokładność, błąd, czas działania</a:t>
            </a:r>
          </a:p>
          <a:p>
            <a:pPr>
              <a:spcAft>
                <a:spcPts val="1000"/>
              </a:spcAft>
              <a:defRPr sz="2200"/>
            </a:pPr>
            <a:r>
              <a:t>• Porównanie z prostym rozwiązaniem</a:t>
            </a:r>
          </a:p>
          <a:p>
            <a:pPr>
              <a:spcAft>
                <a:spcPts val="1000"/>
              </a:spcAft>
              <a:defRPr sz="2200"/>
            </a:pPr>
            <a:r>
              <a:t>• Wykres zamiast tabeli, gdy się 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0000" y="6408000"/>
            <a:ext cx="1105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A8196"/>
                </a:solidFill>
              </a:defRPr>
            </a:pPr>
            <a:r>
              <a:t>Sztuczna inteligencja · Laboratorium 6    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000"/>
            <a:ext cx="2300000" cy="40000"/>
          </a:xfrm>
          <a:prstGeom prst="rect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0000" y="380000"/>
            <a:ext cx="11052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4213D"/>
                </a:solidFill>
              </a:defRPr>
            </a:pPr>
            <a:r>
              <a:t>Kryteria oceny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0000" y="1450000"/>
            <a:ext cx="10852000" cy="47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Działanie 25 · Metody SI 25</a:t>
            </a:r>
          </a:p>
          <a:p>
            <a:pPr>
              <a:spcAft>
                <a:spcPts val="1000"/>
              </a:spcAft>
              <a:defRPr sz="2200"/>
            </a:pPr>
            <a:r>
              <a:t>• Wyniki 15 · Kod i testy 15</a:t>
            </a:r>
          </a:p>
          <a:p>
            <a:pPr>
              <a:spcAft>
                <a:spcPts val="1000"/>
              </a:spcAft>
              <a:defRPr sz="2200"/>
            </a:pPr>
            <a:r>
              <a:t>• Raport 10 · Prezentacja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0000" y="6408000"/>
            <a:ext cx="1105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A8196"/>
                </a:solidFill>
              </a:defRPr>
            </a:pPr>
            <a:r>
              <a:t>Sztuczna inteligencja · Laboratorium 6    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000"/>
            <a:ext cx="2300000" cy="40000"/>
          </a:xfrm>
          <a:prstGeom prst="rect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0000" y="380000"/>
            <a:ext cx="11052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4213D"/>
                </a:solidFill>
              </a:defRPr>
            </a:pPr>
            <a:r>
              <a:t>Pytania na obronie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0000" y="1450000"/>
            <a:ext cx="10852000" cy="47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Pokaż w kodzie metodę X</a:t>
            </a:r>
          </a:p>
          <a:p>
            <a:pPr>
              <a:spcAft>
                <a:spcPts val="1000"/>
              </a:spcAft>
              <a:defRPr sz="2200"/>
            </a:pPr>
            <a:r>
              <a:t>• Dlaczego ta metoda?</a:t>
            </a:r>
          </a:p>
          <a:p>
            <a:pPr>
              <a:spcAft>
                <a:spcPts val="1000"/>
              </a:spcAft>
              <a:defRPr sz="2200"/>
            </a:pPr>
            <a:r>
              <a:t>• Z czym porównujecie wyniki?</a:t>
            </a:r>
          </a:p>
          <a:p>
            <a:pPr>
              <a:spcAft>
                <a:spcPts val="1000"/>
              </a:spcAft>
              <a:defRPr sz="2200"/>
            </a:pPr>
            <a:r>
              <a:t>• Który fragment jest twój?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0000" y="6408000"/>
            <a:ext cx="1105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A8196"/>
                </a:solidFill>
              </a:defRPr>
            </a:pPr>
            <a:r>
              <a:t>Sztuczna inteligencja · Laboratorium 6    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000"/>
            <a:ext cx="2300000" cy="40000"/>
          </a:xfrm>
          <a:prstGeom prst="rect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0000" y="380000"/>
            <a:ext cx="11052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4213D"/>
                </a:solidFill>
              </a:defRPr>
            </a:pPr>
            <a:r>
              <a:t>Raport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0000" y="1450000"/>
            <a:ext cx="10852000" cy="47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Problem · Metody · Implementacja</a:t>
            </a:r>
          </a:p>
          <a:p>
            <a:pPr>
              <a:spcAft>
                <a:spcPts val="1000"/>
              </a:spcAft>
              <a:defRPr sz="2200"/>
            </a:pPr>
            <a:r>
              <a:t>• Wyniki · Wnioski · Źródła</a:t>
            </a:r>
          </a:p>
          <a:p>
            <a:pPr>
              <a:spcAft>
                <a:spcPts val="1000"/>
              </a:spcAft>
              <a:defRPr sz="2200"/>
            </a:pPr>
            <a:r>
              <a:t>• 3–5 stron, PDF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0000" y="6408000"/>
            <a:ext cx="1105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A8196"/>
                </a:solidFill>
              </a:defRPr>
            </a:pPr>
            <a:r>
              <a:t>Sztuczna inteligencja · Laboratorium 6    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000"/>
            <a:ext cx="2300000" cy="40000"/>
          </a:xfrm>
          <a:prstGeom prst="rect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0000" y="380000"/>
            <a:ext cx="11052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4213D"/>
                </a:solidFill>
              </a:defRPr>
            </a:pPr>
            <a:r>
              <a:t>Oddanie w Moodle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0000" y="1450000"/>
            <a:ext cx="10852000" cy="47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Link do repozytorium z tagiem v1.0</a:t>
            </a:r>
          </a:p>
          <a:p>
            <a:pPr>
              <a:spcAft>
                <a:spcPts val="1000"/>
              </a:spcAft>
              <a:defRPr sz="2200"/>
            </a:pPr>
            <a:r>
              <a:t>• Raport PDF + prezentacja</a:t>
            </a:r>
          </a:p>
          <a:p>
            <a:pPr>
              <a:spcAft>
                <a:spcPts val="1000"/>
              </a:spcAft>
              <a:defRPr sz="2200"/>
            </a:pPr>
            <a:r>
              <a:t>• Termin: 11.01.2027, 23:59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0000" y="6408000"/>
            <a:ext cx="1105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A8196"/>
                </a:solidFill>
              </a:defRPr>
            </a:pPr>
            <a:r>
              <a:t>Sztuczna inteligencja · Laboratorium 6    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000"/>
            <a:ext cx="2300000" cy="40000"/>
          </a:xfrm>
          <a:prstGeom prst="rect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0000" y="380000"/>
            <a:ext cx="11052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4213D"/>
                </a:solidFill>
              </a:defRPr>
            </a:pPr>
            <a:r>
              <a:t>Slajdy, które działają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0000" y="1450000"/>
            <a:ext cx="10852000" cy="47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Jedna myśl na slajd</a:t>
            </a:r>
          </a:p>
          <a:p>
            <a:pPr>
              <a:spcAft>
                <a:spcPts val="1000"/>
              </a:spcAft>
              <a:defRPr sz="2200"/>
            </a:pPr>
            <a:r>
              <a:t>• Wykres zamiast akapitu</a:t>
            </a:r>
          </a:p>
          <a:p>
            <a:pPr>
              <a:spcAft>
                <a:spcPts val="1000"/>
              </a:spcAft>
              <a:defRPr sz="2200"/>
            </a:pPr>
            <a:r>
              <a:t>• Kod tylko fragmentami, powiększony</a:t>
            </a:r>
          </a:p>
          <a:p>
            <a:pPr>
              <a:spcAft>
                <a:spcPts val="1000"/>
              </a:spcAft>
              <a:defRPr sz="2200"/>
            </a:pPr>
            <a:r>
              <a:t>• Duża czcionka — minimum 24 pkt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0000" y="6408000"/>
            <a:ext cx="1105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A8196"/>
                </a:solidFill>
              </a:defRPr>
            </a:pPr>
            <a:r>
              <a:t>Sztuczna inteligencja · Laboratorium 6    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000"/>
            <a:ext cx="2300000" cy="40000"/>
          </a:xfrm>
          <a:prstGeom prst="rect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0000" y="380000"/>
            <a:ext cx="11052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4213D"/>
                </a:solidFill>
              </a:defRPr>
            </a:pPr>
            <a:r>
              <a:t>Podział ról w zespole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0000" y="1450000"/>
            <a:ext cx="10852000" cy="47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Każdy mówi przez część prezentacji</a:t>
            </a:r>
          </a:p>
          <a:p>
            <a:pPr>
              <a:spcAft>
                <a:spcPts val="1000"/>
              </a:spcAft>
              <a:defRPr sz="2200"/>
            </a:pPr>
            <a:r>
              <a:t>• Jedna osoba prowadzi demo</a:t>
            </a:r>
          </a:p>
          <a:p>
            <a:pPr>
              <a:spcAft>
                <a:spcPts val="1000"/>
              </a:spcAft>
              <a:defRPr sz="2200"/>
            </a:pPr>
            <a:r>
              <a:t>• Pytania — odpowiada autor fragmentu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0000" y="6408000"/>
            <a:ext cx="1105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A8196"/>
                </a:solidFill>
              </a:defRPr>
            </a:pPr>
            <a:r>
              <a:t>Sztuczna inteligencja · Laboratorium 6    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0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0000"/>
            <a:ext cx="2300000" cy="40000"/>
          </a:xfrm>
          <a:prstGeom prst="rect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0000" y="380000"/>
            <a:ext cx="11052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4213D"/>
                </a:solidFill>
              </a:defRPr>
            </a:pPr>
            <a:r>
              <a:t>Powodzenia!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0000" y="1450000"/>
            <a:ext cx="10852000" cy="47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Próba generalna na czystym klonie repozytorium</a:t>
            </a:r>
          </a:p>
          <a:p>
            <a:pPr>
              <a:spcAft>
                <a:spcPts val="1000"/>
              </a:spcAft>
              <a:defRPr sz="2200"/>
            </a:pPr>
            <a:r>
              <a:t>• Nagranie demo jako plan B</a:t>
            </a:r>
          </a:p>
          <a:p>
            <a:pPr>
              <a:spcAft>
                <a:spcPts val="1000"/>
              </a:spcAft>
              <a:defRPr sz="2200"/>
            </a:pPr>
            <a:r>
              <a:t>• Do zobaczenia 12.01.2027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0000" y="6408000"/>
            <a:ext cx="11052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A8196"/>
                </a:solidFill>
              </a:defRPr>
            </a:pPr>
            <a:r>
              <a:t>Sztuczna inteligencja · Laboratorium 6    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